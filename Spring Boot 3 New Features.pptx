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84" r:id="rId3"/>
    <p:sldId id="293" r:id="rId4"/>
    <p:sldId id="285" r:id="rId5"/>
    <p:sldId id="286" r:id="rId6"/>
    <p:sldId id="287" r:id="rId7"/>
    <p:sldId id="288" r:id="rId8"/>
    <p:sldId id="289" r:id="rId9"/>
    <p:sldId id="290" r:id="rId10"/>
    <p:sldId id="291" r:id="rId11"/>
    <p:sldId id="292" r:id="rId12"/>
    <p:sldId id="274" r:id="rId13"/>
    <p:sldId id="275" r:id="rId14"/>
    <p:sldId id="276" r:id="rId15"/>
    <p:sldId id="277" r:id="rId16"/>
    <p:sldId id="278" r:id="rId17"/>
    <p:sldId id="279" r:id="rId18"/>
    <p:sldId id="280" r:id="rId19"/>
    <p:sldId id="281" r:id="rId20"/>
    <p:sldId id="282" r:id="rId21"/>
    <p:sldId id="283"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97" r:id="rId35"/>
    <p:sldId id="294" r:id="rId36"/>
    <p:sldId id="295" r:id="rId37"/>
    <p:sldId id="296"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1" autoAdjust="0"/>
    <p:restoredTop sz="94660"/>
  </p:normalViewPr>
  <p:slideViewPr>
    <p:cSldViewPr snapToGrid="0">
      <p:cViewPr varScale="1">
        <p:scale>
          <a:sx n="182" d="100"/>
          <a:sy n="182" d="100"/>
        </p:scale>
        <p:origin x="134" y="2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38B9CC-F9B2-4225-AB57-FD4348D4D6B6}" type="datetimeFigureOut">
              <a:rPr lang="en-US" smtClean="0"/>
              <a:t>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6B137A-490D-47BD-A9B1-EC33E76B6A01}" type="slidenum">
              <a:rPr lang="en-US" smtClean="0"/>
              <a:t>‹#›</a:t>
            </a:fld>
            <a:endParaRPr lang="en-US"/>
          </a:p>
        </p:txBody>
      </p:sp>
    </p:spTree>
    <p:extLst>
      <p:ext uri="{BB962C8B-B14F-4D97-AF65-F5344CB8AC3E}">
        <p14:creationId xmlns:p14="http://schemas.microsoft.com/office/powerpoint/2010/main" val="1165892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6B137A-490D-47BD-A9B1-EC33E76B6A01}" type="slidenum">
              <a:rPr lang="en-US" smtClean="0"/>
              <a:t>29</a:t>
            </a:fld>
            <a:endParaRPr lang="en-US"/>
          </a:p>
        </p:txBody>
      </p:sp>
    </p:spTree>
    <p:extLst>
      <p:ext uri="{BB962C8B-B14F-4D97-AF65-F5344CB8AC3E}">
        <p14:creationId xmlns:p14="http://schemas.microsoft.com/office/powerpoint/2010/main" val="2528950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6B137A-490D-47BD-A9B1-EC33E76B6A01}" type="slidenum">
              <a:rPr lang="en-US" smtClean="0"/>
              <a:t>31</a:t>
            </a:fld>
            <a:endParaRPr lang="en-US"/>
          </a:p>
        </p:txBody>
      </p:sp>
    </p:spTree>
    <p:extLst>
      <p:ext uri="{BB962C8B-B14F-4D97-AF65-F5344CB8AC3E}">
        <p14:creationId xmlns:p14="http://schemas.microsoft.com/office/powerpoint/2010/main" val="3156826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05C7D-D647-0CF9-1973-C10244EF3F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3D90DA1-412C-9CBB-AC94-F4F6EE1B61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8E437F-4087-D464-5B76-9D10F4248946}"/>
              </a:ext>
            </a:extLst>
          </p:cNvPr>
          <p:cNvSpPr>
            <a:spLocks noGrp="1"/>
          </p:cNvSpPr>
          <p:nvPr>
            <p:ph type="dt" sz="half" idx="10"/>
          </p:nvPr>
        </p:nvSpPr>
        <p:spPr/>
        <p:txBody>
          <a:bodyPr/>
          <a:lstStyle/>
          <a:p>
            <a:fld id="{CA7C5A30-B079-49EB-B15D-565035F5FDE3}" type="datetimeFigureOut">
              <a:rPr lang="en-US" smtClean="0"/>
              <a:t>1/10/2026</a:t>
            </a:fld>
            <a:endParaRPr lang="en-US"/>
          </a:p>
        </p:txBody>
      </p:sp>
      <p:sp>
        <p:nvSpPr>
          <p:cNvPr id="5" name="Footer Placeholder 4">
            <a:extLst>
              <a:ext uri="{FF2B5EF4-FFF2-40B4-BE49-F238E27FC236}">
                <a16:creationId xmlns:a16="http://schemas.microsoft.com/office/drawing/2014/main" id="{334BACD7-C415-3119-0AF8-A690DCD065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574C54-8972-42A7-BB6A-F55ECAE1A1DE}"/>
              </a:ext>
            </a:extLst>
          </p:cNvPr>
          <p:cNvSpPr>
            <a:spLocks noGrp="1"/>
          </p:cNvSpPr>
          <p:nvPr>
            <p:ph type="sldNum" sz="quarter" idx="12"/>
          </p:nvPr>
        </p:nvSpPr>
        <p:spPr/>
        <p:txBody>
          <a:bodyPr/>
          <a:lstStyle/>
          <a:p>
            <a:fld id="{A766FCF8-A5BD-4445-9B8E-8D885E05C748}" type="slidenum">
              <a:rPr lang="en-US" smtClean="0"/>
              <a:t>‹#›</a:t>
            </a:fld>
            <a:endParaRPr lang="en-US"/>
          </a:p>
        </p:txBody>
      </p:sp>
    </p:spTree>
    <p:extLst>
      <p:ext uri="{BB962C8B-B14F-4D97-AF65-F5344CB8AC3E}">
        <p14:creationId xmlns:p14="http://schemas.microsoft.com/office/powerpoint/2010/main" val="2777110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6F14F-9302-F1F6-95B4-E87BEAB759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D73D81-7D34-CE77-3F49-F6BED9F26C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0644D7-50B9-1951-FA44-9162B93DE368}"/>
              </a:ext>
            </a:extLst>
          </p:cNvPr>
          <p:cNvSpPr>
            <a:spLocks noGrp="1"/>
          </p:cNvSpPr>
          <p:nvPr>
            <p:ph type="dt" sz="half" idx="10"/>
          </p:nvPr>
        </p:nvSpPr>
        <p:spPr/>
        <p:txBody>
          <a:bodyPr/>
          <a:lstStyle/>
          <a:p>
            <a:fld id="{CA7C5A30-B079-49EB-B15D-565035F5FDE3}" type="datetimeFigureOut">
              <a:rPr lang="en-US" smtClean="0"/>
              <a:t>1/10/2026</a:t>
            </a:fld>
            <a:endParaRPr lang="en-US"/>
          </a:p>
        </p:txBody>
      </p:sp>
      <p:sp>
        <p:nvSpPr>
          <p:cNvPr id="5" name="Footer Placeholder 4">
            <a:extLst>
              <a:ext uri="{FF2B5EF4-FFF2-40B4-BE49-F238E27FC236}">
                <a16:creationId xmlns:a16="http://schemas.microsoft.com/office/drawing/2014/main" id="{5226AA0E-9684-C7B0-E075-D4FA40E875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7D0590-E380-0754-5191-1A2780B7BD63}"/>
              </a:ext>
            </a:extLst>
          </p:cNvPr>
          <p:cNvSpPr>
            <a:spLocks noGrp="1"/>
          </p:cNvSpPr>
          <p:nvPr>
            <p:ph type="sldNum" sz="quarter" idx="12"/>
          </p:nvPr>
        </p:nvSpPr>
        <p:spPr/>
        <p:txBody>
          <a:bodyPr/>
          <a:lstStyle/>
          <a:p>
            <a:fld id="{A766FCF8-A5BD-4445-9B8E-8D885E05C748}" type="slidenum">
              <a:rPr lang="en-US" smtClean="0"/>
              <a:t>‹#›</a:t>
            </a:fld>
            <a:endParaRPr lang="en-US"/>
          </a:p>
        </p:txBody>
      </p:sp>
    </p:spTree>
    <p:extLst>
      <p:ext uri="{BB962C8B-B14F-4D97-AF65-F5344CB8AC3E}">
        <p14:creationId xmlns:p14="http://schemas.microsoft.com/office/powerpoint/2010/main" val="1849024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7A3E0-557F-4D5A-E5CC-74C104877E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8E0A99-4FBC-1C88-6D4E-382B76563F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AB3FCC-D168-6DD2-01D0-F74793B7873F}"/>
              </a:ext>
            </a:extLst>
          </p:cNvPr>
          <p:cNvSpPr>
            <a:spLocks noGrp="1"/>
          </p:cNvSpPr>
          <p:nvPr>
            <p:ph type="dt" sz="half" idx="10"/>
          </p:nvPr>
        </p:nvSpPr>
        <p:spPr/>
        <p:txBody>
          <a:bodyPr/>
          <a:lstStyle/>
          <a:p>
            <a:fld id="{CA7C5A30-B079-49EB-B15D-565035F5FDE3}" type="datetimeFigureOut">
              <a:rPr lang="en-US" smtClean="0"/>
              <a:t>1/10/2026</a:t>
            </a:fld>
            <a:endParaRPr lang="en-US"/>
          </a:p>
        </p:txBody>
      </p:sp>
      <p:sp>
        <p:nvSpPr>
          <p:cNvPr id="5" name="Footer Placeholder 4">
            <a:extLst>
              <a:ext uri="{FF2B5EF4-FFF2-40B4-BE49-F238E27FC236}">
                <a16:creationId xmlns:a16="http://schemas.microsoft.com/office/drawing/2014/main" id="{50F4415A-2574-84D7-FC58-01E5284DDD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B7A359-84FE-01A8-73E6-4FFEE11F6018}"/>
              </a:ext>
            </a:extLst>
          </p:cNvPr>
          <p:cNvSpPr>
            <a:spLocks noGrp="1"/>
          </p:cNvSpPr>
          <p:nvPr>
            <p:ph type="sldNum" sz="quarter" idx="12"/>
          </p:nvPr>
        </p:nvSpPr>
        <p:spPr/>
        <p:txBody>
          <a:bodyPr/>
          <a:lstStyle/>
          <a:p>
            <a:fld id="{A766FCF8-A5BD-4445-9B8E-8D885E05C748}" type="slidenum">
              <a:rPr lang="en-US" smtClean="0"/>
              <a:t>‹#›</a:t>
            </a:fld>
            <a:endParaRPr lang="en-US"/>
          </a:p>
        </p:txBody>
      </p:sp>
    </p:spTree>
    <p:extLst>
      <p:ext uri="{BB962C8B-B14F-4D97-AF65-F5344CB8AC3E}">
        <p14:creationId xmlns:p14="http://schemas.microsoft.com/office/powerpoint/2010/main" val="4118483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9ECF6-17C7-D3D4-E4D8-E17A75BFFE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52158E-E08F-F0F7-1640-689F715984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9DD0D5-C2FF-2AC7-4B04-2608D70B62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224DAC-342B-86A4-1C81-652F5E1BA50F}"/>
              </a:ext>
            </a:extLst>
          </p:cNvPr>
          <p:cNvSpPr>
            <a:spLocks noGrp="1"/>
          </p:cNvSpPr>
          <p:nvPr>
            <p:ph type="dt" sz="half" idx="10"/>
          </p:nvPr>
        </p:nvSpPr>
        <p:spPr/>
        <p:txBody>
          <a:bodyPr/>
          <a:lstStyle/>
          <a:p>
            <a:fld id="{CA7C5A30-B079-49EB-B15D-565035F5FDE3}" type="datetimeFigureOut">
              <a:rPr lang="en-US" smtClean="0"/>
              <a:t>1/10/2026</a:t>
            </a:fld>
            <a:endParaRPr lang="en-US"/>
          </a:p>
        </p:txBody>
      </p:sp>
      <p:sp>
        <p:nvSpPr>
          <p:cNvPr id="6" name="Footer Placeholder 5">
            <a:extLst>
              <a:ext uri="{FF2B5EF4-FFF2-40B4-BE49-F238E27FC236}">
                <a16:creationId xmlns:a16="http://schemas.microsoft.com/office/drawing/2014/main" id="{02554411-F240-C8B3-3EB8-0D234C5D1C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C6C57B-E5F8-4184-B10D-6B67BF828780}"/>
              </a:ext>
            </a:extLst>
          </p:cNvPr>
          <p:cNvSpPr>
            <a:spLocks noGrp="1"/>
          </p:cNvSpPr>
          <p:nvPr>
            <p:ph type="sldNum" sz="quarter" idx="12"/>
          </p:nvPr>
        </p:nvSpPr>
        <p:spPr/>
        <p:txBody>
          <a:bodyPr/>
          <a:lstStyle/>
          <a:p>
            <a:fld id="{A766FCF8-A5BD-4445-9B8E-8D885E05C748}" type="slidenum">
              <a:rPr lang="en-US" smtClean="0"/>
              <a:t>‹#›</a:t>
            </a:fld>
            <a:endParaRPr lang="en-US"/>
          </a:p>
        </p:txBody>
      </p:sp>
    </p:spTree>
    <p:extLst>
      <p:ext uri="{BB962C8B-B14F-4D97-AF65-F5344CB8AC3E}">
        <p14:creationId xmlns:p14="http://schemas.microsoft.com/office/powerpoint/2010/main" val="3042562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90294-28FA-341A-A000-60D91A11FD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720FCA-0418-EE0A-1FCA-481B1EC70E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FA8188-2CD7-0290-2F03-E0FBDCBD82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A1D4EB-269D-A4A3-4627-54D87B39E5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C5F79-262B-6999-0C44-C64AACE0D1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60C4B2-571C-5CB8-2FAC-DEC57A3773AC}"/>
              </a:ext>
            </a:extLst>
          </p:cNvPr>
          <p:cNvSpPr>
            <a:spLocks noGrp="1"/>
          </p:cNvSpPr>
          <p:nvPr>
            <p:ph type="dt" sz="half" idx="10"/>
          </p:nvPr>
        </p:nvSpPr>
        <p:spPr/>
        <p:txBody>
          <a:bodyPr/>
          <a:lstStyle/>
          <a:p>
            <a:fld id="{CA7C5A30-B079-49EB-B15D-565035F5FDE3}" type="datetimeFigureOut">
              <a:rPr lang="en-US" smtClean="0"/>
              <a:t>1/10/2026</a:t>
            </a:fld>
            <a:endParaRPr lang="en-US"/>
          </a:p>
        </p:txBody>
      </p:sp>
      <p:sp>
        <p:nvSpPr>
          <p:cNvPr id="8" name="Footer Placeholder 7">
            <a:extLst>
              <a:ext uri="{FF2B5EF4-FFF2-40B4-BE49-F238E27FC236}">
                <a16:creationId xmlns:a16="http://schemas.microsoft.com/office/drawing/2014/main" id="{13C8F532-2394-98E5-EE58-4A5F2A7535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0E1C8A-F45F-CF9E-B185-E63EBE25B0D0}"/>
              </a:ext>
            </a:extLst>
          </p:cNvPr>
          <p:cNvSpPr>
            <a:spLocks noGrp="1"/>
          </p:cNvSpPr>
          <p:nvPr>
            <p:ph type="sldNum" sz="quarter" idx="12"/>
          </p:nvPr>
        </p:nvSpPr>
        <p:spPr/>
        <p:txBody>
          <a:bodyPr/>
          <a:lstStyle/>
          <a:p>
            <a:fld id="{A766FCF8-A5BD-4445-9B8E-8D885E05C748}" type="slidenum">
              <a:rPr lang="en-US" smtClean="0"/>
              <a:t>‹#›</a:t>
            </a:fld>
            <a:endParaRPr lang="en-US"/>
          </a:p>
        </p:txBody>
      </p:sp>
    </p:spTree>
    <p:extLst>
      <p:ext uri="{BB962C8B-B14F-4D97-AF65-F5344CB8AC3E}">
        <p14:creationId xmlns:p14="http://schemas.microsoft.com/office/powerpoint/2010/main" val="2823214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88BCF-F291-8D48-6DEF-5B5AE06640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6CA7D4-8A41-20E7-158F-5EC66372A814}"/>
              </a:ext>
            </a:extLst>
          </p:cNvPr>
          <p:cNvSpPr>
            <a:spLocks noGrp="1"/>
          </p:cNvSpPr>
          <p:nvPr>
            <p:ph type="dt" sz="half" idx="10"/>
          </p:nvPr>
        </p:nvSpPr>
        <p:spPr/>
        <p:txBody>
          <a:bodyPr/>
          <a:lstStyle/>
          <a:p>
            <a:fld id="{CA7C5A30-B079-49EB-B15D-565035F5FDE3}" type="datetimeFigureOut">
              <a:rPr lang="en-US" smtClean="0"/>
              <a:t>1/10/2026</a:t>
            </a:fld>
            <a:endParaRPr lang="en-US"/>
          </a:p>
        </p:txBody>
      </p:sp>
      <p:sp>
        <p:nvSpPr>
          <p:cNvPr id="4" name="Footer Placeholder 3">
            <a:extLst>
              <a:ext uri="{FF2B5EF4-FFF2-40B4-BE49-F238E27FC236}">
                <a16:creationId xmlns:a16="http://schemas.microsoft.com/office/drawing/2014/main" id="{9D255FAB-1939-4C0A-D946-6972F37767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4899FF-2B60-CE48-1111-408BDE8A7315}"/>
              </a:ext>
            </a:extLst>
          </p:cNvPr>
          <p:cNvSpPr>
            <a:spLocks noGrp="1"/>
          </p:cNvSpPr>
          <p:nvPr>
            <p:ph type="sldNum" sz="quarter" idx="12"/>
          </p:nvPr>
        </p:nvSpPr>
        <p:spPr/>
        <p:txBody>
          <a:bodyPr/>
          <a:lstStyle/>
          <a:p>
            <a:fld id="{A766FCF8-A5BD-4445-9B8E-8D885E05C748}" type="slidenum">
              <a:rPr lang="en-US" smtClean="0"/>
              <a:t>‹#›</a:t>
            </a:fld>
            <a:endParaRPr lang="en-US"/>
          </a:p>
        </p:txBody>
      </p:sp>
    </p:spTree>
    <p:extLst>
      <p:ext uri="{BB962C8B-B14F-4D97-AF65-F5344CB8AC3E}">
        <p14:creationId xmlns:p14="http://schemas.microsoft.com/office/powerpoint/2010/main" val="3677199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3560F6-5482-F81A-7DC6-B2A04A580053}"/>
              </a:ext>
            </a:extLst>
          </p:cNvPr>
          <p:cNvSpPr>
            <a:spLocks noGrp="1"/>
          </p:cNvSpPr>
          <p:nvPr>
            <p:ph type="dt" sz="half" idx="10"/>
          </p:nvPr>
        </p:nvSpPr>
        <p:spPr/>
        <p:txBody>
          <a:bodyPr/>
          <a:lstStyle/>
          <a:p>
            <a:fld id="{CA7C5A30-B079-49EB-B15D-565035F5FDE3}" type="datetimeFigureOut">
              <a:rPr lang="en-US" smtClean="0"/>
              <a:t>1/10/2026</a:t>
            </a:fld>
            <a:endParaRPr lang="en-US"/>
          </a:p>
        </p:txBody>
      </p:sp>
      <p:sp>
        <p:nvSpPr>
          <p:cNvPr id="3" name="Footer Placeholder 2">
            <a:extLst>
              <a:ext uri="{FF2B5EF4-FFF2-40B4-BE49-F238E27FC236}">
                <a16:creationId xmlns:a16="http://schemas.microsoft.com/office/drawing/2014/main" id="{3C6DE573-F943-AEFA-C584-F677524249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C8411C-1FC1-577B-56D0-5C484F0AC508}"/>
              </a:ext>
            </a:extLst>
          </p:cNvPr>
          <p:cNvSpPr>
            <a:spLocks noGrp="1"/>
          </p:cNvSpPr>
          <p:nvPr>
            <p:ph type="sldNum" sz="quarter" idx="12"/>
          </p:nvPr>
        </p:nvSpPr>
        <p:spPr/>
        <p:txBody>
          <a:bodyPr/>
          <a:lstStyle/>
          <a:p>
            <a:fld id="{A766FCF8-A5BD-4445-9B8E-8D885E05C748}" type="slidenum">
              <a:rPr lang="en-US" smtClean="0"/>
              <a:t>‹#›</a:t>
            </a:fld>
            <a:endParaRPr lang="en-US"/>
          </a:p>
        </p:txBody>
      </p:sp>
    </p:spTree>
    <p:extLst>
      <p:ext uri="{BB962C8B-B14F-4D97-AF65-F5344CB8AC3E}">
        <p14:creationId xmlns:p14="http://schemas.microsoft.com/office/powerpoint/2010/main" val="1712673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8FDFF-3B55-EFE7-86C8-6510CBA8E3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B142C4-4C52-B3B9-F513-30FCDCBE61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169FCD-E853-1672-DB21-329EB9638E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598F9B-A54E-E901-A9AA-2572352ED5BF}"/>
              </a:ext>
            </a:extLst>
          </p:cNvPr>
          <p:cNvSpPr>
            <a:spLocks noGrp="1"/>
          </p:cNvSpPr>
          <p:nvPr>
            <p:ph type="dt" sz="half" idx="10"/>
          </p:nvPr>
        </p:nvSpPr>
        <p:spPr/>
        <p:txBody>
          <a:bodyPr/>
          <a:lstStyle/>
          <a:p>
            <a:fld id="{CA7C5A30-B079-49EB-B15D-565035F5FDE3}" type="datetimeFigureOut">
              <a:rPr lang="en-US" smtClean="0"/>
              <a:t>1/10/2026</a:t>
            </a:fld>
            <a:endParaRPr lang="en-US"/>
          </a:p>
        </p:txBody>
      </p:sp>
      <p:sp>
        <p:nvSpPr>
          <p:cNvPr id="6" name="Footer Placeholder 5">
            <a:extLst>
              <a:ext uri="{FF2B5EF4-FFF2-40B4-BE49-F238E27FC236}">
                <a16:creationId xmlns:a16="http://schemas.microsoft.com/office/drawing/2014/main" id="{AD87C170-3CB1-19C1-3EAA-AFF185A680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EFF45E-8348-2873-C4F2-910334B02D68}"/>
              </a:ext>
            </a:extLst>
          </p:cNvPr>
          <p:cNvSpPr>
            <a:spLocks noGrp="1"/>
          </p:cNvSpPr>
          <p:nvPr>
            <p:ph type="sldNum" sz="quarter" idx="12"/>
          </p:nvPr>
        </p:nvSpPr>
        <p:spPr/>
        <p:txBody>
          <a:bodyPr/>
          <a:lstStyle/>
          <a:p>
            <a:fld id="{A766FCF8-A5BD-4445-9B8E-8D885E05C748}" type="slidenum">
              <a:rPr lang="en-US" smtClean="0"/>
              <a:t>‹#›</a:t>
            </a:fld>
            <a:endParaRPr lang="en-US"/>
          </a:p>
        </p:txBody>
      </p:sp>
    </p:spTree>
    <p:extLst>
      <p:ext uri="{BB962C8B-B14F-4D97-AF65-F5344CB8AC3E}">
        <p14:creationId xmlns:p14="http://schemas.microsoft.com/office/powerpoint/2010/main" val="514911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BED0A-FE51-E6A3-3DD6-A28E63BBD0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71AEA7-4FD3-2819-958E-AC2628D02F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D4C8E7-53AB-975C-17E4-CF11D1F581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047AB4-E57E-F8A6-0176-F75FB64DFA6F}"/>
              </a:ext>
            </a:extLst>
          </p:cNvPr>
          <p:cNvSpPr>
            <a:spLocks noGrp="1"/>
          </p:cNvSpPr>
          <p:nvPr>
            <p:ph type="dt" sz="half" idx="10"/>
          </p:nvPr>
        </p:nvSpPr>
        <p:spPr/>
        <p:txBody>
          <a:bodyPr/>
          <a:lstStyle/>
          <a:p>
            <a:fld id="{CA7C5A30-B079-49EB-B15D-565035F5FDE3}" type="datetimeFigureOut">
              <a:rPr lang="en-US" smtClean="0"/>
              <a:t>1/10/2026</a:t>
            </a:fld>
            <a:endParaRPr lang="en-US"/>
          </a:p>
        </p:txBody>
      </p:sp>
      <p:sp>
        <p:nvSpPr>
          <p:cNvPr id="6" name="Footer Placeholder 5">
            <a:extLst>
              <a:ext uri="{FF2B5EF4-FFF2-40B4-BE49-F238E27FC236}">
                <a16:creationId xmlns:a16="http://schemas.microsoft.com/office/drawing/2014/main" id="{81979F12-0706-7A92-6200-B8F4DF7281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D75EF5-F674-6A82-C12A-E15D2B4B86CA}"/>
              </a:ext>
            </a:extLst>
          </p:cNvPr>
          <p:cNvSpPr>
            <a:spLocks noGrp="1"/>
          </p:cNvSpPr>
          <p:nvPr>
            <p:ph type="sldNum" sz="quarter" idx="12"/>
          </p:nvPr>
        </p:nvSpPr>
        <p:spPr/>
        <p:txBody>
          <a:bodyPr/>
          <a:lstStyle/>
          <a:p>
            <a:fld id="{A766FCF8-A5BD-4445-9B8E-8D885E05C748}" type="slidenum">
              <a:rPr lang="en-US" smtClean="0"/>
              <a:t>‹#›</a:t>
            </a:fld>
            <a:endParaRPr lang="en-US"/>
          </a:p>
        </p:txBody>
      </p:sp>
    </p:spTree>
    <p:extLst>
      <p:ext uri="{BB962C8B-B14F-4D97-AF65-F5344CB8AC3E}">
        <p14:creationId xmlns:p14="http://schemas.microsoft.com/office/powerpoint/2010/main" val="55387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66D36-EF05-DAF0-06FB-F50FDCAA8D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2A632C-3412-1FCC-FA6F-9C449E62A6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0F77D2-305F-4729-E822-A69E15C3B445}"/>
              </a:ext>
            </a:extLst>
          </p:cNvPr>
          <p:cNvSpPr>
            <a:spLocks noGrp="1"/>
          </p:cNvSpPr>
          <p:nvPr>
            <p:ph type="dt" sz="half" idx="10"/>
          </p:nvPr>
        </p:nvSpPr>
        <p:spPr/>
        <p:txBody>
          <a:bodyPr/>
          <a:lstStyle/>
          <a:p>
            <a:fld id="{CA7C5A30-B079-49EB-B15D-565035F5FDE3}" type="datetimeFigureOut">
              <a:rPr lang="en-US" smtClean="0"/>
              <a:t>1/10/2026</a:t>
            </a:fld>
            <a:endParaRPr lang="en-US"/>
          </a:p>
        </p:txBody>
      </p:sp>
      <p:sp>
        <p:nvSpPr>
          <p:cNvPr id="5" name="Footer Placeholder 4">
            <a:extLst>
              <a:ext uri="{FF2B5EF4-FFF2-40B4-BE49-F238E27FC236}">
                <a16:creationId xmlns:a16="http://schemas.microsoft.com/office/drawing/2014/main" id="{94891DFC-DEE7-5CA9-0144-BF84F7746A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881930-392E-DD87-A57D-5BF4F27F09DF}"/>
              </a:ext>
            </a:extLst>
          </p:cNvPr>
          <p:cNvSpPr>
            <a:spLocks noGrp="1"/>
          </p:cNvSpPr>
          <p:nvPr>
            <p:ph type="sldNum" sz="quarter" idx="12"/>
          </p:nvPr>
        </p:nvSpPr>
        <p:spPr/>
        <p:txBody>
          <a:bodyPr/>
          <a:lstStyle/>
          <a:p>
            <a:fld id="{A766FCF8-A5BD-4445-9B8E-8D885E05C748}" type="slidenum">
              <a:rPr lang="en-US" smtClean="0"/>
              <a:t>‹#›</a:t>
            </a:fld>
            <a:endParaRPr lang="en-US"/>
          </a:p>
        </p:txBody>
      </p:sp>
    </p:spTree>
    <p:extLst>
      <p:ext uri="{BB962C8B-B14F-4D97-AF65-F5344CB8AC3E}">
        <p14:creationId xmlns:p14="http://schemas.microsoft.com/office/powerpoint/2010/main" val="2388183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1FFBB0-4CD9-78D8-200B-7075FFFFF4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E029C3-27EE-0030-1CAD-4F201E81D7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8F62F6-2B37-E74C-EF45-AFD738232E66}"/>
              </a:ext>
            </a:extLst>
          </p:cNvPr>
          <p:cNvSpPr>
            <a:spLocks noGrp="1"/>
          </p:cNvSpPr>
          <p:nvPr>
            <p:ph type="dt" sz="half" idx="10"/>
          </p:nvPr>
        </p:nvSpPr>
        <p:spPr/>
        <p:txBody>
          <a:bodyPr/>
          <a:lstStyle/>
          <a:p>
            <a:fld id="{CA7C5A30-B079-49EB-B15D-565035F5FDE3}" type="datetimeFigureOut">
              <a:rPr lang="en-US" smtClean="0"/>
              <a:t>1/10/2026</a:t>
            </a:fld>
            <a:endParaRPr lang="en-US"/>
          </a:p>
        </p:txBody>
      </p:sp>
      <p:sp>
        <p:nvSpPr>
          <p:cNvPr id="5" name="Footer Placeholder 4">
            <a:extLst>
              <a:ext uri="{FF2B5EF4-FFF2-40B4-BE49-F238E27FC236}">
                <a16:creationId xmlns:a16="http://schemas.microsoft.com/office/drawing/2014/main" id="{98367C11-1837-8E50-03E8-E275F992FC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66DC4B-126C-4D64-7391-5ECEAE508408}"/>
              </a:ext>
            </a:extLst>
          </p:cNvPr>
          <p:cNvSpPr>
            <a:spLocks noGrp="1"/>
          </p:cNvSpPr>
          <p:nvPr>
            <p:ph type="sldNum" sz="quarter" idx="12"/>
          </p:nvPr>
        </p:nvSpPr>
        <p:spPr/>
        <p:txBody>
          <a:bodyPr/>
          <a:lstStyle/>
          <a:p>
            <a:fld id="{A766FCF8-A5BD-4445-9B8E-8D885E05C748}" type="slidenum">
              <a:rPr lang="en-US" smtClean="0"/>
              <a:t>‹#›</a:t>
            </a:fld>
            <a:endParaRPr lang="en-US"/>
          </a:p>
        </p:txBody>
      </p:sp>
    </p:spTree>
    <p:extLst>
      <p:ext uri="{BB962C8B-B14F-4D97-AF65-F5344CB8AC3E}">
        <p14:creationId xmlns:p14="http://schemas.microsoft.com/office/powerpoint/2010/main" val="219552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C54BD3-92DC-307A-036C-42CF887E2C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2860F6-9B34-9BFD-3921-3331B610E0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C557B3-BEFD-1945-27BA-6B39CAD6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7C5A30-B079-49EB-B15D-565035F5FDE3}" type="datetimeFigureOut">
              <a:rPr lang="en-US" smtClean="0"/>
              <a:t>1/10/2026</a:t>
            </a:fld>
            <a:endParaRPr lang="en-US"/>
          </a:p>
        </p:txBody>
      </p:sp>
      <p:sp>
        <p:nvSpPr>
          <p:cNvPr id="5" name="Footer Placeholder 4">
            <a:extLst>
              <a:ext uri="{FF2B5EF4-FFF2-40B4-BE49-F238E27FC236}">
                <a16:creationId xmlns:a16="http://schemas.microsoft.com/office/drawing/2014/main" id="{B8DC809D-4176-087A-7B39-3660652203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6631BCA-5549-4F65-BF67-F10D56F2F8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66FCF8-A5BD-4445-9B8E-8D885E05C748}" type="slidenum">
              <a:rPr lang="en-US" smtClean="0"/>
              <a:t>‹#›</a:t>
            </a:fld>
            <a:endParaRPr lang="en-US"/>
          </a:p>
        </p:txBody>
      </p:sp>
    </p:spTree>
    <p:extLst>
      <p:ext uri="{BB962C8B-B14F-4D97-AF65-F5344CB8AC3E}">
        <p14:creationId xmlns:p14="http://schemas.microsoft.com/office/powerpoint/2010/main" val="2461100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D8B53-2BC4-6F1F-B33C-22027D4D8723}"/>
              </a:ext>
            </a:extLst>
          </p:cNvPr>
          <p:cNvSpPr>
            <a:spLocks noGrp="1"/>
          </p:cNvSpPr>
          <p:nvPr>
            <p:ph type="ctrTitle"/>
          </p:nvPr>
        </p:nvSpPr>
        <p:spPr/>
        <p:txBody>
          <a:bodyPr/>
          <a:lstStyle/>
          <a:p>
            <a:r>
              <a:rPr lang="en-GB" dirty="0"/>
              <a:t>Spring Boot 3 with Java 21</a:t>
            </a:r>
            <a:endParaRPr lang="en-US" dirty="0"/>
          </a:p>
        </p:txBody>
      </p:sp>
      <p:sp>
        <p:nvSpPr>
          <p:cNvPr id="3" name="Subtitle 2">
            <a:extLst>
              <a:ext uri="{FF2B5EF4-FFF2-40B4-BE49-F238E27FC236}">
                <a16:creationId xmlns:a16="http://schemas.microsoft.com/office/drawing/2014/main" id="{78A55854-7F88-21DA-FE9C-61CE526072C2}"/>
              </a:ext>
            </a:extLst>
          </p:cNvPr>
          <p:cNvSpPr>
            <a:spLocks noGrp="1"/>
          </p:cNvSpPr>
          <p:nvPr>
            <p:ph type="subTitle" idx="1"/>
          </p:nvPr>
        </p:nvSpPr>
        <p:spPr/>
        <p:txBody>
          <a:bodyPr/>
          <a:lstStyle/>
          <a:p>
            <a:r>
              <a:rPr lang="en-GB" dirty="0"/>
              <a:t>By Vivek Gohil</a:t>
            </a:r>
            <a:endParaRPr lang="en-US" dirty="0"/>
          </a:p>
        </p:txBody>
      </p:sp>
    </p:spTree>
    <p:extLst>
      <p:ext uri="{BB962C8B-B14F-4D97-AF65-F5344CB8AC3E}">
        <p14:creationId xmlns:p14="http://schemas.microsoft.com/office/powerpoint/2010/main" val="1988641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B990D-B65F-24F9-0BC6-FC47CCA60FDF}"/>
              </a:ext>
            </a:extLst>
          </p:cNvPr>
          <p:cNvSpPr>
            <a:spLocks noGrp="1"/>
          </p:cNvSpPr>
          <p:nvPr>
            <p:ph type="title"/>
          </p:nvPr>
        </p:nvSpPr>
        <p:spPr/>
        <p:txBody>
          <a:bodyPr/>
          <a:lstStyle/>
          <a:p>
            <a:r>
              <a:rPr lang="en-IN" dirty="0"/>
              <a:t>New Baseline Features of Spring Boot 3.x</a:t>
            </a:r>
            <a:endParaRPr lang="en-US" dirty="0"/>
          </a:p>
        </p:txBody>
      </p:sp>
      <p:sp>
        <p:nvSpPr>
          <p:cNvPr id="3" name="Content Placeholder 2">
            <a:extLst>
              <a:ext uri="{FF2B5EF4-FFF2-40B4-BE49-F238E27FC236}">
                <a16:creationId xmlns:a16="http://schemas.microsoft.com/office/drawing/2014/main" id="{5A8CB3C5-BFB3-FDA9-A4EC-9B2FB057CACC}"/>
              </a:ext>
            </a:extLst>
          </p:cNvPr>
          <p:cNvSpPr>
            <a:spLocks noGrp="1"/>
          </p:cNvSpPr>
          <p:nvPr>
            <p:ph idx="1"/>
          </p:nvPr>
        </p:nvSpPr>
        <p:spPr/>
        <p:txBody>
          <a:bodyPr>
            <a:normAutofit lnSpcReduction="10000"/>
          </a:bodyPr>
          <a:lstStyle/>
          <a:p>
            <a:r>
              <a:rPr lang="en-US" b="1" dirty="0"/>
              <a:t>Spring Boot 2.x</a:t>
            </a:r>
          </a:p>
          <a:p>
            <a:pPr lvl="1"/>
            <a:r>
              <a:rPr lang="en-US" dirty="0"/>
              <a:t>Java 8 / 11 / 17 supported</a:t>
            </a:r>
          </a:p>
          <a:p>
            <a:r>
              <a:rPr lang="en-US" b="1" dirty="0"/>
              <a:t>Spring Boot 3.x</a:t>
            </a:r>
          </a:p>
          <a:p>
            <a:pPr lvl="1"/>
            <a:r>
              <a:rPr lang="en-US" dirty="0"/>
              <a:t>Java 8 → removed</a:t>
            </a:r>
          </a:p>
          <a:p>
            <a:pPr lvl="1"/>
            <a:r>
              <a:rPr lang="en-US" dirty="0"/>
              <a:t>Java 11 → removed</a:t>
            </a:r>
          </a:p>
          <a:p>
            <a:pPr lvl="1"/>
            <a:r>
              <a:rPr lang="en-US" b="1" dirty="0"/>
              <a:t>Java 17+ only</a:t>
            </a:r>
            <a:endParaRPr lang="en-US" dirty="0"/>
          </a:p>
          <a:p>
            <a:r>
              <a:rPr lang="en-US" b="1" dirty="0"/>
              <a:t>Why this matters</a:t>
            </a:r>
          </a:p>
          <a:p>
            <a:pPr lvl="1"/>
            <a:r>
              <a:rPr lang="en-US" dirty="0"/>
              <a:t>Enables modern JVM features</a:t>
            </a:r>
          </a:p>
          <a:p>
            <a:pPr lvl="1"/>
            <a:r>
              <a:rPr lang="en-US" dirty="0"/>
              <a:t>Better GC (G1/ZGC improvements)</a:t>
            </a:r>
          </a:p>
          <a:p>
            <a:pPr lvl="1"/>
            <a:r>
              <a:rPr lang="en-US" dirty="0"/>
              <a:t>Strong encapsulation</a:t>
            </a:r>
          </a:p>
          <a:p>
            <a:pPr lvl="1"/>
            <a:r>
              <a:rPr lang="en-US" dirty="0"/>
              <a:t>Faster startup &amp; lower memory</a:t>
            </a:r>
          </a:p>
          <a:p>
            <a:pPr lvl="1"/>
            <a:endParaRPr lang="en-US" dirty="0"/>
          </a:p>
        </p:txBody>
      </p:sp>
    </p:spTree>
    <p:extLst>
      <p:ext uri="{BB962C8B-B14F-4D97-AF65-F5344CB8AC3E}">
        <p14:creationId xmlns:p14="http://schemas.microsoft.com/office/powerpoint/2010/main" val="1191098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A8A02-DD76-8F37-599B-795B02BF96E3}"/>
              </a:ext>
            </a:extLst>
          </p:cNvPr>
          <p:cNvSpPr>
            <a:spLocks noGrp="1"/>
          </p:cNvSpPr>
          <p:nvPr>
            <p:ph type="title"/>
          </p:nvPr>
        </p:nvSpPr>
        <p:spPr/>
        <p:txBody>
          <a:bodyPr/>
          <a:lstStyle/>
          <a:p>
            <a:r>
              <a:rPr lang="en-IN" dirty="0"/>
              <a:t>Spring Boot 3.x Baseline Features</a:t>
            </a:r>
            <a:endParaRPr lang="en-US" dirty="0"/>
          </a:p>
        </p:txBody>
      </p:sp>
      <p:sp>
        <p:nvSpPr>
          <p:cNvPr id="3" name="Content Placeholder 2">
            <a:extLst>
              <a:ext uri="{FF2B5EF4-FFF2-40B4-BE49-F238E27FC236}">
                <a16:creationId xmlns:a16="http://schemas.microsoft.com/office/drawing/2014/main" id="{D0D2DB81-1A42-39E8-5F37-AD000352F5A6}"/>
              </a:ext>
            </a:extLst>
          </p:cNvPr>
          <p:cNvSpPr>
            <a:spLocks noGrp="1"/>
          </p:cNvSpPr>
          <p:nvPr>
            <p:ph idx="1"/>
          </p:nvPr>
        </p:nvSpPr>
        <p:spPr/>
        <p:txBody>
          <a:bodyPr>
            <a:normAutofit/>
          </a:bodyPr>
          <a:lstStyle/>
          <a:p>
            <a:r>
              <a:rPr lang="en-US" b="1" dirty="0"/>
              <a:t>Spring Boot 3.x Baseline Means:</a:t>
            </a:r>
          </a:p>
          <a:p>
            <a:pPr lvl="1"/>
            <a:r>
              <a:rPr lang="en-US" dirty="0"/>
              <a:t>Java 17+</a:t>
            </a:r>
          </a:p>
          <a:p>
            <a:pPr lvl="1"/>
            <a:r>
              <a:rPr lang="en-US" dirty="0"/>
              <a:t>Spring Framework 6</a:t>
            </a:r>
          </a:p>
          <a:p>
            <a:pPr lvl="1"/>
            <a:r>
              <a:rPr lang="en-US" dirty="0"/>
              <a:t>Jakarta EE only</a:t>
            </a:r>
          </a:p>
          <a:p>
            <a:pPr lvl="1"/>
            <a:r>
              <a:rPr lang="en-US" dirty="0"/>
              <a:t>Hibernate 6</a:t>
            </a:r>
          </a:p>
          <a:p>
            <a:pPr lvl="1"/>
            <a:r>
              <a:rPr lang="en-US" dirty="0"/>
              <a:t>Standardized errors (RFC 7807)</a:t>
            </a:r>
          </a:p>
          <a:p>
            <a:pPr lvl="1"/>
            <a:r>
              <a:rPr lang="en-US" dirty="0"/>
              <a:t>Built-in observability</a:t>
            </a:r>
          </a:p>
          <a:p>
            <a:pPr lvl="1"/>
            <a:r>
              <a:rPr lang="en-US" dirty="0"/>
              <a:t>AOT &amp; native readiness</a:t>
            </a:r>
          </a:p>
          <a:p>
            <a:pPr lvl="1"/>
            <a:r>
              <a:rPr lang="en-US" dirty="0"/>
              <a:t>Explicit security configuration</a:t>
            </a:r>
          </a:p>
          <a:p>
            <a:pPr lvl="1"/>
            <a:r>
              <a:rPr lang="en-US" dirty="0"/>
              <a:t>Fail-fast by design</a:t>
            </a:r>
          </a:p>
          <a:p>
            <a:endParaRPr lang="en-US" dirty="0"/>
          </a:p>
        </p:txBody>
      </p:sp>
    </p:spTree>
    <p:extLst>
      <p:ext uri="{BB962C8B-B14F-4D97-AF65-F5344CB8AC3E}">
        <p14:creationId xmlns:p14="http://schemas.microsoft.com/office/powerpoint/2010/main" val="2569037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A9BBF-B94B-26CC-5385-51521FD44CA0}"/>
              </a:ext>
            </a:extLst>
          </p:cNvPr>
          <p:cNvSpPr>
            <a:spLocks noGrp="1"/>
          </p:cNvSpPr>
          <p:nvPr>
            <p:ph type="title"/>
          </p:nvPr>
        </p:nvSpPr>
        <p:spPr/>
        <p:txBody>
          <a:bodyPr/>
          <a:lstStyle/>
          <a:p>
            <a:r>
              <a:rPr lang="en-IN" dirty="0"/>
              <a:t>New Baseline Features of Spring Boot 3.x</a:t>
            </a:r>
            <a:endParaRPr lang="en-US" dirty="0"/>
          </a:p>
        </p:txBody>
      </p:sp>
      <p:sp>
        <p:nvSpPr>
          <p:cNvPr id="3" name="Content Placeholder 2">
            <a:extLst>
              <a:ext uri="{FF2B5EF4-FFF2-40B4-BE49-F238E27FC236}">
                <a16:creationId xmlns:a16="http://schemas.microsoft.com/office/drawing/2014/main" id="{714FDCA9-A136-53C0-08B4-66A48D3EB67A}"/>
              </a:ext>
            </a:extLst>
          </p:cNvPr>
          <p:cNvSpPr>
            <a:spLocks noGrp="1"/>
          </p:cNvSpPr>
          <p:nvPr>
            <p:ph idx="1"/>
          </p:nvPr>
        </p:nvSpPr>
        <p:spPr/>
        <p:txBody>
          <a:bodyPr>
            <a:normAutofit/>
          </a:bodyPr>
          <a:lstStyle/>
          <a:p>
            <a:r>
              <a:rPr lang="en-GB" dirty="0"/>
              <a:t>Spring Boot 3.x is built on </a:t>
            </a:r>
            <a:r>
              <a:rPr lang="en-GB" b="1" dirty="0"/>
              <a:t>Spring Framework 6</a:t>
            </a:r>
            <a:r>
              <a:rPr lang="en-GB" dirty="0"/>
              <a:t>.</a:t>
            </a:r>
          </a:p>
          <a:p>
            <a:r>
              <a:rPr lang="en-GB" b="1" dirty="0"/>
              <a:t>What this implies</a:t>
            </a:r>
          </a:p>
          <a:p>
            <a:pPr lvl="1"/>
            <a:r>
              <a:rPr lang="en-GB" dirty="0"/>
              <a:t>Massive cleanup of legacy APIs</a:t>
            </a:r>
          </a:p>
          <a:p>
            <a:pPr lvl="1"/>
            <a:r>
              <a:rPr lang="en-GB" dirty="0"/>
              <a:t>Removal of deprecated code accumulated over years</a:t>
            </a:r>
          </a:p>
          <a:p>
            <a:pPr lvl="1"/>
            <a:r>
              <a:rPr lang="en-GB" dirty="0"/>
              <a:t>More predictable </a:t>
            </a:r>
            <a:r>
              <a:rPr lang="en-GB" dirty="0" err="1"/>
              <a:t>behavior</a:t>
            </a:r>
            <a:endParaRPr lang="en-GB" dirty="0"/>
          </a:p>
          <a:p>
            <a:r>
              <a:rPr lang="en-GB" b="1" dirty="0"/>
              <a:t>Impact</a:t>
            </a:r>
          </a:p>
          <a:p>
            <a:pPr lvl="1"/>
            <a:r>
              <a:rPr lang="en-GB" dirty="0"/>
              <a:t>Less magic</a:t>
            </a:r>
          </a:p>
          <a:p>
            <a:pPr lvl="1"/>
            <a:r>
              <a:rPr lang="en-GB" dirty="0"/>
              <a:t>Faster startup</a:t>
            </a:r>
          </a:p>
          <a:p>
            <a:pPr lvl="1"/>
            <a:r>
              <a:rPr lang="en-GB" dirty="0"/>
              <a:t>Fewer runtime surprises</a:t>
            </a:r>
          </a:p>
          <a:p>
            <a:endParaRPr lang="en-US" dirty="0"/>
          </a:p>
        </p:txBody>
      </p:sp>
    </p:spTree>
    <p:extLst>
      <p:ext uri="{BB962C8B-B14F-4D97-AF65-F5344CB8AC3E}">
        <p14:creationId xmlns:p14="http://schemas.microsoft.com/office/powerpoint/2010/main" val="1539322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236EA-BC13-E1C8-2F24-286C67E19867}"/>
              </a:ext>
            </a:extLst>
          </p:cNvPr>
          <p:cNvSpPr>
            <a:spLocks noGrp="1"/>
          </p:cNvSpPr>
          <p:nvPr>
            <p:ph type="title"/>
          </p:nvPr>
        </p:nvSpPr>
        <p:spPr/>
        <p:txBody>
          <a:bodyPr/>
          <a:lstStyle/>
          <a:p>
            <a:r>
              <a:rPr lang="fi-FI" dirty="0"/>
              <a:t>Jakarta EE 9+ Namespace (javax → jakarta)</a:t>
            </a:r>
            <a:endParaRPr lang="en-US" dirty="0"/>
          </a:p>
        </p:txBody>
      </p:sp>
      <p:sp>
        <p:nvSpPr>
          <p:cNvPr id="3" name="Content Placeholder 2">
            <a:extLst>
              <a:ext uri="{FF2B5EF4-FFF2-40B4-BE49-F238E27FC236}">
                <a16:creationId xmlns:a16="http://schemas.microsoft.com/office/drawing/2014/main" id="{48F39AB6-C8F9-E083-B8CF-CABACC2A12C0}"/>
              </a:ext>
            </a:extLst>
          </p:cNvPr>
          <p:cNvSpPr>
            <a:spLocks noGrp="1"/>
          </p:cNvSpPr>
          <p:nvPr>
            <p:ph idx="1"/>
          </p:nvPr>
        </p:nvSpPr>
        <p:spPr/>
        <p:txBody>
          <a:bodyPr/>
          <a:lstStyle/>
          <a:p>
            <a:r>
              <a:rPr lang="en-IN" dirty="0"/>
              <a:t>Spring Boot 2.x</a:t>
            </a:r>
          </a:p>
          <a:p>
            <a:pPr marL="0" indent="0">
              <a:buNone/>
            </a:pPr>
            <a:r>
              <a:rPr lang="en-US" sz="1800" dirty="0"/>
              <a:t>	javax.persistence.*</a:t>
            </a:r>
          </a:p>
          <a:p>
            <a:pPr marL="0" indent="0">
              <a:buNone/>
            </a:pPr>
            <a:r>
              <a:rPr lang="en-US" sz="1800" dirty="0"/>
              <a:t>	javax.servlet.*</a:t>
            </a:r>
          </a:p>
          <a:p>
            <a:pPr marL="0" indent="0">
              <a:buNone/>
            </a:pPr>
            <a:r>
              <a:rPr lang="en-US" sz="1800" dirty="0"/>
              <a:t>	javax.validation.*</a:t>
            </a:r>
          </a:p>
          <a:p>
            <a:r>
              <a:rPr lang="en-US" dirty="0"/>
              <a:t>Spring Boot 3.x</a:t>
            </a:r>
          </a:p>
          <a:p>
            <a:pPr marL="0" indent="0">
              <a:buNone/>
            </a:pPr>
            <a:r>
              <a:rPr lang="en-US" dirty="0"/>
              <a:t>	</a:t>
            </a:r>
            <a:r>
              <a:rPr lang="en-US" sz="1800" dirty="0"/>
              <a:t>jakarta.persistence.*</a:t>
            </a:r>
          </a:p>
          <a:p>
            <a:pPr marL="0" indent="0">
              <a:buNone/>
            </a:pPr>
            <a:r>
              <a:rPr lang="en-US" sz="1800" dirty="0"/>
              <a:t>	jakarta.servlet.*</a:t>
            </a:r>
          </a:p>
          <a:p>
            <a:pPr marL="0" indent="0">
              <a:buNone/>
            </a:pPr>
            <a:r>
              <a:rPr lang="en-US" sz="1800" dirty="0"/>
              <a:t>	jakarta.validation.*</a:t>
            </a:r>
          </a:p>
          <a:p>
            <a:pPr marL="0" indent="0">
              <a:buNone/>
            </a:pPr>
            <a:endParaRPr lang="en-US" dirty="0"/>
          </a:p>
        </p:txBody>
      </p:sp>
    </p:spTree>
    <p:extLst>
      <p:ext uri="{BB962C8B-B14F-4D97-AF65-F5344CB8AC3E}">
        <p14:creationId xmlns:p14="http://schemas.microsoft.com/office/powerpoint/2010/main" val="1914258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0FF7B-8FFC-ED90-4FD1-F626A87828E2}"/>
              </a:ext>
            </a:extLst>
          </p:cNvPr>
          <p:cNvSpPr>
            <a:spLocks noGrp="1"/>
          </p:cNvSpPr>
          <p:nvPr>
            <p:ph type="title"/>
          </p:nvPr>
        </p:nvSpPr>
        <p:spPr/>
        <p:txBody>
          <a:bodyPr/>
          <a:lstStyle/>
          <a:p>
            <a:r>
              <a:rPr lang="en-US" dirty="0"/>
              <a:t>Hibernate 6 as Default JPA Provider</a:t>
            </a:r>
          </a:p>
        </p:txBody>
      </p:sp>
      <p:sp>
        <p:nvSpPr>
          <p:cNvPr id="3" name="Content Placeholder 2">
            <a:extLst>
              <a:ext uri="{FF2B5EF4-FFF2-40B4-BE49-F238E27FC236}">
                <a16:creationId xmlns:a16="http://schemas.microsoft.com/office/drawing/2014/main" id="{482CCCAF-57A4-F522-0B11-806690EE0B20}"/>
              </a:ext>
            </a:extLst>
          </p:cNvPr>
          <p:cNvSpPr>
            <a:spLocks noGrp="1"/>
          </p:cNvSpPr>
          <p:nvPr>
            <p:ph idx="1"/>
          </p:nvPr>
        </p:nvSpPr>
        <p:spPr/>
        <p:txBody>
          <a:bodyPr/>
          <a:lstStyle/>
          <a:p>
            <a:r>
              <a:rPr lang="en-US" b="1" dirty="0"/>
              <a:t>Spring Boot 2.x</a:t>
            </a:r>
          </a:p>
          <a:p>
            <a:pPr lvl="1"/>
            <a:r>
              <a:rPr lang="en-US" dirty="0"/>
              <a:t>Hibernate 5.x</a:t>
            </a:r>
          </a:p>
          <a:p>
            <a:r>
              <a:rPr lang="en-US" b="1" dirty="0"/>
              <a:t>Spring Boot 3.x</a:t>
            </a:r>
          </a:p>
          <a:p>
            <a:pPr lvl="1"/>
            <a:r>
              <a:rPr lang="en-US" dirty="0"/>
              <a:t>Hibernate 6.x</a:t>
            </a:r>
          </a:p>
          <a:p>
            <a:r>
              <a:rPr lang="en-US" b="1" dirty="0"/>
              <a:t>Baseline behavior changes</a:t>
            </a:r>
          </a:p>
          <a:p>
            <a:pPr lvl="1"/>
            <a:r>
              <a:rPr lang="en-US" dirty="0"/>
              <a:t>Stricter JPQL parsing</a:t>
            </a:r>
          </a:p>
          <a:p>
            <a:pPr lvl="1"/>
            <a:r>
              <a:rPr lang="en-US" dirty="0"/>
              <a:t>Better type safety</a:t>
            </a:r>
          </a:p>
          <a:p>
            <a:pPr lvl="1"/>
            <a:r>
              <a:rPr lang="en-US" dirty="0"/>
              <a:t>Earlier failure (compile/startup vs runtime)</a:t>
            </a:r>
          </a:p>
          <a:p>
            <a:endParaRPr lang="en-US" dirty="0"/>
          </a:p>
        </p:txBody>
      </p:sp>
    </p:spTree>
    <p:extLst>
      <p:ext uri="{BB962C8B-B14F-4D97-AF65-F5344CB8AC3E}">
        <p14:creationId xmlns:p14="http://schemas.microsoft.com/office/powerpoint/2010/main" val="3072354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B1C21-2F83-0435-333E-3984810F9F7F}"/>
              </a:ext>
            </a:extLst>
          </p:cNvPr>
          <p:cNvSpPr>
            <a:spLocks noGrp="1"/>
          </p:cNvSpPr>
          <p:nvPr>
            <p:ph type="title"/>
          </p:nvPr>
        </p:nvSpPr>
        <p:spPr/>
        <p:txBody>
          <a:bodyPr/>
          <a:lstStyle/>
          <a:p>
            <a:r>
              <a:rPr lang="en-US" dirty="0"/>
              <a:t>Problem Details (RFC 7807) for Error Handling</a:t>
            </a:r>
          </a:p>
        </p:txBody>
      </p:sp>
      <p:sp>
        <p:nvSpPr>
          <p:cNvPr id="3" name="Content Placeholder 2">
            <a:extLst>
              <a:ext uri="{FF2B5EF4-FFF2-40B4-BE49-F238E27FC236}">
                <a16:creationId xmlns:a16="http://schemas.microsoft.com/office/drawing/2014/main" id="{1CB2DAD2-D454-2A1C-65C3-1517C7DA048A}"/>
              </a:ext>
            </a:extLst>
          </p:cNvPr>
          <p:cNvSpPr>
            <a:spLocks noGrp="1"/>
          </p:cNvSpPr>
          <p:nvPr>
            <p:ph idx="1"/>
          </p:nvPr>
        </p:nvSpPr>
        <p:spPr/>
        <p:txBody>
          <a:bodyPr/>
          <a:lstStyle/>
          <a:p>
            <a:r>
              <a:rPr lang="en-US" b="1" dirty="0"/>
              <a:t>Spring Boot 2.x</a:t>
            </a:r>
          </a:p>
          <a:p>
            <a:pPr lvl="1"/>
            <a:r>
              <a:rPr lang="en-US" dirty="0"/>
              <a:t>Custom error JSON</a:t>
            </a:r>
          </a:p>
          <a:p>
            <a:pPr lvl="1"/>
            <a:r>
              <a:rPr lang="en-US" dirty="0"/>
              <a:t>Stack traces often leaked</a:t>
            </a:r>
          </a:p>
          <a:p>
            <a:r>
              <a:rPr lang="en-US" b="1" dirty="0"/>
              <a:t>Spring Boot 3.x</a:t>
            </a:r>
          </a:p>
          <a:p>
            <a:pPr lvl="1"/>
            <a:r>
              <a:rPr lang="en-US" b="1" dirty="0"/>
              <a:t>Built-in support for RFC 7807</a:t>
            </a:r>
            <a:endParaRPr lang="en-US" dirty="0"/>
          </a:p>
          <a:p>
            <a:pPr lvl="1"/>
            <a:r>
              <a:rPr lang="en-US" dirty="0"/>
              <a:t>Standardized error responses</a:t>
            </a:r>
          </a:p>
          <a:p>
            <a:endParaRPr lang="en-US" dirty="0"/>
          </a:p>
        </p:txBody>
      </p:sp>
    </p:spTree>
    <p:extLst>
      <p:ext uri="{BB962C8B-B14F-4D97-AF65-F5344CB8AC3E}">
        <p14:creationId xmlns:p14="http://schemas.microsoft.com/office/powerpoint/2010/main" val="3451422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523FB-73AB-4A40-4D8E-F1A66A65C708}"/>
              </a:ext>
            </a:extLst>
          </p:cNvPr>
          <p:cNvSpPr>
            <a:spLocks noGrp="1"/>
          </p:cNvSpPr>
          <p:nvPr>
            <p:ph type="title"/>
          </p:nvPr>
        </p:nvSpPr>
        <p:spPr/>
        <p:txBody>
          <a:bodyPr/>
          <a:lstStyle/>
          <a:p>
            <a:r>
              <a:rPr lang="en-GB" dirty="0"/>
              <a:t>Observability Is a First-Class Concern</a:t>
            </a:r>
            <a:endParaRPr lang="en-US" dirty="0"/>
          </a:p>
        </p:txBody>
      </p:sp>
      <p:sp>
        <p:nvSpPr>
          <p:cNvPr id="3" name="Content Placeholder 2">
            <a:extLst>
              <a:ext uri="{FF2B5EF4-FFF2-40B4-BE49-F238E27FC236}">
                <a16:creationId xmlns:a16="http://schemas.microsoft.com/office/drawing/2014/main" id="{3D4A99DA-0F46-D6BE-723B-388468D90679}"/>
              </a:ext>
            </a:extLst>
          </p:cNvPr>
          <p:cNvSpPr>
            <a:spLocks noGrp="1"/>
          </p:cNvSpPr>
          <p:nvPr>
            <p:ph idx="1"/>
          </p:nvPr>
        </p:nvSpPr>
        <p:spPr/>
        <p:txBody>
          <a:bodyPr>
            <a:normAutofit lnSpcReduction="10000"/>
          </a:bodyPr>
          <a:lstStyle/>
          <a:p>
            <a:r>
              <a:rPr lang="en-US" b="1" dirty="0"/>
              <a:t>Spring Boot 2.x</a:t>
            </a:r>
          </a:p>
          <a:p>
            <a:pPr lvl="1"/>
            <a:r>
              <a:rPr lang="en-US" dirty="0"/>
              <a:t>Actuator + Micrometer (optional, add-on)</a:t>
            </a:r>
          </a:p>
          <a:p>
            <a:r>
              <a:rPr lang="en-US" b="1" dirty="0"/>
              <a:t>Spring Boot 3.x</a:t>
            </a:r>
          </a:p>
          <a:p>
            <a:pPr lvl="1"/>
            <a:r>
              <a:rPr lang="en-US" b="1" dirty="0"/>
              <a:t>Observability built into the core</a:t>
            </a:r>
            <a:endParaRPr lang="en-US" dirty="0"/>
          </a:p>
          <a:p>
            <a:pPr lvl="1"/>
            <a:r>
              <a:rPr lang="en-US" dirty="0"/>
              <a:t>Micrometer Observation API</a:t>
            </a:r>
          </a:p>
          <a:p>
            <a:r>
              <a:rPr lang="en-US" b="1" dirty="0"/>
              <a:t>What’s baseline now</a:t>
            </a:r>
          </a:p>
          <a:p>
            <a:pPr lvl="1"/>
            <a:r>
              <a:rPr lang="en-US" dirty="0"/>
              <a:t>Tracing</a:t>
            </a:r>
          </a:p>
          <a:p>
            <a:pPr lvl="1"/>
            <a:r>
              <a:rPr lang="en-US" dirty="0"/>
              <a:t>Metrics</a:t>
            </a:r>
          </a:p>
          <a:p>
            <a:pPr lvl="1"/>
            <a:r>
              <a:rPr lang="en-US" dirty="0"/>
              <a:t>Context propagation</a:t>
            </a:r>
          </a:p>
          <a:p>
            <a:r>
              <a:rPr lang="en-US" dirty="0"/>
              <a:t>You don’t “add observability later” — it’s expected from day one.</a:t>
            </a:r>
          </a:p>
          <a:p>
            <a:endParaRPr lang="en-US" dirty="0"/>
          </a:p>
        </p:txBody>
      </p:sp>
    </p:spTree>
    <p:extLst>
      <p:ext uri="{BB962C8B-B14F-4D97-AF65-F5344CB8AC3E}">
        <p14:creationId xmlns:p14="http://schemas.microsoft.com/office/powerpoint/2010/main" val="859846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E49CD-54A0-03F3-FB5B-742627EA886E}"/>
              </a:ext>
            </a:extLst>
          </p:cNvPr>
          <p:cNvSpPr>
            <a:spLocks noGrp="1"/>
          </p:cNvSpPr>
          <p:nvPr>
            <p:ph type="title"/>
          </p:nvPr>
        </p:nvSpPr>
        <p:spPr/>
        <p:txBody>
          <a:bodyPr/>
          <a:lstStyle/>
          <a:p>
            <a:r>
              <a:rPr lang="en-US" dirty="0"/>
              <a:t>AOT (Ahead-of-Time) Processing Built-In</a:t>
            </a:r>
          </a:p>
        </p:txBody>
      </p:sp>
      <p:sp>
        <p:nvSpPr>
          <p:cNvPr id="3" name="Content Placeholder 2">
            <a:extLst>
              <a:ext uri="{FF2B5EF4-FFF2-40B4-BE49-F238E27FC236}">
                <a16:creationId xmlns:a16="http://schemas.microsoft.com/office/drawing/2014/main" id="{6E114433-33FC-0131-D276-7EBE134A0DE5}"/>
              </a:ext>
            </a:extLst>
          </p:cNvPr>
          <p:cNvSpPr>
            <a:spLocks noGrp="1"/>
          </p:cNvSpPr>
          <p:nvPr>
            <p:ph idx="1"/>
          </p:nvPr>
        </p:nvSpPr>
        <p:spPr/>
        <p:txBody>
          <a:bodyPr>
            <a:normAutofit lnSpcReduction="10000"/>
          </a:bodyPr>
          <a:lstStyle/>
          <a:p>
            <a:r>
              <a:rPr lang="en-GB" b="1" dirty="0"/>
              <a:t>Spring Boot 2.x</a:t>
            </a:r>
          </a:p>
          <a:p>
            <a:pPr lvl="1"/>
            <a:r>
              <a:rPr lang="en-GB" dirty="0"/>
              <a:t>Experimental / external tooling</a:t>
            </a:r>
          </a:p>
          <a:p>
            <a:r>
              <a:rPr lang="en-GB" b="1" dirty="0"/>
              <a:t>Spring Boot 3.x</a:t>
            </a:r>
          </a:p>
          <a:p>
            <a:pPr lvl="1"/>
            <a:r>
              <a:rPr lang="en-GB" b="1" dirty="0"/>
              <a:t>AOT is part of the core build</a:t>
            </a:r>
            <a:endParaRPr lang="en-GB" dirty="0"/>
          </a:p>
          <a:p>
            <a:pPr lvl="1"/>
            <a:r>
              <a:rPr lang="en-GB" dirty="0"/>
              <a:t>Native images are first-class citizens</a:t>
            </a:r>
          </a:p>
          <a:p>
            <a:r>
              <a:rPr lang="en-GB" b="1" dirty="0"/>
              <a:t>Baseline impact</a:t>
            </a:r>
          </a:p>
          <a:p>
            <a:pPr lvl="1"/>
            <a:r>
              <a:rPr lang="en-GB" dirty="0"/>
              <a:t>Faster startup</a:t>
            </a:r>
          </a:p>
          <a:p>
            <a:pPr lvl="1"/>
            <a:r>
              <a:rPr lang="en-GB" dirty="0"/>
              <a:t>Lower memory</a:t>
            </a:r>
          </a:p>
          <a:p>
            <a:pPr lvl="1"/>
            <a:r>
              <a:rPr lang="en-GB" dirty="0"/>
              <a:t>Better cloud-native </a:t>
            </a:r>
            <a:r>
              <a:rPr lang="en-GB" dirty="0" err="1"/>
              <a:t>behavior</a:t>
            </a:r>
            <a:endParaRPr lang="en-GB" dirty="0"/>
          </a:p>
          <a:p>
            <a:r>
              <a:rPr lang="en-GB" dirty="0"/>
              <a:t>Even if you don’t use native images, </a:t>
            </a:r>
            <a:r>
              <a:rPr lang="en-GB" b="1" dirty="0"/>
              <a:t>AOT optimizations still apply</a:t>
            </a:r>
            <a:r>
              <a:rPr lang="en-GB" dirty="0"/>
              <a:t>.</a:t>
            </a:r>
          </a:p>
          <a:p>
            <a:endParaRPr lang="en-US" dirty="0"/>
          </a:p>
        </p:txBody>
      </p:sp>
    </p:spTree>
    <p:extLst>
      <p:ext uri="{BB962C8B-B14F-4D97-AF65-F5344CB8AC3E}">
        <p14:creationId xmlns:p14="http://schemas.microsoft.com/office/powerpoint/2010/main" val="621409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4C392-543B-FB97-92BE-0DE64EB6861D}"/>
              </a:ext>
            </a:extLst>
          </p:cNvPr>
          <p:cNvSpPr>
            <a:spLocks noGrp="1"/>
          </p:cNvSpPr>
          <p:nvPr>
            <p:ph type="title"/>
          </p:nvPr>
        </p:nvSpPr>
        <p:spPr/>
        <p:txBody>
          <a:bodyPr/>
          <a:lstStyle/>
          <a:p>
            <a:r>
              <a:rPr lang="en-US" dirty="0"/>
              <a:t>Spring Security 6 Baseline</a:t>
            </a:r>
          </a:p>
        </p:txBody>
      </p:sp>
      <p:sp>
        <p:nvSpPr>
          <p:cNvPr id="3" name="Content Placeholder 2">
            <a:extLst>
              <a:ext uri="{FF2B5EF4-FFF2-40B4-BE49-F238E27FC236}">
                <a16:creationId xmlns:a16="http://schemas.microsoft.com/office/drawing/2014/main" id="{89AFE60F-0E02-81E4-8AC2-EA4788CC8418}"/>
              </a:ext>
            </a:extLst>
          </p:cNvPr>
          <p:cNvSpPr>
            <a:spLocks noGrp="1"/>
          </p:cNvSpPr>
          <p:nvPr>
            <p:ph idx="1"/>
          </p:nvPr>
        </p:nvSpPr>
        <p:spPr/>
        <p:txBody>
          <a:bodyPr/>
          <a:lstStyle/>
          <a:p>
            <a:r>
              <a:rPr lang="en-GB" b="1" dirty="0"/>
              <a:t>What changed fundamentally</a:t>
            </a:r>
          </a:p>
          <a:p>
            <a:pPr lvl="1"/>
            <a:r>
              <a:rPr lang="en-GB" dirty="0" err="1"/>
              <a:t>WebSecurityConfigurerAdapter</a:t>
            </a:r>
            <a:r>
              <a:rPr lang="en-GB" dirty="0"/>
              <a:t> removed</a:t>
            </a:r>
          </a:p>
          <a:p>
            <a:pPr lvl="1"/>
            <a:r>
              <a:rPr lang="en-GB" dirty="0"/>
              <a:t>Inheritance-based security</a:t>
            </a:r>
          </a:p>
          <a:p>
            <a:pPr lvl="1"/>
            <a:r>
              <a:rPr lang="en-GB" dirty="0"/>
              <a:t>Bean-based, lambda configuration</a:t>
            </a:r>
          </a:p>
          <a:p>
            <a:r>
              <a:rPr lang="en-GB" b="1" dirty="0"/>
              <a:t>Why this matters</a:t>
            </a:r>
          </a:p>
          <a:p>
            <a:pPr lvl="1"/>
            <a:r>
              <a:rPr lang="en-GB" dirty="0"/>
              <a:t>Explicit configuration</a:t>
            </a:r>
          </a:p>
          <a:p>
            <a:pPr lvl="1"/>
            <a:r>
              <a:rPr lang="en-GB" dirty="0"/>
              <a:t>Easier to reason about</a:t>
            </a:r>
          </a:p>
          <a:p>
            <a:pPr lvl="1"/>
            <a:r>
              <a:rPr lang="en-GB" dirty="0"/>
              <a:t>Native-image friendly</a:t>
            </a:r>
          </a:p>
          <a:p>
            <a:endParaRPr lang="en-GB" dirty="0"/>
          </a:p>
          <a:p>
            <a:endParaRPr lang="en-US" dirty="0"/>
          </a:p>
        </p:txBody>
      </p:sp>
    </p:spTree>
    <p:extLst>
      <p:ext uri="{BB962C8B-B14F-4D97-AF65-F5344CB8AC3E}">
        <p14:creationId xmlns:p14="http://schemas.microsoft.com/office/powerpoint/2010/main" val="2804919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BB031-48C5-EADA-774B-7D4C0C0B676A}"/>
              </a:ext>
            </a:extLst>
          </p:cNvPr>
          <p:cNvSpPr>
            <a:spLocks noGrp="1"/>
          </p:cNvSpPr>
          <p:nvPr>
            <p:ph type="title"/>
          </p:nvPr>
        </p:nvSpPr>
        <p:spPr/>
        <p:txBody>
          <a:bodyPr/>
          <a:lstStyle/>
          <a:p>
            <a:r>
              <a:rPr lang="en-US" dirty="0"/>
              <a:t>Stricter Defaults &amp; Fail-Fast Philosophy</a:t>
            </a:r>
          </a:p>
        </p:txBody>
      </p:sp>
      <p:sp>
        <p:nvSpPr>
          <p:cNvPr id="3" name="Content Placeholder 2">
            <a:extLst>
              <a:ext uri="{FF2B5EF4-FFF2-40B4-BE49-F238E27FC236}">
                <a16:creationId xmlns:a16="http://schemas.microsoft.com/office/drawing/2014/main" id="{C429DA86-7F5D-4167-FB8E-7AF034283E20}"/>
              </a:ext>
            </a:extLst>
          </p:cNvPr>
          <p:cNvSpPr>
            <a:spLocks noGrp="1"/>
          </p:cNvSpPr>
          <p:nvPr>
            <p:ph idx="1"/>
          </p:nvPr>
        </p:nvSpPr>
        <p:spPr/>
        <p:txBody>
          <a:bodyPr/>
          <a:lstStyle/>
          <a:p>
            <a:r>
              <a:rPr lang="en-US" b="1" dirty="0"/>
              <a:t>Spring Boot 3.x:</a:t>
            </a:r>
          </a:p>
          <a:p>
            <a:pPr lvl="1"/>
            <a:r>
              <a:rPr lang="en-US" dirty="0"/>
              <a:t>Fails earlier</a:t>
            </a:r>
          </a:p>
          <a:p>
            <a:pPr lvl="1"/>
            <a:r>
              <a:rPr lang="en-US" dirty="0"/>
              <a:t>Logs clearer errors</a:t>
            </a:r>
          </a:p>
          <a:p>
            <a:pPr lvl="1"/>
            <a:r>
              <a:rPr lang="en-US" dirty="0"/>
              <a:t>Avoids silent behavior</a:t>
            </a:r>
          </a:p>
          <a:p>
            <a:r>
              <a:rPr lang="en-US" b="1" dirty="0"/>
              <a:t>Examples:</a:t>
            </a:r>
          </a:p>
          <a:p>
            <a:pPr lvl="1"/>
            <a:r>
              <a:rPr lang="en-US" dirty="0"/>
              <a:t>Invalid JPQL fails on startup</a:t>
            </a:r>
          </a:p>
          <a:p>
            <a:pPr lvl="1"/>
            <a:r>
              <a:rPr lang="en-US" dirty="0"/>
              <a:t>Missing beans fail immediately</a:t>
            </a:r>
          </a:p>
          <a:p>
            <a:pPr lvl="1"/>
            <a:r>
              <a:rPr lang="en-US" dirty="0"/>
              <a:t>Reflection misuse exposed early</a:t>
            </a:r>
          </a:p>
          <a:p>
            <a:r>
              <a:rPr lang="en-GB" b="1" dirty="0"/>
              <a:t>Boot 3 fails early so production doesn’t fail late.</a:t>
            </a:r>
            <a:endParaRPr lang="en-US" b="1" dirty="0"/>
          </a:p>
        </p:txBody>
      </p:sp>
    </p:spTree>
    <p:extLst>
      <p:ext uri="{BB962C8B-B14F-4D97-AF65-F5344CB8AC3E}">
        <p14:creationId xmlns:p14="http://schemas.microsoft.com/office/powerpoint/2010/main" val="115672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DADB56-B929-2EDA-086C-D144CD26C5AF}"/>
              </a:ext>
            </a:extLst>
          </p:cNvPr>
          <p:cNvSpPr txBox="1"/>
          <p:nvPr/>
        </p:nvSpPr>
        <p:spPr>
          <a:xfrm>
            <a:off x="4767072" y="3304032"/>
            <a:ext cx="3126946" cy="369332"/>
          </a:xfrm>
          <a:prstGeom prst="rect">
            <a:avLst/>
          </a:prstGeom>
          <a:noFill/>
        </p:spPr>
        <p:txBody>
          <a:bodyPr wrap="none" rtlCol="0">
            <a:spAutoFit/>
          </a:bodyPr>
          <a:lstStyle/>
          <a:p>
            <a:r>
              <a:rPr lang="en-IN" dirty="0"/>
              <a:t>Spring Boot Auto-Configuration</a:t>
            </a:r>
            <a:endParaRPr lang="en-US" dirty="0"/>
          </a:p>
        </p:txBody>
      </p:sp>
    </p:spTree>
    <p:extLst>
      <p:ext uri="{BB962C8B-B14F-4D97-AF65-F5344CB8AC3E}">
        <p14:creationId xmlns:p14="http://schemas.microsoft.com/office/powerpoint/2010/main" val="4122595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04FCB-5F98-C318-72B8-23A10F79E5D5}"/>
              </a:ext>
            </a:extLst>
          </p:cNvPr>
          <p:cNvSpPr>
            <a:spLocks noGrp="1"/>
          </p:cNvSpPr>
          <p:nvPr>
            <p:ph type="title"/>
          </p:nvPr>
        </p:nvSpPr>
        <p:spPr/>
        <p:txBody>
          <a:bodyPr/>
          <a:lstStyle/>
          <a:p>
            <a:r>
              <a:rPr lang="en-IN" b="1" dirty="0"/>
              <a:t>Spring Boot Auto-Configuration</a:t>
            </a:r>
            <a:endParaRPr lang="en-US" b="1" dirty="0"/>
          </a:p>
        </p:txBody>
      </p:sp>
      <p:sp>
        <p:nvSpPr>
          <p:cNvPr id="3" name="Content Placeholder 2">
            <a:extLst>
              <a:ext uri="{FF2B5EF4-FFF2-40B4-BE49-F238E27FC236}">
                <a16:creationId xmlns:a16="http://schemas.microsoft.com/office/drawing/2014/main" id="{FEEEDAB5-4B00-E7B5-892B-E26345BE5305}"/>
              </a:ext>
            </a:extLst>
          </p:cNvPr>
          <p:cNvSpPr>
            <a:spLocks noGrp="1"/>
          </p:cNvSpPr>
          <p:nvPr>
            <p:ph idx="1"/>
          </p:nvPr>
        </p:nvSpPr>
        <p:spPr/>
        <p:txBody>
          <a:bodyPr/>
          <a:lstStyle/>
          <a:p>
            <a:r>
              <a:rPr lang="en-GB" dirty="0"/>
              <a:t>Auto-configuration moved from reflection-heavy discovery to declarative imports.</a:t>
            </a:r>
            <a:endParaRPr lang="en-US" dirty="0"/>
          </a:p>
        </p:txBody>
      </p:sp>
    </p:spTree>
    <p:extLst>
      <p:ext uri="{BB962C8B-B14F-4D97-AF65-F5344CB8AC3E}">
        <p14:creationId xmlns:p14="http://schemas.microsoft.com/office/powerpoint/2010/main" val="2012190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DBDBB-8C64-6E58-1277-1DF246CA58A3}"/>
              </a:ext>
            </a:extLst>
          </p:cNvPr>
          <p:cNvSpPr>
            <a:spLocks noGrp="1"/>
          </p:cNvSpPr>
          <p:nvPr>
            <p:ph type="title"/>
          </p:nvPr>
        </p:nvSpPr>
        <p:spPr/>
        <p:txBody>
          <a:bodyPr/>
          <a:lstStyle/>
          <a:p>
            <a:r>
              <a:rPr lang="en-GB" b="1" dirty="0"/>
              <a:t>What This Means in Simple English</a:t>
            </a:r>
            <a:endParaRPr lang="en-US" b="1" dirty="0"/>
          </a:p>
        </p:txBody>
      </p:sp>
      <p:sp>
        <p:nvSpPr>
          <p:cNvPr id="3" name="Content Placeholder 2">
            <a:extLst>
              <a:ext uri="{FF2B5EF4-FFF2-40B4-BE49-F238E27FC236}">
                <a16:creationId xmlns:a16="http://schemas.microsoft.com/office/drawing/2014/main" id="{EA2A4191-DDF0-B590-3241-BDF27A88D1B5}"/>
              </a:ext>
            </a:extLst>
          </p:cNvPr>
          <p:cNvSpPr>
            <a:spLocks noGrp="1"/>
          </p:cNvSpPr>
          <p:nvPr>
            <p:ph idx="1"/>
          </p:nvPr>
        </p:nvSpPr>
        <p:spPr/>
        <p:txBody>
          <a:bodyPr/>
          <a:lstStyle/>
          <a:p>
            <a:r>
              <a:rPr lang="en-IN" b="1" dirty="0"/>
              <a:t>In Spring Boot 2.x</a:t>
            </a:r>
          </a:p>
          <a:p>
            <a:pPr lvl="1"/>
            <a:r>
              <a:rPr lang="en-IN" dirty="0"/>
              <a:t>Spring Boot scanned and inspected a lot of classes at runtime to figure out which auto-configurations to apply.</a:t>
            </a:r>
          </a:p>
          <a:p>
            <a:r>
              <a:rPr lang="en-IN" b="1" dirty="0"/>
              <a:t>In Spring Boot 3.x</a:t>
            </a:r>
          </a:p>
          <a:p>
            <a:pPr lvl="1"/>
            <a:r>
              <a:rPr lang="en-IN" dirty="0"/>
              <a:t>Spring Boot is now told explicitly which auto-configurations exists, so it import them directly instead of discovering them</a:t>
            </a:r>
          </a:p>
          <a:p>
            <a:pPr lvl="1"/>
            <a:r>
              <a:rPr lang="en-IN" dirty="0"/>
              <a:t>In short Less guessing and more explicit instructions</a:t>
            </a:r>
          </a:p>
        </p:txBody>
      </p:sp>
    </p:spTree>
    <p:extLst>
      <p:ext uri="{BB962C8B-B14F-4D97-AF65-F5344CB8AC3E}">
        <p14:creationId xmlns:p14="http://schemas.microsoft.com/office/powerpoint/2010/main" val="1098112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A84A8-311E-75C1-4E51-3DA011026A71}"/>
              </a:ext>
            </a:extLst>
          </p:cNvPr>
          <p:cNvSpPr>
            <a:spLocks noGrp="1"/>
          </p:cNvSpPr>
          <p:nvPr>
            <p:ph type="title"/>
          </p:nvPr>
        </p:nvSpPr>
        <p:spPr/>
        <p:txBody>
          <a:bodyPr/>
          <a:lstStyle/>
          <a:p>
            <a:r>
              <a:rPr lang="en-IN" b="1" dirty="0"/>
              <a:t>How Auto-Configuration Worked in Spring Boot 2.x</a:t>
            </a:r>
            <a:endParaRPr lang="en-US" b="1" dirty="0"/>
          </a:p>
        </p:txBody>
      </p:sp>
      <p:sp>
        <p:nvSpPr>
          <p:cNvPr id="3" name="Content Placeholder 2">
            <a:extLst>
              <a:ext uri="{FF2B5EF4-FFF2-40B4-BE49-F238E27FC236}">
                <a16:creationId xmlns:a16="http://schemas.microsoft.com/office/drawing/2014/main" id="{4EEE060F-D3B6-F1D2-4B92-A97604572DEB}"/>
              </a:ext>
            </a:extLst>
          </p:cNvPr>
          <p:cNvSpPr>
            <a:spLocks noGrp="1"/>
          </p:cNvSpPr>
          <p:nvPr>
            <p:ph idx="1"/>
          </p:nvPr>
        </p:nvSpPr>
        <p:spPr/>
        <p:txBody>
          <a:bodyPr/>
          <a:lstStyle/>
          <a:p>
            <a:r>
              <a:rPr lang="en-IN" b="1" dirty="0"/>
              <a:t>Mechanism : </a:t>
            </a:r>
            <a:r>
              <a:rPr lang="en-IN" b="1" dirty="0" err="1"/>
              <a:t>spring.factories</a:t>
            </a:r>
            <a:endParaRPr lang="en-IN" b="1" dirty="0"/>
          </a:p>
          <a:p>
            <a:pPr marL="0" indent="0">
              <a:buNone/>
            </a:pPr>
            <a:r>
              <a:rPr lang="en-IN" dirty="0"/>
              <a:t>	</a:t>
            </a:r>
            <a:r>
              <a:rPr lang="en-IN" sz="2000" dirty="0"/>
              <a:t>META-INF/</a:t>
            </a:r>
            <a:r>
              <a:rPr lang="en-IN" sz="2000" dirty="0" err="1"/>
              <a:t>spring.factories</a:t>
            </a:r>
            <a:endParaRPr lang="en-IN" sz="2000" dirty="0"/>
          </a:p>
          <a:p>
            <a:r>
              <a:rPr lang="en-IN" b="1" dirty="0"/>
              <a:t>Example</a:t>
            </a:r>
            <a:br>
              <a:rPr lang="en-IN" dirty="0"/>
            </a:br>
            <a:r>
              <a:rPr lang="en-IN" dirty="0"/>
              <a:t>	</a:t>
            </a:r>
            <a:r>
              <a:rPr lang="en-IN" sz="1800" dirty="0" err="1"/>
              <a:t>org.springframework.boot.autoconfigure.EnableAutoConfiguration</a:t>
            </a:r>
            <a:r>
              <a:rPr lang="en-IN" sz="1800" dirty="0"/>
              <a:t>=\</a:t>
            </a:r>
          </a:p>
          <a:p>
            <a:pPr marL="0" indent="0">
              <a:buNone/>
            </a:pPr>
            <a:r>
              <a:rPr lang="en-IN" sz="1800" dirty="0"/>
              <a:t>	org.springframework.boot.autoconfigure.jdbc.DataSourceAutoConfiguration,\</a:t>
            </a:r>
          </a:p>
          <a:p>
            <a:pPr marL="0" indent="0">
              <a:buNone/>
            </a:pPr>
            <a:r>
              <a:rPr lang="en-IN" sz="1800" dirty="0"/>
              <a:t>	org.springframework.boot.autoconfigure.orm.jpa.HibernateJpaAutoConfiguration</a:t>
            </a:r>
          </a:p>
          <a:p>
            <a:endParaRPr lang="en-US" dirty="0"/>
          </a:p>
        </p:txBody>
      </p:sp>
    </p:spTree>
    <p:extLst>
      <p:ext uri="{BB962C8B-B14F-4D97-AF65-F5344CB8AC3E}">
        <p14:creationId xmlns:p14="http://schemas.microsoft.com/office/powerpoint/2010/main" val="2513705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8DFE6-811F-FC71-620A-E38B2EE73EF6}"/>
              </a:ext>
            </a:extLst>
          </p:cNvPr>
          <p:cNvSpPr>
            <a:spLocks noGrp="1"/>
          </p:cNvSpPr>
          <p:nvPr>
            <p:ph type="title"/>
          </p:nvPr>
        </p:nvSpPr>
        <p:spPr/>
        <p:txBody>
          <a:bodyPr/>
          <a:lstStyle/>
          <a:p>
            <a:r>
              <a:rPr lang="en-IN" b="1" dirty="0"/>
              <a:t>What happens at runtime?</a:t>
            </a:r>
            <a:endParaRPr lang="en-US" b="1" dirty="0"/>
          </a:p>
        </p:txBody>
      </p:sp>
      <p:sp>
        <p:nvSpPr>
          <p:cNvPr id="3" name="Content Placeholder 2">
            <a:extLst>
              <a:ext uri="{FF2B5EF4-FFF2-40B4-BE49-F238E27FC236}">
                <a16:creationId xmlns:a16="http://schemas.microsoft.com/office/drawing/2014/main" id="{783B1290-A1EA-213F-AB3A-0B50D2FBF667}"/>
              </a:ext>
            </a:extLst>
          </p:cNvPr>
          <p:cNvSpPr>
            <a:spLocks noGrp="1"/>
          </p:cNvSpPr>
          <p:nvPr>
            <p:ph idx="1"/>
          </p:nvPr>
        </p:nvSpPr>
        <p:spPr/>
        <p:txBody>
          <a:bodyPr>
            <a:normAutofit fontScale="77500" lnSpcReduction="20000"/>
          </a:bodyPr>
          <a:lstStyle/>
          <a:p>
            <a:r>
              <a:rPr lang="en-GB" dirty="0"/>
              <a:t>Boot reads </a:t>
            </a:r>
            <a:r>
              <a:rPr lang="en-GB" dirty="0" err="1"/>
              <a:t>spring.factories</a:t>
            </a:r>
            <a:endParaRPr lang="en-GB" dirty="0"/>
          </a:p>
          <a:p>
            <a:r>
              <a:rPr lang="en-GB" dirty="0"/>
              <a:t>Loads </a:t>
            </a:r>
            <a:r>
              <a:rPr lang="en-GB" b="1" dirty="0"/>
              <a:t>all listed class names</a:t>
            </a:r>
            <a:endParaRPr lang="en-GB" dirty="0"/>
          </a:p>
          <a:p>
            <a:r>
              <a:rPr lang="en-GB" dirty="0"/>
              <a:t>Uses </a:t>
            </a:r>
            <a:r>
              <a:rPr lang="en-GB" b="1" dirty="0"/>
              <a:t>reflection</a:t>
            </a:r>
            <a:r>
              <a:rPr lang="en-GB" dirty="0"/>
              <a:t> to:</a:t>
            </a:r>
          </a:p>
          <a:p>
            <a:pPr lvl="1"/>
            <a:r>
              <a:rPr lang="en-GB" dirty="0"/>
              <a:t>Load classes</a:t>
            </a:r>
          </a:p>
          <a:p>
            <a:pPr lvl="1"/>
            <a:r>
              <a:rPr lang="en-GB" dirty="0"/>
              <a:t>Inspect annotations</a:t>
            </a:r>
          </a:p>
          <a:p>
            <a:pPr lvl="1"/>
            <a:r>
              <a:rPr lang="en-GB" dirty="0"/>
              <a:t>Evaluate conditions</a:t>
            </a:r>
          </a:p>
          <a:p>
            <a:r>
              <a:rPr lang="en-GB" dirty="0"/>
              <a:t>Decides which configs apply</a:t>
            </a:r>
          </a:p>
          <a:p>
            <a:r>
              <a:rPr lang="en-GB" b="1" dirty="0"/>
              <a:t>Why this is reflection-heavy</a:t>
            </a:r>
          </a:p>
          <a:p>
            <a:pPr lvl="1"/>
            <a:r>
              <a:rPr lang="en-GB" dirty="0"/>
              <a:t>Classes are loaded even if they won’t be used</a:t>
            </a:r>
          </a:p>
          <a:p>
            <a:pPr lvl="1"/>
            <a:r>
              <a:rPr lang="en-GB" dirty="0"/>
              <a:t>Reflection is used to inspect:</a:t>
            </a:r>
          </a:p>
          <a:p>
            <a:pPr lvl="2"/>
            <a:r>
              <a:rPr lang="en-GB" dirty="0"/>
              <a:t>Annotations</a:t>
            </a:r>
          </a:p>
          <a:p>
            <a:pPr lvl="2"/>
            <a:r>
              <a:rPr lang="en-GB" dirty="0"/>
              <a:t>Constructors</a:t>
            </a:r>
          </a:p>
          <a:p>
            <a:pPr lvl="2"/>
            <a:r>
              <a:rPr lang="en-GB" dirty="0"/>
              <a:t>Bean methods</a:t>
            </a:r>
          </a:p>
          <a:p>
            <a:r>
              <a:rPr lang="en-GB" dirty="0"/>
              <a:t>Happens </a:t>
            </a:r>
            <a:r>
              <a:rPr lang="en-GB" b="1" dirty="0"/>
              <a:t>at startup</a:t>
            </a:r>
            <a:endParaRPr lang="en-GB" dirty="0"/>
          </a:p>
          <a:p>
            <a:endParaRPr lang="en-US" dirty="0"/>
          </a:p>
        </p:txBody>
      </p:sp>
    </p:spTree>
    <p:extLst>
      <p:ext uri="{BB962C8B-B14F-4D97-AF65-F5344CB8AC3E}">
        <p14:creationId xmlns:p14="http://schemas.microsoft.com/office/powerpoint/2010/main" val="4210646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07A0C-C7D5-3BF6-7F93-9A9A46E7B47C}"/>
              </a:ext>
            </a:extLst>
          </p:cNvPr>
          <p:cNvSpPr>
            <a:spLocks noGrp="1"/>
          </p:cNvSpPr>
          <p:nvPr>
            <p:ph type="title"/>
          </p:nvPr>
        </p:nvSpPr>
        <p:spPr/>
        <p:txBody>
          <a:bodyPr/>
          <a:lstStyle/>
          <a:p>
            <a:r>
              <a:rPr lang="en-US" b="1" dirty="0"/>
              <a:t>Problems With Reflection-Heavy Discovery</a:t>
            </a:r>
          </a:p>
        </p:txBody>
      </p:sp>
      <p:sp>
        <p:nvSpPr>
          <p:cNvPr id="3" name="Content Placeholder 2">
            <a:extLst>
              <a:ext uri="{FF2B5EF4-FFF2-40B4-BE49-F238E27FC236}">
                <a16:creationId xmlns:a16="http://schemas.microsoft.com/office/drawing/2014/main" id="{76F79AAB-69F9-413F-B5AA-D3AA1ED62DFF}"/>
              </a:ext>
            </a:extLst>
          </p:cNvPr>
          <p:cNvSpPr>
            <a:spLocks noGrp="1"/>
          </p:cNvSpPr>
          <p:nvPr>
            <p:ph idx="1"/>
          </p:nvPr>
        </p:nvSpPr>
        <p:spPr/>
        <p:txBody>
          <a:bodyPr>
            <a:normAutofit/>
          </a:bodyPr>
          <a:lstStyle/>
          <a:p>
            <a:r>
              <a:rPr lang="en-GB" b="1" dirty="0"/>
              <a:t>Performance cost</a:t>
            </a:r>
          </a:p>
          <a:p>
            <a:pPr lvl="1"/>
            <a:r>
              <a:rPr lang="en-GB" dirty="0"/>
              <a:t>Slower startup</a:t>
            </a:r>
          </a:p>
          <a:p>
            <a:pPr lvl="1"/>
            <a:r>
              <a:rPr lang="en-GB" dirty="0"/>
              <a:t>More memory usage</a:t>
            </a:r>
          </a:p>
          <a:p>
            <a:r>
              <a:rPr lang="en-GB" b="1" dirty="0"/>
              <a:t>Hard for native images</a:t>
            </a:r>
          </a:p>
          <a:p>
            <a:pPr lvl="1"/>
            <a:r>
              <a:rPr lang="en-GB" dirty="0"/>
              <a:t>Reflection must be declared in advance</a:t>
            </a:r>
          </a:p>
          <a:p>
            <a:pPr lvl="1"/>
            <a:r>
              <a:rPr lang="en-GB" dirty="0"/>
              <a:t>Dynamic discovery breaks </a:t>
            </a:r>
            <a:r>
              <a:rPr lang="en-GB" dirty="0" err="1"/>
              <a:t>GraalVM</a:t>
            </a:r>
            <a:endParaRPr lang="en-GB" dirty="0"/>
          </a:p>
          <a:p>
            <a:r>
              <a:rPr lang="en-GB" b="1" dirty="0"/>
              <a:t>Harder to </a:t>
            </a:r>
            <a:r>
              <a:rPr lang="en-GB" b="1" dirty="0" err="1"/>
              <a:t>analyze</a:t>
            </a:r>
            <a:endParaRPr lang="en-GB" b="1" dirty="0"/>
          </a:p>
          <a:p>
            <a:pPr lvl="1"/>
            <a:r>
              <a:rPr lang="en-GB" dirty="0"/>
              <a:t>Tools can’t easily see what will be loaded</a:t>
            </a:r>
          </a:p>
          <a:p>
            <a:pPr lvl="1"/>
            <a:r>
              <a:rPr lang="en-GB" dirty="0"/>
              <a:t>Debugging auto-config order is painful</a:t>
            </a:r>
          </a:p>
          <a:p>
            <a:pPr marL="0" indent="0">
              <a:buNone/>
            </a:pPr>
            <a:endParaRPr lang="en-US" dirty="0"/>
          </a:p>
        </p:txBody>
      </p:sp>
    </p:spTree>
    <p:extLst>
      <p:ext uri="{BB962C8B-B14F-4D97-AF65-F5344CB8AC3E}">
        <p14:creationId xmlns:p14="http://schemas.microsoft.com/office/powerpoint/2010/main" val="2253410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05957-9C56-2974-4893-2902FC829A3A}"/>
              </a:ext>
            </a:extLst>
          </p:cNvPr>
          <p:cNvSpPr>
            <a:spLocks noGrp="1"/>
          </p:cNvSpPr>
          <p:nvPr>
            <p:ph type="title"/>
          </p:nvPr>
        </p:nvSpPr>
        <p:spPr/>
        <p:txBody>
          <a:bodyPr/>
          <a:lstStyle/>
          <a:p>
            <a:r>
              <a:rPr lang="en-GB" b="1" dirty="0"/>
              <a:t>How Auto-Configuration Works in Spring Boot 3.x</a:t>
            </a:r>
            <a:endParaRPr lang="en-US" b="1" dirty="0"/>
          </a:p>
        </p:txBody>
      </p:sp>
      <p:sp>
        <p:nvSpPr>
          <p:cNvPr id="3" name="Content Placeholder 2">
            <a:extLst>
              <a:ext uri="{FF2B5EF4-FFF2-40B4-BE49-F238E27FC236}">
                <a16:creationId xmlns:a16="http://schemas.microsoft.com/office/drawing/2014/main" id="{EDEF3B03-F96D-79A7-6CFD-337C1F7123D7}"/>
              </a:ext>
            </a:extLst>
          </p:cNvPr>
          <p:cNvSpPr>
            <a:spLocks noGrp="1"/>
          </p:cNvSpPr>
          <p:nvPr>
            <p:ph idx="1"/>
          </p:nvPr>
        </p:nvSpPr>
        <p:spPr/>
        <p:txBody>
          <a:bodyPr/>
          <a:lstStyle/>
          <a:p>
            <a:r>
              <a:rPr lang="en-US" b="1" dirty="0"/>
              <a:t>Mechanism: Declarative Imports</a:t>
            </a:r>
          </a:p>
          <a:p>
            <a:pPr marL="0" indent="0">
              <a:buNone/>
            </a:pPr>
            <a:r>
              <a:rPr lang="en-US" sz="1800" dirty="0"/>
              <a:t>	META-INF/spring/org.springframework.boot.autoconfigure.AutoConfiguration.imports</a:t>
            </a:r>
          </a:p>
          <a:p>
            <a:r>
              <a:rPr lang="en-US" sz="1800" b="1" dirty="0"/>
              <a:t>Example</a:t>
            </a:r>
          </a:p>
          <a:p>
            <a:pPr marL="0" indent="0">
              <a:buNone/>
            </a:pPr>
            <a:r>
              <a:rPr lang="en-US" dirty="0"/>
              <a:t>	</a:t>
            </a:r>
            <a:r>
              <a:rPr lang="en-US" sz="2000" dirty="0"/>
              <a:t>org.springframework.boot.autoconfigure.jdbc.DataSourceAutoConfiguration</a:t>
            </a:r>
          </a:p>
          <a:p>
            <a:pPr marL="0" indent="0">
              <a:buNone/>
            </a:pPr>
            <a:r>
              <a:rPr lang="en-US" sz="2000" dirty="0"/>
              <a:t>	org.springframework.boot.autoconfigure.orm.jpa.HibernateJpaAutoConfiguration</a:t>
            </a:r>
          </a:p>
          <a:p>
            <a:endParaRPr lang="en-US" dirty="0"/>
          </a:p>
        </p:txBody>
      </p:sp>
    </p:spTree>
    <p:extLst>
      <p:ext uri="{BB962C8B-B14F-4D97-AF65-F5344CB8AC3E}">
        <p14:creationId xmlns:p14="http://schemas.microsoft.com/office/powerpoint/2010/main" val="2369948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418E5-3662-9B57-611F-0B9F48A8905C}"/>
              </a:ext>
            </a:extLst>
          </p:cNvPr>
          <p:cNvSpPr>
            <a:spLocks noGrp="1"/>
          </p:cNvSpPr>
          <p:nvPr>
            <p:ph type="title"/>
          </p:nvPr>
        </p:nvSpPr>
        <p:spPr/>
        <p:txBody>
          <a:bodyPr/>
          <a:lstStyle/>
          <a:p>
            <a:r>
              <a:rPr lang="en-IN" b="1" dirty="0"/>
              <a:t>What happens at runtime?</a:t>
            </a:r>
            <a:endParaRPr lang="en-US" b="1" dirty="0"/>
          </a:p>
        </p:txBody>
      </p:sp>
      <p:sp>
        <p:nvSpPr>
          <p:cNvPr id="3" name="Content Placeholder 2">
            <a:extLst>
              <a:ext uri="{FF2B5EF4-FFF2-40B4-BE49-F238E27FC236}">
                <a16:creationId xmlns:a16="http://schemas.microsoft.com/office/drawing/2014/main" id="{5D56FEA8-64C7-55D3-9D7F-8626850D0295}"/>
              </a:ext>
            </a:extLst>
          </p:cNvPr>
          <p:cNvSpPr>
            <a:spLocks noGrp="1"/>
          </p:cNvSpPr>
          <p:nvPr>
            <p:ph idx="1"/>
          </p:nvPr>
        </p:nvSpPr>
        <p:spPr/>
        <p:txBody>
          <a:bodyPr/>
          <a:lstStyle/>
          <a:p>
            <a:r>
              <a:rPr lang="en-GB" dirty="0"/>
              <a:t>Boot reads a </a:t>
            </a:r>
            <a:r>
              <a:rPr lang="en-GB" b="1" dirty="0"/>
              <a:t>simple list</a:t>
            </a:r>
            <a:endParaRPr lang="en-GB" dirty="0"/>
          </a:p>
          <a:p>
            <a:r>
              <a:rPr lang="en-GB" dirty="0"/>
              <a:t>Directly imports listed configurations</a:t>
            </a:r>
          </a:p>
          <a:p>
            <a:r>
              <a:rPr lang="en-GB" dirty="0"/>
              <a:t>Applies conditions </a:t>
            </a:r>
            <a:r>
              <a:rPr lang="en-GB" b="1" dirty="0"/>
              <a:t>without scanning</a:t>
            </a:r>
            <a:endParaRPr lang="en-GB" dirty="0"/>
          </a:p>
          <a:p>
            <a:r>
              <a:rPr lang="en-GB" dirty="0"/>
              <a:t>No runtime guessing</a:t>
            </a:r>
          </a:p>
          <a:p>
            <a:r>
              <a:rPr lang="en-GB" dirty="0"/>
              <a:t>It’s like a </a:t>
            </a:r>
            <a:r>
              <a:rPr lang="en-GB" b="1" dirty="0"/>
              <a:t>precomputed index</a:t>
            </a:r>
            <a:r>
              <a:rPr lang="en-GB" dirty="0"/>
              <a:t>.</a:t>
            </a:r>
          </a:p>
          <a:p>
            <a:endParaRPr lang="en-US" dirty="0"/>
          </a:p>
        </p:txBody>
      </p:sp>
    </p:spTree>
    <p:extLst>
      <p:ext uri="{BB962C8B-B14F-4D97-AF65-F5344CB8AC3E}">
        <p14:creationId xmlns:p14="http://schemas.microsoft.com/office/powerpoint/2010/main" val="1077160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993E4-939A-17A1-295F-B33642019760}"/>
              </a:ext>
            </a:extLst>
          </p:cNvPr>
          <p:cNvSpPr>
            <a:spLocks noGrp="1"/>
          </p:cNvSpPr>
          <p:nvPr>
            <p:ph type="title"/>
          </p:nvPr>
        </p:nvSpPr>
        <p:spPr/>
        <p:txBody>
          <a:bodyPr/>
          <a:lstStyle/>
          <a:p>
            <a:r>
              <a:rPr lang="en-GB" b="1" dirty="0"/>
              <a:t>Why This Matters (Very Important)</a:t>
            </a:r>
            <a:endParaRPr lang="en-US" b="1" dirty="0"/>
          </a:p>
        </p:txBody>
      </p:sp>
      <p:sp>
        <p:nvSpPr>
          <p:cNvPr id="3" name="Content Placeholder 2">
            <a:extLst>
              <a:ext uri="{FF2B5EF4-FFF2-40B4-BE49-F238E27FC236}">
                <a16:creationId xmlns:a16="http://schemas.microsoft.com/office/drawing/2014/main" id="{1E936578-C8C6-8958-4DFB-7A5FBCE74847}"/>
              </a:ext>
            </a:extLst>
          </p:cNvPr>
          <p:cNvSpPr>
            <a:spLocks noGrp="1"/>
          </p:cNvSpPr>
          <p:nvPr>
            <p:ph idx="1"/>
          </p:nvPr>
        </p:nvSpPr>
        <p:spPr/>
        <p:txBody>
          <a:bodyPr>
            <a:normAutofit fontScale="92500" lnSpcReduction="20000"/>
          </a:bodyPr>
          <a:lstStyle/>
          <a:p>
            <a:r>
              <a:rPr lang="en-US" b="1" dirty="0"/>
              <a:t>Faster startup</a:t>
            </a:r>
          </a:p>
          <a:p>
            <a:pPr lvl="1"/>
            <a:r>
              <a:rPr lang="en-US" dirty="0"/>
              <a:t>Less reflection</a:t>
            </a:r>
          </a:p>
          <a:p>
            <a:pPr lvl="1"/>
            <a:r>
              <a:rPr lang="en-US" dirty="0"/>
              <a:t>Less class loading</a:t>
            </a:r>
          </a:p>
          <a:p>
            <a:r>
              <a:rPr lang="en-US" b="1" dirty="0"/>
              <a:t>Better tooling</a:t>
            </a:r>
          </a:p>
          <a:p>
            <a:pPr lvl="1"/>
            <a:r>
              <a:rPr lang="en-US" dirty="0"/>
              <a:t>IDEs understand auto-config better</a:t>
            </a:r>
          </a:p>
          <a:p>
            <a:pPr lvl="1"/>
            <a:r>
              <a:rPr lang="en-US" dirty="0"/>
              <a:t>Build tools can analyze dependencies</a:t>
            </a:r>
          </a:p>
          <a:p>
            <a:r>
              <a:rPr lang="en-US" b="1" dirty="0"/>
              <a:t>Cloud &amp; Native Ready</a:t>
            </a:r>
          </a:p>
          <a:p>
            <a:pPr lvl="1"/>
            <a:r>
              <a:rPr lang="en-US" dirty="0"/>
              <a:t>Required for AOT</a:t>
            </a:r>
          </a:p>
          <a:p>
            <a:pPr lvl="1"/>
            <a:r>
              <a:rPr lang="en-US" dirty="0"/>
              <a:t>Required for </a:t>
            </a:r>
            <a:r>
              <a:rPr lang="en-US" dirty="0" err="1"/>
              <a:t>GraalVM</a:t>
            </a:r>
            <a:r>
              <a:rPr lang="en-US" dirty="0"/>
              <a:t> native images</a:t>
            </a:r>
          </a:p>
          <a:p>
            <a:r>
              <a:rPr lang="en-US" b="1" dirty="0"/>
              <a:t>Predictable behavior</a:t>
            </a:r>
          </a:p>
          <a:p>
            <a:pPr lvl="1"/>
            <a:r>
              <a:rPr lang="en-US" dirty="0"/>
              <a:t>No hidden auto-configurations</a:t>
            </a:r>
          </a:p>
          <a:p>
            <a:pPr lvl="1"/>
            <a:r>
              <a:rPr lang="en-US" dirty="0"/>
              <a:t>Fail-fast when misconfigured</a:t>
            </a:r>
          </a:p>
          <a:p>
            <a:endParaRPr lang="en-US" dirty="0"/>
          </a:p>
        </p:txBody>
      </p:sp>
    </p:spTree>
    <p:extLst>
      <p:ext uri="{BB962C8B-B14F-4D97-AF65-F5344CB8AC3E}">
        <p14:creationId xmlns:p14="http://schemas.microsoft.com/office/powerpoint/2010/main" val="1166090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9FD06-0DF2-1F11-E9D0-DBEC37C54345}"/>
              </a:ext>
            </a:extLst>
          </p:cNvPr>
          <p:cNvSpPr>
            <a:spLocks noGrp="1"/>
          </p:cNvSpPr>
          <p:nvPr>
            <p:ph type="title"/>
          </p:nvPr>
        </p:nvSpPr>
        <p:spPr/>
        <p:txBody>
          <a:bodyPr/>
          <a:lstStyle/>
          <a:p>
            <a:r>
              <a:rPr lang="en-US" dirty="0"/>
              <a:t>Visual Comparison</a:t>
            </a:r>
          </a:p>
        </p:txBody>
      </p:sp>
      <p:graphicFrame>
        <p:nvGraphicFramePr>
          <p:cNvPr id="4" name="Content Placeholder 3">
            <a:extLst>
              <a:ext uri="{FF2B5EF4-FFF2-40B4-BE49-F238E27FC236}">
                <a16:creationId xmlns:a16="http://schemas.microsoft.com/office/drawing/2014/main" id="{812D641B-9076-226D-547A-FB1A18A823E9}"/>
              </a:ext>
            </a:extLst>
          </p:cNvPr>
          <p:cNvGraphicFramePr>
            <a:graphicFrameLocks noGrp="1"/>
          </p:cNvGraphicFramePr>
          <p:nvPr>
            <p:ph idx="1"/>
            <p:extLst>
              <p:ext uri="{D42A27DB-BD31-4B8C-83A1-F6EECF244321}">
                <p14:modId xmlns:p14="http://schemas.microsoft.com/office/powerpoint/2010/main" val="3253720623"/>
              </p:ext>
            </p:extLst>
          </p:nvPr>
        </p:nvGraphicFramePr>
        <p:xfrm>
          <a:off x="838200" y="1876838"/>
          <a:ext cx="10515600" cy="2194560"/>
        </p:xfrm>
        <a:graphic>
          <a:graphicData uri="http://schemas.openxmlformats.org/drawingml/2006/table">
            <a:tbl>
              <a:tblPr>
                <a:tableStyleId>{35758FB7-9AC5-4552-8A53-C91805E547FA}</a:tableStyleId>
              </a:tblPr>
              <a:tblGrid>
                <a:gridCol w="3505200">
                  <a:extLst>
                    <a:ext uri="{9D8B030D-6E8A-4147-A177-3AD203B41FA5}">
                      <a16:colId xmlns:a16="http://schemas.microsoft.com/office/drawing/2014/main" val="258184022"/>
                    </a:ext>
                  </a:extLst>
                </a:gridCol>
                <a:gridCol w="3505200">
                  <a:extLst>
                    <a:ext uri="{9D8B030D-6E8A-4147-A177-3AD203B41FA5}">
                      <a16:colId xmlns:a16="http://schemas.microsoft.com/office/drawing/2014/main" val="1577639338"/>
                    </a:ext>
                  </a:extLst>
                </a:gridCol>
                <a:gridCol w="3505200">
                  <a:extLst>
                    <a:ext uri="{9D8B030D-6E8A-4147-A177-3AD203B41FA5}">
                      <a16:colId xmlns:a16="http://schemas.microsoft.com/office/drawing/2014/main" val="539159259"/>
                    </a:ext>
                  </a:extLst>
                </a:gridCol>
              </a:tblGrid>
              <a:tr h="0">
                <a:tc>
                  <a:txBody>
                    <a:bodyPr/>
                    <a:lstStyle/>
                    <a:p>
                      <a:pPr>
                        <a:buNone/>
                      </a:pPr>
                      <a:r>
                        <a:rPr lang="en-US" dirty="0"/>
                        <a:t>Aspect</a:t>
                      </a:r>
                    </a:p>
                  </a:txBody>
                  <a:tcPr anchor="ctr"/>
                </a:tc>
                <a:tc>
                  <a:txBody>
                    <a:bodyPr/>
                    <a:lstStyle/>
                    <a:p>
                      <a:pPr>
                        <a:buNone/>
                      </a:pPr>
                      <a:r>
                        <a:rPr lang="en-US"/>
                        <a:t>Spring Boot 2.x</a:t>
                      </a:r>
                    </a:p>
                  </a:txBody>
                  <a:tcPr anchor="ctr"/>
                </a:tc>
                <a:tc>
                  <a:txBody>
                    <a:bodyPr/>
                    <a:lstStyle/>
                    <a:p>
                      <a:pPr>
                        <a:buNone/>
                      </a:pPr>
                      <a:r>
                        <a:rPr lang="en-US"/>
                        <a:t>Spring Boot 3.x</a:t>
                      </a:r>
                    </a:p>
                  </a:txBody>
                  <a:tcPr anchor="ctr"/>
                </a:tc>
                <a:extLst>
                  <a:ext uri="{0D108BD9-81ED-4DB2-BD59-A6C34878D82A}">
                    <a16:rowId xmlns:a16="http://schemas.microsoft.com/office/drawing/2014/main" val="75663841"/>
                  </a:ext>
                </a:extLst>
              </a:tr>
              <a:tr h="0">
                <a:tc>
                  <a:txBody>
                    <a:bodyPr/>
                    <a:lstStyle/>
                    <a:p>
                      <a:pPr>
                        <a:buNone/>
                      </a:pPr>
                      <a:r>
                        <a:rPr lang="en-US"/>
                        <a:t>Discovery</a:t>
                      </a:r>
                    </a:p>
                  </a:txBody>
                  <a:tcPr anchor="ctr"/>
                </a:tc>
                <a:tc>
                  <a:txBody>
                    <a:bodyPr/>
                    <a:lstStyle/>
                    <a:p>
                      <a:pPr>
                        <a:buNone/>
                      </a:pPr>
                      <a:r>
                        <a:rPr lang="en-US"/>
                        <a:t>Runtime scanning</a:t>
                      </a:r>
                    </a:p>
                  </a:txBody>
                  <a:tcPr anchor="ctr"/>
                </a:tc>
                <a:tc>
                  <a:txBody>
                    <a:bodyPr/>
                    <a:lstStyle/>
                    <a:p>
                      <a:pPr>
                        <a:buNone/>
                      </a:pPr>
                      <a:r>
                        <a:rPr lang="en-US"/>
                        <a:t>Pre-declared imports</a:t>
                      </a:r>
                    </a:p>
                  </a:txBody>
                  <a:tcPr anchor="ctr"/>
                </a:tc>
                <a:extLst>
                  <a:ext uri="{0D108BD9-81ED-4DB2-BD59-A6C34878D82A}">
                    <a16:rowId xmlns:a16="http://schemas.microsoft.com/office/drawing/2014/main" val="2750540368"/>
                  </a:ext>
                </a:extLst>
              </a:tr>
              <a:tr h="0">
                <a:tc>
                  <a:txBody>
                    <a:bodyPr/>
                    <a:lstStyle/>
                    <a:p>
                      <a:pPr>
                        <a:buNone/>
                      </a:pPr>
                      <a:r>
                        <a:rPr lang="en-US"/>
                        <a:t>Mechanism</a:t>
                      </a:r>
                    </a:p>
                  </a:txBody>
                  <a:tcPr anchor="ctr"/>
                </a:tc>
                <a:tc>
                  <a:txBody>
                    <a:bodyPr/>
                    <a:lstStyle/>
                    <a:p>
                      <a:pPr>
                        <a:buNone/>
                      </a:pPr>
                      <a:r>
                        <a:rPr lang="en-US"/>
                        <a:t>spring.factories</a:t>
                      </a:r>
                    </a:p>
                  </a:txBody>
                  <a:tcPr anchor="ctr"/>
                </a:tc>
                <a:tc>
                  <a:txBody>
                    <a:bodyPr/>
                    <a:lstStyle/>
                    <a:p>
                      <a:pPr>
                        <a:buNone/>
                      </a:pPr>
                      <a:r>
                        <a:rPr lang="en-US"/>
                        <a:t>AutoConfiguration.imports</a:t>
                      </a:r>
                    </a:p>
                  </a:txBody>
                  <a:tcPr anchor="ctr"/>
                </a:tc>
                <a:extLst>
                  <a:ext uri="{0D108BD9-81ED-4DB2-BD59-A6C34878D82A}">
                    <a16:rowId xmlns:a16="http://schemas.microsoft.com/office/drawing/2014/main" val="934603331"/>
                  </a:ext>
                </a:extLst>
              </a:tr>
              <a:tr h="0">
                <a:tc>
                  <a:txBody>
                    <a:bodyPr/>
                    <a:lstStyle/>
                    <a:p>
                      <a:pPr>
                        <a:buNone/>
                      </a:pPr>
                      <a:r>
                        <a:rPr lang="en-US"/>
                        <a:t>Reflection</a:t>
                      </a:r>
                    </a:p>
                  </a:txBody>
                  <a:tcPr anchor="ctr"/>
                </a:tc>
                <a:tc>
                  <a:txBody>
                    <a:bodyPr/>
                    <a:lstStyle/>
                    <a:p>
                      <a:pPr>
                        <a:buNone/>
                      </a:pPr>
                      <a:r>
                        <a:rPr lang="en-US"/>
                        <a:t>Heavy</a:t>
                      </a:r>
                    </a:p>
                  </a:txBody>
                  <a:tcPr anchor="ctr"/>
                </a:tc>
                <a:tc>
                  <a:txBody>
                    <a:bodyPr/>
                    <a:lstStyle/>
                    <a:p>
                      <a:pPr>
                        <a:buNone/>
                      </a:pPr>
                      <a:r>
                        <a:rPr lang="en-US"/>
                        <a:t>Minimal</a:t>
                      </a:r>
                    </a:p>
                  </a:txBody>
                  <a:tcPr anchor="ctr"/>
                </a:tc>
                <a:extLst>
                  <a:ext uri="{0D108BD9-81ED-4DB2-BD59-A6C34878D82A}">
                    <a16:rowId xmlns:a16="http://schemas.microsoft.com/office/drawing/2014/main" val="3675569415"/>
                  </a:ext>
                </a:extLst>
              </a:tr>
              <a:tr h="0">
                <a:tc>
                  <a:txBody>
                    <a:bodyPr/>
                    <a:lstStyle/>
                    <a:p>
                      <a:pPr>
                        <a:buNone/>
                      </a:pPr>
                      <a:r>
                        <a:rPr lang="en-US"/>
                        <a:t>Startup speed</a:t>
                      </a:r>
                    </a:p>
                  </a:txBody>
                  <a:tcPr anchor="ctr"/>
                </a:tc>
                <a:tc>
                  <a:txBody>
                    <a:bodyPr/>
                    <a:lstStyle/>
                    <a:p>
                      <a:pPr>
                        <a:buNone/>
                      </a:pPr>
                      <a:r>
                        <a:rPr lang="en-US"/>
                        <a:t>Slower</a:t>
                      </a:r>
                    </a:p>
                  </a:txBody>
                  <a:tcPr anchor="ctr"/>
                </a:tc>
                <a:tc>
                  <a:txBody>
                    <a:bodyPr/>
                    <a:lstStyle/>
                    <a:p>
                      <a:pPr>
                        <a:buNone/>
                      </a:pPr>
                      <a:r>
                        <a:rPr lang="en-US"/>
                        <a:t>Faster</a:t>
                      </a:r>
                    </a:p>
                  </a:txBody>
                  <a:tcPr anchor="ctr"/>
                </a:tc>
                <a:extLst>
                  <a:ext uri="{0D108BD9-81ED-4DB2-BD59-A6C34878D82A}">
                    <a16:rowId xmlns:a16="http://schemas.microsoft.com/office/drawing/2014/main" val="1451370021"/>
                  </a:ext>
                </a:extLst>
              </a:tr>
              <a:tr h="0">
                <a:tc>
                  <a:txBody>
                    <a:bodyPr/>
                    <a:lstStyle/>
                    <a:p>
                      <a:pPr>
                        <a:buNone/>
                      </a:pPr>
                      <a:r>
                        <a:rPr lang="en-US"/>
                        <a:t>Native image</a:t>
                      </a:r>
                    </a:p>
                  </a:txBody>
                  <a:tcPr anchor="ctr"/>
                </a:tc>
                <a:tc>
                  <a:txBody>
                    <a:bodyPr/>
                    <a:lstStyle/>
                    <a:p>
                      <a:pPr>
                        <a:buNone/>
                      </a:pPr>
                      <a:r>
                        <a:rPr lang="en-US"/>
                        <a:t>Hard</a:t>
                      </a:r>
                    </a:p>
                  </a:txBody>
                  <a:tcPr anchor="ctr"/>
                </a:tc>
                <a:tc>
                  <a:txBody>
                    <a:bodyPr/>
                    <a:lstStyle/>
                    <a:p>
                      <a:pPr>
                        <a:buNone/>
                      </a:pPr>
                      <a:r>
                        <a:rPr lang="en-US" dirty="0"/>
                        <a:t>First-class</a:t>
                      </a:r>
                    </a:p>
                  </a:txBody>
                  <a:tcPr anchor="ctr"/>
                </a:tc>
                <a:extLst>
                  <a:ext uri="{0D108BD9-81ED-4DB2-BD59-A6C34878D82A}">
                    <a16:rowId xmlns:a16="http://schemas.microsoft.com/office/drawing/2014/main" val="3729883120"/>
                  </a:ext>
                </a:extLst>
              </a:tr>
            </a:tbl>
          </a:graphicData>
        </a:graphic>
      </p:graphicFrame>
    </p:spTree>
    <p:extLst>
      <p:ext uri="{BB962C8B-B14F-4D97-AF65-F5344CB8AC3E}">
        <p14:creationId xmlns:p14="http://schemas.microsoft.com/office/powerpoint/2010/main" val="4068318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AEB91-A4CA-D9C8-8464-FF3A664325C6}"/>
              </a:ext>
            </a:extLst>
          </p:cNvPr>
          <p:cNvSpPr>
            <a:spLocks noGrp="1"/>
          </p:cNvSpPr>
          <p:nvPr>
            <p:ph type="ctrTitle"/>
          </p:nvPr>
        </p:nvSpPr>
        <p:spPr/>
        <p:txBody>
          <a:bodyPr/>
          <a:lstStyle/>
          <a:p>
            <a:r>
              <a:rPr lang="en-GB" b="1" dirty="0" err="1"/>
              <a:t>GraalVM</a:t>
            </a:r>
            <a:endParaRPr lang="en-US" b="1" dirty="0"/>
          </a:p>
        </p:txBody>
      </p:sp>
    </p:spTree>
    <p:extLst>
      <p:ext uri="{BB962C8B-B14F-4D97-AF65-F5344CB8AC3E}">
        <p14:creationId xmlns:p14="http://schemas.microsoft.com/office/powerpoint/2010/main" val="3976383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1119D-1FC6-2F5F-F227-68C109A074F5}"/>
              </a:ext>
            </a:extLst>
          </p:cNvPr>
          <p:cNvSpPr>
            <a:spLocks noGrp="1"/>
          </p:cNvSpPr>
          <p:nvPr>
            <p:ph type="title"/>
          </p:nvPr>
        </p:nvSpPr>
        <p:spPr/>
        <p:txBody>
          <a:bodyPr/>
          <a:lstStyle/>
          <a:p>
            <a:r>
              <a:rPr lang="en-GB" b="1" dirty="0" err="1"/>
              <a:t>GraalVM</a:t>
            </a:r>
            <a:endParaRPr lang="en-US" b="1" dirty="0"/>
          </a:p>
        </p:txBody>
      </p:sp>
      <p:sp>
        <p:nvSpPr>
          <p:cNvPr id="3" name="Content Placeholder 2">
            <a:extLst>
              <a:ext uri="{FF2B5EF4-FFF2-40B4-BE49-F238E27FC236}">
                <a16:creationId xmlns:a16="http://schemas.microsoft.com/office/drawing/2014/main" id="{6E887751-9683-F6E0-100E-159552EED824}"/>
              </a:ext>
            </a:extLst>
          </p:cNvPr>
          <p:cNvSpPr>
            <a:spLocks noGrp="1"/>
          </p:cNvSpPr>
          <p:nvPr>
            <p:ph idx="1"/>
          </p:nvPr>
        </p:nvSpPr>
        <p:spPr/>
        <p:txBody>
          <a:bodyPr/>
          <a:lstStyle/>
          <a:p>
            <a:r>
              <a:rPr lang="en-GB" b="1" dirty="0" err="1"/>
              <a:t>GraalVM</a:t>
            </a:r>
            <a:r>
              <a:rPr lang="en-GB" dirty="0"/>
              <a:t> is a high performance JDK that speeds up the performance of Java and JVM-based applications and simplifies the building and running of Java cloud native services.</a:t>
            </a:r>
          </a:p>
          <a:p>
            <a:r>
              <a:rPr lang="en-GB" dirty="0"/>
              <a:t>The optimized compiler generates faster code and uses fewer compute resources, enabling applications start instantly.</a:t>
            </a:r>
            <a:endParaRPr lang="en-US" dirty="0"/>
          </a:p>
        </p:txBody>
      </p:sp>
    </p:spTree>
    <p:extLst>
      <p:ext uri="{BB962C8B-B14F-4D97-AF65-F5344CB8AC3E}">
        <p14:creationId xmlns:p14="http://schemas.microsoft.com/office/powerpoint/2010/main" val="200823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7A5D7-4F49-84C7-DD3C-801FF45233D9}"/>
              </a:ext>
            </a:extLst>
          </p:cNvPr>
          <p:cNvSpPr>
            <a:spLocks noGrp="1"/>
          </p:cNvSpPr>
          <p:nvPr>
            <p:ph type="title"/>
          </p:nvPr>
        </p:nvSpPr>
        <p:spPr/>
        <p:txBody>
          <a:bodyPr/>
          <a:lstStyle/>
          <a:p>
            <a:r>
              <a:rPr lang="en-GB" b="1" dirty="0" err="1"/>
              <a:t>GraalVM</a:t>
            </a:r>
            <a:r>
              <a:rPr lang="en-GB" b="1" dirty="0"/>
              <a:t> : Questions</a:t>
            </a:r>
            <a:endParaRPr lang="en-US" b="1" dirty="0"/>
          </a:p>
        </p:txBody>
      </p:sp>
      <p:sp>
        <p:nvSpPr>
          <p:cNvPr id="3" name="Content Placeholder 2">
            <a:extLst>
              <a:ext uri="{FF2B5EF4-FFF2-40B4-BE49-F238E27FC236}">
                <a16:creationId xmlns:a16="http://schemas.microsoft.com/office/drawing/2014/main" id="{3E2F4183-E5BF-B26C-8FF9-EBD078920EAE}"/>
              </a:ext>
            </a:extLst>
          </p:cNvPr>
          <p:cNvSpPr>
            <a:spLocks noGrp="1"/>
          </p:cNvSpPr>
          <p:nvPr>
            <p:ph idx="1"/>
          </p:nvPr>
        </p:nvSpPr>
        <p:spPr/>
        <p:txBody>
          <a:bodyPr>
            <a:normAutofit/>
          </a:bodyPr>
          <a:lstStyle/>
          <a:p>
            <a:r>
              <a:rPr lang="en-GB" b="1" dirty="0"/>
              <a:t>Why we need to use </a:t>
            </a:r>
            <a:r>
              <a:rPr lang="en-GB" b="1" dirty="0" err="1"/>
              <a:t>GraalVM</a:t>
            </a:r>
            <a:r>
              <a:rPr lang="en-GB" b="1" dirty="0"/>
              <a:t>, when I am good with traditional JDKs?</a:t>
            </a:r>
          </a:p>
          <a:p>
            <a:pPr lvl="1"/>
            <a:r>
              <a:rPr lang="en-GB" dirty="0"/>
              <a:t>Businesses want to deliver innovative software that scales and automates processes, while also running and consuming fewer resources.</a:t>
            </a:r>
          </a:p>
          <a:p>
            <a:pPr lvl="1"/>
            <a:r>
              <a:rPr lang="en-GB" dirty="0"/>
              <a:t>Organizations are moving applications to the cloud and adopting cloud-native architectures like microservices, serverless to reduce costs and improve efficiency. </a:t>
            </a:r>
          </a:p>
        </p:txBody>
      </p:sp>
    </p:spTree>
    <p:extLst>
      <p:ext uri="{BB962C8B-B14F-4D97-AF65-F5344CB8AC3E}">
        <p14:creationId xmlns:p14="http://schemas.microsoft.com/office/powerpoint/2010/main" val="2842767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29FF-ADE5-A70E-57E7-5D2E7AED1500}"/>
              </a:ext>
            </a:extLst>
          </p:cNvPr>
          <p:cNvSpPr>
            <a:spLocks noGrp="1"/>
          </p:cNvSpPr>
          <p:nvPr>
            <p:ph type="title"/>
          </p:nvPr>
        </p:nvSpPr>
        <p:spPr/>
        <p:txBody>
          <a:bodyPr/>
          <a:lstStyle/>
          <a:p>
            <a:r>
              <a:rPr lang="en-GB" b="1" dirty="0"/>
              <a:t>What happens inside normal JDK?</a:t>
            </a:r>
            <a:endParaRPr lang="en-US" b="1" dirty="0"/>
          </a:p>
        </p:txBody>
      </p:sp>
      <p:sp>
        <p:nvSpPr>
          <p:cNvPr id="4" name="Rectangle 3">
            <a:extLst>
              <a:ext uri="{FF2B5EF4-FFF2-40B4-BE49-F238E27FC236}">
                <a16:creationId xmlns:a16="http://schemas.microsoft.com/office/drawing/2014/main" id="{7B56F72A-00B5-7DEE-2A9F-60C4E3B04E3F}"/>
              </a:ext>
            </a:extLst>
          </p:cNvPr>
          <p:cNvSpPr/>
          <p:nvPr/>
        </p:nvSpPr>
        <p:spPr>
          <a:xfrm>
            <a:off x="2044423" y="3170452"/>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Java</a:t>
            </a:r>
            <a:br>
              <a:rPr lang="en-GB" dirty="0"/>
            </a:br>
            <a:r>
              <a:rPr lang="en-GB" dirty="0"/>
              <a:t>Code</a:t>
            </a:r>
            <a:endParaRPr lang="en-US" dirty="0"/>
          </a:p>
        </p:txBody>
      </p:sp>
      <p:sp>
        <p:nvSpPr>
          <p:cNvPr id="5" name="Rectangle 4">
            <a:extLst>
              <a:ext uri="{FF2B5EF4-FFF2-40B4-BE49-F238E27FC236}">
                <a16:creationId xmlns:a16="http://schemas.microsoft.com/office/drawing/2014/main" id="{361992BE-CDAD-24C7-F6DF-42CFCE52458A}"/>
              </a:ext>
            </a:extLst>
          </p:cNvPr>
          <p:cNvSpPr/>
          <p:nvPr/>
        </p:nvSpPr>
        <p:spPr>
          <a:xfrm>
            <a:off x="4120789" y="3170452"/>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.class</a:t>
            </a:r>
            <a:endParaRPr lang="en-US" dirty="0"/>
          </a:p>
        </p:txBody>
      </p:sp>
      <p:cxnSp>
        <p:nvCxnSpPr>
          <p:cNvPr id="7" name="Straight Arrow Connector 6">
            <a:extLst>
              <a:ext uri="{FF2B5EF4-FFF2-40B4-BE49-F238E27FC236}">
                <a16:creationId xmlns:a16="http://schemas.microsoft.com/office/drawing/2014/main" id="{DC9C5A34-8133-911C-4BD5-9B06B1CAB5F8}"/>
              </a:ext>
            </a:extLst>
          </p:cNvPr>
          <p:cNvCxnSpPr/>
          <p:nvPr/>
        </p:nvCxnSpPr>
        <p:spPr>
          <a:xfrm>
            <a:off x="2986774" y="3603694"/>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0DCF3E5-FEF5-6C15-334C-B4CD83C23CC6}"/>
              </a:ext>
            </a:extLst>
          </p:cNvPr>
          <p:cNvSpPr txBox="1"/>
          <p:nvPr/>
        </p:nvSpPr>
        <p:spPr>
          <a:xfrm>
            <a:off x="2888998" y="3298195"/>
            <a:ext cx="1072730" cy="261610"/>
          </a:xfrm>
          <a:prstGeom prst="rect">
            <a:avLst/>
          </a:prstGeom>
          <a:noFill/>
        </p:spPr>
        <p:txBody>
          <a:bodyPr wrap="none" rtlCol="0">
            <a:spAutoFit/>
          </a:bodyPr>
          <a:lstStyle/>
          <a:p>
            <a:r>
              <a:rPr lang="en-GB" sz="1100" dirty="0" err="1"/>
              <a:t>javac</a:t>
            </a:r>
            <a:r>
              <a:rPr lang="en-GB" sz="1100" dirty="0"/>
              <a:t> Hello.java</a:t>
            </a:r>
            <a:endParaRPr lang="en-US" sz="1100" dirty="0"/>
          </a:p>
        </p:txBody>
      </p:sp>
      <p:cxnSp>
        <p:nvCxnSpPr>
          <p:cNvPr id="9" name="Straight Arrow Connector 8">
            <a:extLst>
              <a:ext uri="{FF2B5EF4-FFF2-40B4-BE49-F238E27FC236}">
                <a16:creationId xmlns:a16="http://schemas.microsoft.com/office/drawing/2014/main" id="{85847B7D-B03D-67FB-6C17-61E1D02234DF}"/>
              </a:ext>
            </a:extLst>
          </p:cNvPr>
          <p:cNvCxnSpPr/>
          <p:nvPr/>
        </p:nvCxnSpPr>
        <p:spPr>
          <a:xfrm>
            <a:off x="5055814" y="3603694"/>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DDC562E-D352-E668-6CF5-4BBBAEA1D68B}"/>
              </a:ext>
            </a:extLst>
          </p:cNvPr>
          <p:cNvSpPr txBox="1"/>
          <p:nvPr/>
        </p:nvSpPr>
        <p:spPr>
          <a:xfrm>
            <a:off x="5122186" y="3298195"/>
            <a:ext cx="745717" cy="261610"/>
          </a:xfrm>
          <a:prstGeom prst="rect">
            <a:avLst/>
          </a:prstGeom>
          <a:noFill/>
        </p:spPr>
        <p:txBody>
          <a:bodyPr wrap="none" rtlCol="0">
            <a:spAutoFit/>
          </a:bodyPr>
          <a:lstStyle/>
          <a:p>
            <a:r>
              <a:rPr lang="en-GB" sz="1100" dirty="0"/>
              <a:t>java Hello</a:t>
            </a:r>
            <a:endParaRPr lang="en-US" sz="1100" dirty="0"/>
          </a:p>
        </p:txBody>
      </p:sp>
      <p:sp>
        <p:nvSpPr>
          <p:cNvPr id="11" name="Rectangle 10">
            <a:extLst>
              <a:ext uri="{FF2B5EF4-FFF2-40B4-BE49-F238E27FC236}">
                <a16:creationId xmlns:a16="http://schemas.microsoft.com/office/drawing/2014/main" id="{FE68F423-328B-25D5-86E4-918834E052C6}"/>
              </a:ext>
            </a:extLst>
          </p:cNvPr>
          <p:cNvSpPr/>
          <p:nvPr/>
        </p:nvSpPr>
        <p:spPr>
          <a:xfrm>
            <a:off x="6093338" y="3170452"/>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JVM</a:t>
            </a:r>
            <a:endParaRPr lang="en-US" dirty="0"/>
          </a:p>
        </p:txBody>
      </p:sp>
      <p:cxnSp>
        <p:nvCxnSpPr>
          <p:cNvPr id="12" name="Straight Arrow Connector 11">
            <a:extLst>
              <a:ext uri="{FF2B5EF4-FFF2-40B4-BE49-F238E27FC236}">
                <a16:creationId xmlns:a16="http://schemas.microsoft.com/office/drawing/2014/main" id="{9A37C06B-0DEE-43E7-02EA-A771B364672D}"/>
              </a:ext>
            </a:extLst>
          </p:cNvPr>
          <p:cNvCxnSpPr/>
          <p:nvPr/>
        </p:nvCxnSpPr>
        <p:spPr>
          <a:xfrm>
            <a:off x="6912755" y="3614342"/>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58CC095-413F-FEE3-C2E2-298E2640F4FB}"/>
              </a:ext>
            </a:extLst>
          </p:cNvPr>
          <p:cNvSpPr txBox="1"/>
          <p:nvPr/>
        </p:nvSpPr>
        <p:spPr>
          <a:xfrm>
            <a:off x="6983005" y="3298195"/>
            <a:ext cx="591829" cy="261610"/>
          </a:xfrm>
          <a:prstGeom prst="rect">
            <a:avLst/>
          </a:prstGeom>
          <a:noFill/>
        </p:spPr>
        <p:txBody>
          <a:bodyPr wrap="none" rtlCol="0">
            <a:spAutoFit/>
          </a:bodyPr>
          <a:lstStyle/>
          <a:p>
            <a:r>
              <a:rPr lang="en-GB" sz="1100" dirty="0"/>
              <a:t>Output</a:t>
            </a:r>
            <a:endParaRPr lang="en-US" sz="1100" dirty="0"/>
          </a:p>
        </p:txBody>
      </p:sp>
      <p:sp>
        <p:nvSpPr>
          <p:cNvPr id="14" name="Rectangle 13">
            <a:extLst>
              <a:ext uri="{FF2B5EF4-FFF2-40B4-BE49-F238E27FC236}">
                <a16:creationId xmlns:a16="http://schemas.microsoft.com/office/drawing/2014/main" id="{B90C5DE9-B274-5D62-EB04-5666903D6025}"/>
              </a:ext>
            </a:extLst>
          </p:cNvPr>
          <p:cNvSpPr/>
          <p:nvPr/>
        </p:nvSpPr>
        <p:spPr>
          <a:xfrm>
            <a:off x="7950279" y="3408036"/>
            <a:ext cx="951478" cy="3913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Output</a:t>
            </a:r>
            <a:endParaRPr lang="en-US" dirty="0"/>
          </a:p>
        </p:txBody>
      </p:sp>
    </p:spTree>
    <p:extLst>
      <p:ext uri="{BB962C8B-B14F-4D97-AF65-F5344CB8AC3E}">
        <p14:creationId xmlns:p14="http://schemas.microsoft.com/office/powerpoint/2010/main" val="156040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p:bldP spid="10" grpId="0"/>
      <p:bldP spid="11" grpId="0" animBg="1"/>
      <p:bldP spid="13" grpId="0"/>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34ECC-F7FB-09DD-0444-B69C0740D463}"/>
              </a:ext>
            </a:extLst>
          </p:cNvPr>
          <p:cNvSpPr>
            <a:spLocks noGrp="1"/>
          </p:cNvSpPr>
          <p:nvPr>
            <p:ph type="title"/>
          </p:nvPr>
        </p:nvSpPr>
        <p:spPr/>
        <p:txBody>
          <a:bodyPr/>
          <a:lstStyle/>
          <a:p>
            <a:r>
              <a:rPr lang="en-GB" b="1" dirty="0"/>
              <a:t>What happens inside JVM?</a:t>
            </a:r>
            <a:endParaRPr lang="en-US" b="1" dirty="0"/>
          </a:p>
        </p:txBody>
      </p:sp>
      <p:sp>
        <p:nvSpPr>
          <p:cNvPr id="3" name="Content Placeholder 2">
            <a:extLst>
              <a:ext uri="{FF2B5EF4-FFF2-40B4-BE49-F238E27FC236}">
                <a16:creationId xmlns:a16="http://schemas.microsoft.com/office/drawing/2014/main" id="{84B7DD72-5131-349B-F7D0-5510326DE754}"/>
              </a:ext>
            </a:extLst>
          </p:cNvPr>
          <p:cNvSpPr>
            <a:spLocks noGrp="1"/>
          </p:cNvSpPr>
          <p:nvPr>
            <p:ph idx="1"/>
          </p:nvPr>
        </p:nvSpPr>
        <p:spPr/>
        <p:txBody>
          <a:bodyPr>
            <a:normAutofit fontScale="62500" lnSpcReduction="20000"/>
          </a:bodyPr>
          <a:lstStyle/>
          <a:p>
            <a:r>
              <a:rPr lang="en-GB" b="1" dirty="0"/>
              <a:t>Class Loading</a:t>
            </a:r>
          </a:p>
          <a:p>
            <a:pPr lvl="1"/>
            <a:r>
              <a:rPr lang="en-GB" dirty="0"/>
              <a:t>The JVM starts by loading the necessary classes and resources required by the program.</a:t>
            </a:r>
          </a:p>
          <a:p>
            <a:pPr lvl="1"/>
            <a:r>
              <a:rPr lang="en-GB" dirty="0"/>
              <a:t>It searches for bytecode files(.class) that correspond to the classes used in the program and loads them into memory.</a:t>
            </a:r>
          </a:p>
          <a:p>
            <a:r>
              <a:rPr lang="en-GB" b="1" dirty="0"/>
              <a:t>Bytecode Verification</a:t>
            </a:r>
          </a:p>
          <a:p>
            <a:pPr lvl="1"/>
            <a:r>
              <a:rPr lang="en-GB" dirty="0"/>
              <a:t> Once the classes are loaded, the JVM preforms bytecode verification. It checks the bytecode for any violations of the Java language specification.</a:t>
            </a:r>
          </a:p>
          <a:p>
            <a:pPr lvl="1"/>
            <a:r>
              <a:rPr lang="en-GB" dirty="0"/>
              <a:t> This step ensures the safety and security of the JVM by preventing the execution of malicious or malformed bytecode.</a:t>
            </a:r>
          </a:p>
          <a:p>
            <a:r>
              <a:rPr lang="en-GB" b="1" dirty="0"/>
              <a:t>Just-In-Time(JIT) Compilation</a:t>
            </a:r>
          </a:p>
          <a:p>
            <a:pPr lvl="1"/>
            <a:r>
              <a:rPr lang="en-US" dirty="0"/>
              <a:t>After the bytecode is verified, the JVM employs a Just-In-Time(JIT) compiler to convert the bytecode into machine code. The JIT compiler analyzes the bytecode and identifies portions of the code that are frequently executed, known as hot spots.</a:t>
            </a:r>
          </a:p>
          <a:p>
            <a:pPr lvl="1"/>
            <a:r>
              <a:rPr lang="en-US" dirty="0"/>
              <a:t>It optimizes the hot spots by translating them into highly optimized machine code, specific to the underlying hardware and operating system.</a:t>
            </a:r>
          </a:p>
          <a:p>
            <a:pPr lvl="1"/>
            <a:r>
              <a:rPr lang="en-US" dirty="0"/>
              <a:t>This compilation process is known as dynamic or on-the-fly compilation because it happens during runtime.</a:t>
            </a:r>
          </a:p>
          <a:p>
            <a:r>
              <a:rPr lang="en-US" b="1" dirty="0"/>
              <a:t>Execution</a:t>
            </a:r>
          </a:p>
          <a:p>
            <a:pPr lvl="1"/>
            <a:r>
              <a:rPr lang="en-US" dirty="0"/>
              <a:t>Once JIT compilation is completed, JVM starts executing the optimized machine code. </a:t>
            </a:r>
          </a:p>
          <a:p>
            <a:pPr lvl="1"/>
            <a:r>
              <a:rPr lang="en-US" dirty="0"/>
              <a:t>It interprets the bytecode and executes the corresponding instructions. At this stage, the Java program is running natively on the underlying hardware, similar to programs written in other programming languages.</a:t>
            </a:r>
          </a:p>
        </p:txBody>
      </p:sp>
    </p:spTree>
    <p:extLst>
      <p:ext uri="{BB962C8B-B14F-4D97-AF65-F5344CB8AC3E}">
        <p14:creationId xmlns:p14="http://schemas.microsoft.com/office/powerpoint/2010/main" val="203081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D45AD-6B05-D043-8D28-726C8B3E6DB7}"/>
              </a:ext>
            </a:extLst>
          </p:cNvPr>
          <p:cNvSpPr>
            <a:spLocks noGrp="1"/>
          </p:cNvSpPr>
          <p:nvPr>
            <p:ph type="title"/>
          </p:nvPr>
        </p:nvSpPr>
        <p:spPr/>
        <p:txBody>
          <a:bodyPr/>
          <a:lstStyle/>
          <a:p>
            <a:r>
              <a:rPr lang="en-GB" dirty="0"/>
              <a:t>What happens with </a:t>
            </a:r>
            <a:r>
              <a:rPr lang="en-GB" dirty="0" err="1"/>
              <a:t>GraalVM</a:t>
            </a:r>
            <a:endParaRPr lang="en-US" dirty="0"/>
          </a:p>
        </p:txBody>
      </p:sp>
      <p:sp>
        <p:nvSpPr>
          <p:cNvPr id="4" name="Rectangle 3">
            <a:extLst>
              <a:ext uri="{FF2B5EF4-FFF2-40B4-BE49-F238E27FC236}">
                <a16:creationId xmlns:a16="http://schemas.microsoft.com/office/drawing/2014/main" id="{05705993-4DDA-9C28-2130-CC6E22DCEDD5}"/>
              </a:ext>
            </a:extLst>
          </p:cNvPr>
          <p:cNvSpPr/>
          <p:nvPr/>
        </p:nvSpPr>
        <p:spPr>
          <a:xfrm>
            <a:off x="838200" y="1962567"/>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Java</a:t>
            </a:r>
            <a:br>
              <a:rPr lang="en-GB" dirty="0"/>
            </a:br>
            <a:r>
              <a:rPr lang="en-GB" dirty="0"/>
              <a:t>Code</a:t>
            </a:r>
            <a:endParaRPr lang="en-US" dirty="0"/>
          </a:p>
        </p:txBody>
      </p:sp>
      <p:sp>
        <p:nvSpPr>
          <p:cNvPr id="5" name="Rectangle 4">
            <a:extLst>
              <a:ext uri="{FF2B5EF4-FFF2-40B4-BE49-F238E27FC236}">
                <a16:creationId xmlns:a16="http://schemas.microsoft.com/office/drawing/2014/main" id="{DF5F4CB9-BBD0-9758-4348-48E1077F2E8A}"/>
              </a:ext>
            </a:extLst>
          </p:cNvPr>
          <p:cNvSpPr/>
          <p:nvPr/>
        </p:nvSpPr>
        <p:spPr>
          <a:xfrm>
            <a:off x="2950485" y="1951919"/>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.class</a:t>
            </a:r>
            <a:endParaRPr lang="en-US" dirty="0"/>
          </a:p>
        </p:txBody>
      </p:sp>
      <p:cxnSp>
        <p:nvCxnSpPr>
          <p:cNvPr id="6" name="Straight Arrow Connector 5">
            <a:extLst>
              <a:ext uri="{FF2B5EF4-FFF2-40B4-BE49-F238E27FC236}">
                <a16:creationId xmlns:a16="http://schemas.microsoft.com/office/drawing/2014/main" id="{36794224-A960-9CDD-4BE8-002C69EF82A9}"/>
              </a:ext>
            </a:extLst>
          </p:cNvPr>
          <p:cNvCxnSpPr/>
          <p:nvPr/>
        </p:nvCxnSpPr>
        <p:spPr>
          <a:xfrm>
            <a:off x="1816470" y="2385161"/>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C9192F6-66EC-89BD-372C-46CDB4AA8770}"/>
              </a:ext>
            </a:extLst>
          </p:cNvPr>
          <p:cNvSpPr txBox="1"/>
          <p:nvPr/>
        </p:nvSpPr>
        <p:spPr>
          <a:xfrm>
            <a:off x="1713725" y="2074826"/>
            <a:ext cx="1072730" cy="261610"/>
          </a:xfrm>
          <a:prstGeom prst="rect">
            <a:avLst/>
          </a:prstGeom>
          <a:noFill/>
        </p:spPr>
        <p:txBody>
          <a:bodyPr wrap="none" rtlCol="0">
            <a:spAutoFit/>
          </a:bodyPr>
          <a:lstStyle/>
          <a:p>
            <a:r>
              <a:rPr lang="en-GB" sz="1100" dirty="0" err="1"/>
              <a:t>javac</a:t>
            </a:r>
            <a:r>
              <a:rPr lang="en-GB" sz="1100" dirty="0"/>
              <a:t> Hello.java</a:t>
            </a:r>
            <a:endParaRPr lang="en-US" sz="1100" dirty="0"/>
          </a:p>
        </p:txBody>
      </p:sp>
      <p:cxnSp>
        <p:nvCxnSpPr>
          <p:cNvPr id="8" name="Straight Arrow Connector 7">
            <a:extLst>
              <a:ext uri="{FF2B5EF4-FFF2-40B4-BE49-F238E27FC236}">
                <a16:creationId xmlns:a16="http://schemas.microsoft.com/office/drawing/2014/main" id="{DA47DC16-4B22-0A39-D827-5236B504EA8B}"/>
              </a:ext>
            </a:extLst>
          </p:cNvPr>
          <p:cNvCxnSpPr/>
          <p:nvPr/>
        </p:nvCxnSpPr>
        <p:spPr>
          <a:xfrm>
            <a:off x="3885510" y="2385161"/>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9B33902-097B-0AD0-7DE2-66FB4FA2A350}"/>
              </a:ext>
            </a:extLst>
          </p:cNvPr>
          <p:cNvSpPr txBox="1"/>
          <p:nvPr/>
        </p:nvSpPr>
        <p:spPr>
          <a:xfrm>
            <a:off x="3951882" y="2074826"/>
            <a:ext cx="745717" cy="261610"/>
          </a:xfrm>
          <a:prstGeom prst="rect">
            <a:avLst/>
          </a:prstGeom>
          <a:noFill/>
        </p:spPr>
        <p:txBody>
          <a:bodyPr wrap="none" rtlCol="0">
            <a:spAutoFit/>
          </a:bodyPr>
          <a:lstStyle/>
          <a:p>
            <a:r>
              <a:rPr lang="en-GB" sz="1100" dirty="0"/>
              <a:t>java Hello</a:t>
            </a:r>
            <a:endParaRPr lang="en-US" sz="1100" dirty="0"/>
          </a:p>
        </p:txBody>
      </p:sp>
      <p:sp>
        <p:nvSpPr>
          <p:cNvPr id="10" name="Rectangle 9">
            <a:extLst>
              <a:ext uri="{FF2B5EF4-FFF2-40B4-BE49-F238E27FC236}">
                <a16:creationId xmlns:a16="http://schemas.microsoft.com/office/drawing/2014/main" id="{F7E74E35-C6B0-E4AD-3F00-7E85C0C68E7A}"/>
              </a:ext>
            </a:extLst>
          </p:cNvPr>
          <p:cNvSpPr/>
          <p:nvPr/>
        </p:nvSpPr>
        <p:spPr>
          <a:xfrm>
            <a:off x="4923034" y="1951919"/>
            <a:ext cx="1162300"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GraalVM</a:t>
            </a:r>
            <a:br>
              <a:rPr lang="en-GB" dirty="0"/>
            </a:br>
            <a:r>
              <a:rPr lang="en-GB" dirty="0"/>
              <a:t>JIT</a:t>
            </a:r>
            <a:endParaRPr lang="en-US" dirty="0"/>
          </a:p>
        </p:txBody>
      </p:sp>
      <p:cxnSp>
        <p:nvCxnSpPr>
          <p:cNvPr id="11" name="Straight Arrow Connector 10">
            <a:extLst>
              <a:ext uri="{FF2B5EF4-FFF2-40B4-BE49-F238E27FC236}">
                <a16:creationId xmlns:a16="http://schemas.microsoft.com/office/drawing/2014/main" id="{713E1879-9B22-31EB-87FC-4DB3D303AABE}"/>
              </a:ext>
            </a:extLst>
          </p:cNvPr>
          <p:cNvCxnSpPr/>
          <p:nvPr/>
        </p:nvCxnSpPr>
        <p:spPr>
          <a:xfrm>
            <a:off x="6293631" y="2395809"/>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AC2F867-35DB-78EC-C7F2-82937086B8B6}"/>
              </a:ext>
            </a:extLst>
          </p:cNvPr>
          <p:cNvSpPr txBox="1"/>
          <p:nvPr/>
        </p:nvSpPr>
        <p:spPr>
          <a:xfrm>
            <a:off x="6363881" y="2074826"/>
            <a:ext cx="591829" cy="261610"/>
          </a:xfrm>
          <a:prstGeom prst="rect">
            <a:avLst/>
          </a:prstGeom>
          <a:noFill/>
        </p:spPr>
        <p:txBody>
          <a:bodyPr wrap="none" rtlCol="0">
            <a:spAutoFit/>
          </a:bodyPr>
          <a:lstStyle/>
          <a:p>
            <a:r>
              <a:rPr lang="en-GB" sz="1100" dirty="0"/>
              <a:t>Output</a:t>
            </a:r>
            <a:endParaRPr lang="en-US" sz="1100" dirty="0"/>
          </a:p>
        </p:txBody>
      </p:sp>
      <p:sp>
        <p:nvSpPr>
          <p:cNvPr id="13" name="Rectangle 12">
            <a:extLst>
              <a:ext uri="{FF2B5EF4-FFF2-40B4-BE49-F238E27FC236}">
                <a16:creationId xmlns:a16="http://schemas.microsoft.com/office/drawing/2014/main" id="{9516F78F-4088-B2B9-C162-2A4F37A32DF5}"/>
              </a:ext>
            </a:extLst>
          </p:cNvPr>
          <p:cNvSpPr/>
          <p:nvPr/>
        </p:nvSpPr>
        <p:spPr>
          <a:xfrm>
            <a:off x="7331155" y="2189503"/>
            <a:ext cx="951478" cy="3913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Output</a:t>
            </a:r>
            <a:endParaRPr lang="en-US" dirty="0"/>
          </a:p>
        </p:txBody>
      </p:sp>
      <p:sp>
        <p:nvSpPr>
          <p:cNvPr id="15" name="Rectangle 14">
            <a:extLst>
              <a:ext uri="{FF2B5EF4-FFF2-40B4-BE49-F238E27FC236}">
                <a16:creationId xmlns:a16="http://schemas.microsoft.com/office/drawing/2014/main" id="{CDC2E384-0F56-258F-7C48-123B5F5375BA}"/>
              </a:ext>
            </a:extLst>
          </p:cNvPr>
          <p:cNvSpPr/>
          <p:nvPr/>
        </p:nvSpPr>
        <p:spPr>
          <a:xfrm>
            <a:off x="838200" y="3907828"/>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Java</a:t>
            </a:r>
            <a:br>
              <a:rPr lang="en-GB" dirty="0"/>
            </a:br>
            <a:r>
              <a:rPr lang="en-GB" dirty="0"/>
              <a:t>Code</a:t>
            </a:r>
            <a:endParaRPr lang="en-US" dirty="0"/>
          </a:p>
        </p:txBody>
      </p:sp>
      <p:sp>
        <p:nvSpPr>
          <p:cNvPr id="16" name="Rectangle 15">
            <a:extLst>
              <a:ext uri="{FF2B5EF4-FFF2-40B4-BE49-F238E27FC236}">
                <a16:creationId xmlns:a16="http://schemas.microsoft.com/office/drawing/2014/main" id="{7E6C38BE-8FE8-C559-14A2-48F36719D6A5}"/>
              </a:ext>
            </a:extLst>
          </p:cNvPr>
          <p:cNvSpPr/>
          <p:nvPr/>
        </p:nvSpPr>
        <p:spPr>
          <a:xfrm>
            <a:off x="2950485" y="3897180"/>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.class</a:t>
            </a:r>
            <a:endParaRPr lang="en-US" dirty="0"/>
          </a:p>
        </p:txBody>
      </p:sp>
      <p:cxnSp>
        <p:nvCxnSpPr>
          <p:cNvPr id="17" name="Straight Arrow Connector 16">
            <a:extLst>
              <a:ext uri="{FF2B5EF4-FFF2-40B4-BE49-F238E27FC236}">
                <a16:creationId xmlns:a16="http://schemas.microsoft.com/office/drawing/2014/main" id="{A62C31AD-5830-F2A4-C151-5B0B969B98A5}"/>
              </a:ext>
            </a:extLst>
          </p:cNvPr>
          <p:cNvCxnSpPr/>
          <p:nvPr/>
        </p:nvCxnSpPr>
        <p:spPr>
          <a:xfrm>
            <a:off x="1816470" y="4330422"/>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2B9F33B-C397-679D-704C-43C4EABBA414}"/>
              </a:ext>
            </a:extLst>
          </p:cNvPr>
          <p:cNvSpPr txBox="1"/>
          <p:nvPr/>
        </p:nvSpPr>
        <p:spPr>
          <a:xfrm>
            <a:off x="1721341" y="4032844"/>
            <a:ext cx="1072730" cy="261610"/>
          </a:xfrm>
          <a:prstGeom prst="rect">
            <a:avLst/>
          </a:prstGeom>
          <a:noFill/>
        </p:spPr>
        <p:txBody>
          <a:bodyPr wrap="none" rtlCol="0">
            <a:spAutoFit/>
          </a:bodyPr>
          <a:lstStyle/>
          <a:p>
            <a:r>
              <a:rPr lang="en-GB" sz="1100" dirty="0" err="1"/>
              <a:t>javac</a:t>
            </a:r>
            <a:r>
              <a:rPr lang="en-GB" sz="1100" dirty="0"/>
              <a:t> Hello.java</a:t>
            </a:r>
            <a:endParaRPr lang="en-US" sz="1100" dirty="0"/>
          </a:p>
        </p:txBody>
      </p:sp>
      <p:cxnSp>
        <p:nvCxnSpPr>
          <p:cNvPr id="19" name="Straight Arrow Connector 18">
            <a:extLst>
              <a:ext uri="{FF2B5EF4-FFF2-40B4-BE49-F238E27FC236}">
                <a16:creationId xmlns:a16="http://schemas.microsoft.com/office/drawing/2014/main" id="{95CDF69B-4B05-5732-6FCB-E888971DD7A1}"/>
              </a:ext>
            </a:extLst>
          </p:cNvPr>
          <p:cNvCxnSpPr>
            <a:cxnSpLocks/>
          </p:cNvCxnSpPr>
          <p:nvPr/>
        </p:nvCxnSpPr>
        <p:spPr>
          <a:xfrm>
            <a:off x="3885510" y="4330422"/>
            <a:ext cx="1342683" cy="10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7C7B3BD-E343-3D3D-50F6-F8E9BB055675}"/>
              </a:ext>
            </a:extLst>
          </p:cNvPr>
          <p:cNvSpPr txBox="1"/>
          <p:nvPr/>
        </p:nvSpPr>
        <p:spPr>
          <a:xfrm>
            <a:off x="3933896" y="4032844"/>
            <a:ext cx="1258678" cy="261610"/>
          </a:xfrm>
          <a:prstGeom prst="rect">
            <a:avLst/>
          </a:prstGeom>
          <a:noFill/>
        </p:spPr>
        <p:txBody>
          <a:bodyPr wrap="none" rtlCol="0">
            <a:spAutoFit/>
          </a:bodyPr>
          <a:lstStyle/>
          <a:p>
            <a:r>
              <a:rPr lang="en-GB" sz="1100" dirty="0"/>
              <a:t>native-image Hello</a:t>
            </a:r>
            <a:endParaRPr lang="en-US" sz="1100" dirty="0"/>
          </a:p>
        </p:txBody>
      </p:sp>
      <p:sp>
        <p:nvSpPr>
          <p:cNvPr id="21" name="Rectangle 20">
            <a:extLst>
              <a:ext uri="{FF2B5EF4-FFF2-40B4-BE49-F238E27FC236}">
                <a16:creationId xmlns:a16="http://schemas.microsoft.com/office/drawing/2014/main" id="{A3130DE0-35D2-14A2-187F-1D2DE5064522}"/>
              </a:ext>
            </a:extLst>
          </p:cNvPr>
          <p:cNvSpPr/>
          <p:nvPr/>
        </p:nvSpPr>
        <p:spPr>
          <a:xfrm>
            <a:off x="5493617" y="3897180"/>
            <a:ext cx="1162300"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GraalVM</a:t>
            </a:r>
            <a:br>
              <a:rPr lang="en-GB" dirty="0"/>
            </a:br>
            <a:r>
              <a:rPr lang="en-GB" dirty="0"/>
              <a:t>AOT</a:t>
            </a:r>
            <a:endParaRPr lang="en-US" dirty="0"/>
          </a:p>
        </p:txBody>
      </p:sp>
      <p:cxnSp>
        <p:nvCxnSpPr>
          <p:cNvPr id="23" name="Straight Arrow Connector 22">
            <a:extLst>
              <a:ext uri="{FF2B5EF4-FFF2-40B4-BE49-F238E27FC236}">
                <a16:creationId xmlns:a16="http://schemas.microsoft.com/office/drawing/2014/main" id="{9475A339-5916-A34D-56F1-414EF6EBDE44}"/>
              </a:ext>
            </a:extLst>
          </p:cNvPr>
          <p:cNvCxnSpPr/>
          <p:nvPr/>
        </p:nvCxnSpPr>
        <p:spPr>
          <a:xfrm>
            <a:off x="6732862" y="4341070"/>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53DDC886-F357-1379-65FA-19D39ABD2D98}"/>
              </a:ext>
            </a:extLst>
          </p:cNvPr>
          <p:cNvSpPr/>
          <p:nvPr/>
        </p:nvSpPr>
        <p:spPr>
          <a:xfrm>
            <a:off x="7806894" y="4145412"/>
            <a:ext cx="2579040" cy="3913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Native executable code</a:t>
            </a:r>
            <a:endParaRPr lang="en-US" dirty="0"/>
          </a:p>
        </p:txBody>
      </p:sp>
      <p:cxnSp>
        <p:nvCxnSpPr>
          <p:cNvPr id="26" name="Straight Arrow Connector 25">
            <a:extLst>
              <a:ext uri="{FF2B5EF4-FFF2-40B4-BE49-F238E27FC236}">
                <a16:creationId xmlns:a16="http://schemas.microsoft.com/office/drawing/2014/main" id="{F718A6E0-15E0-F6F9-B291-D9F18636CCF7}"/>
              </a:ext>
            </a:extLst>
          </p:cNvPr>
          <p:cNvCxnSpPr>
            <a:cxnSpLocks/>
          </p:cNvCxnSpPr>
          <p:nvPr/>
        </p:nvCxnSpPr>
        <p:spPr>
          <a:xfrm>
            <a:off x="10594124" y="4331752"/>
            <a:ext cx="3507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084A9D3F-EB3F-57E9-5E3A-FE6E78294F96}"/>
              </a:ext>
            </a:extLst>
          </p:cNvPr>
          <p:cNvSpPr/>
          <p:nvPr/>
        </p:nvSpPr>
        <p:spPr>
          <a:xfrm>
            <a:off x="11128511" y="4134764"/>
            <a:ext cx="951478" cy="3913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Output</a:t>
            </a:r>
            <a:endParaRPr lang="en-US" dirty="0"/>
          </a:p>
        </p:txBody>
      </p:sp>
      <p:sp>
        <p:nvSpPr>
          <p:cNvPr id="29" name="TextBox 28">
            <a:extLst>
              <a:ext uri="{FF2B5EF4-FFF2-40B4-BE49-F238E27FC236}">
                <a16:creationId xmlns:a16="http://schemas.microsoft.com/office/drawing/2014/main" id="{CA4DCFB1-C992-7A3D-D067-7113F1745A41}"/>
              </a:ext>
            </a:extLst>
          </p:cNvPr>
          <p:cNvSpPr txBox="1"/>
          <p:nvPr/>
        </p:nvSpPr>
        <p:spPr>
          <a:xfrm>
            <a:off x="10456765" y="4034778"/>
            <a:ext cx="556563" cy="261610"/>
          </a:xfrm>
          <a:prstGeom prst="rect">
            <a:avLst/>
          </a:prstGeom>
          <a:noFill/>
        </p:spPr>
        <p:txBody>
          <a:bodyPr wrap="none" rtlCol="0">
            <a:spAutoFit/>
          </a:bodyPr>
          <a:lstStyle/>
          <a:p>
            <a:r>
              <a:rPr lang="en-GB" sz="1100" dirty="0"/>
              <a:t>./hello</a:t>
            </a:r>
            <a:endParaRPr lang="en-US" sz="1100" dirty="0"/>
          </a:p>
        </p:txBody>
      </p:sp>
      <p:sp>
        <p:nvSpPr>
          <p:cNvPr id="30" name="TextBox 29">
            <a:extLst>
              <a:ext uri="{FF2B5EF4-FFF2-40B4-BE49-F238E27FC236}">
                <a16:creationId xmlns:a16="http://schemas.microsoft.com/office/drawing/2014/main" id="{18C9170E-8AB7-8A8A-C8E2-1D19EBDECB91}"/>
              </a:ext>
            </a:extLst>
          </p:cNvPr>
          <p:cNvSpPr txBox="1"/>
          <p:nvPr/>
        </p:nvSpPr>
        <p:spPr>
          <a:xfrm>
            <a:off x="791831" y="1506022"/>
            <a:ext cx="1024639" cy="369332"/>
          </a:xfrm>
          <a:prstGeom prst="rect">
            <a:avLst/>
          </a:prstGeom>
          <a:noFill/>
        </p:spPr>
        <p:txBody>
          <a:bodyPr wrap="none" rtlCol="0">
            <a:spAutoFit/>
          </a:bodyPr>
          <a:lstStyle/>
          <a:p>
            <a:r>
              <a:rPr lang="en-GB" dirty="0"/>
              <a:t>JIT mode</a:t>
            </a:r>
            <a:endParaRPr lang="en-US" dirty="0"/>
          </a:p>
        </p:txBody>
      </p:sp>
      <p:sp>
        <p:nvSpPr>
          <p:cNvPr id="31" name="TextBox 30">
            <a:extLst>
              <a:ext uri="{FF2B5EF4-FFF2-40B4-BE49-F238E27FC236}">
                <a16:creationId xmlns:a16="http://schemas.microsoft.com/office/drawing/2014/main" id="{A913AE7B-9B0E-85F7-9B93-9A9248AED2B7}"/>
              </a:ext>
            </a:extLst>
          </p:cNvPr>
          <p:cNvSpPr txBox="1"/>
          <p:nvPr/>
        </p:nvSpPr>
        <p:spPr>
          <a:xfrm>
            <a:off x="838200" y="3374338"/>
            <a:ext cx="1169744" cy="369332"/>
          </a:xfrm>
          <a:prstGeom prst="rect">
            <a:avLst/>
          </a:prstGeom>
          <a:noFill/>
        </p:spPr>
        <p:txBody>
          <a:bodyPr wrap="none" rtlCol="0">
            <a:spAutoFit/>
          </a:bodyPr>
          <a:lstStyle/>
          <a:p>
            <a:r>
              <a:rPr lang="en-GB" dirty="0"/>
              <a:t>AOT mode</a:t>
            </a:r>
            <a:endParaRPr lang="en-US" dirty="0"/>
          </a:p>
        </p:txBody>
      </p:sp>
      <p:sp>
        <p:nvSpPr>
          <p:cNvPr id="32" name="TextBox 31">
            <a:extLst>
              <a:ext uri="{FF2B5EF4-FFF2-40B4-BE49-F238E27FC236}">
                <a16:creationId xmlns:a16="http://schemas.microsoft.com/office/drawing/2014/main" id="{16A4FE0E-00F7-7053-6095-31D396232EF1}"/>
              </a:ext>
            </a:extLst>
          </p:cNvPr>
          <p:cNvSpPr txBox="1"/>
          <p:nvPr/>
        </p:nvSpPr>
        <p:spPr>
          <a:xfrm>
            <a:off x="838200" y="5322686"/>
            <a:ext cx="11408636" cy="923330"/>
          </a:xfrm>
          <a:prstGeom prst="rect">
            <a:avLst/>
          </a:prstGeom>
          <a:noFill/>
        </p:spPr>
        <p:txBody>
          <a:bodyPr wrap="none" rtlCol="0">
            <a:spAutoFit/>
          </a:bodyPr>
          <a:lstStyle/>
          <a:p>
            <a:r>
              <a:rPr lang="en-GB" dirty="0" err="1"/>
              <a:t>GraalVM</a:t>
            </a:r>
            <a:r>
              <a:rPr lang="en-GB" dirty="0"/>
              <a:t> includes a Native utility to compile applications ahead-of-time(AOT) into native executables. The executables</a:t>
            </a:r>
          </a:p>
          <a:p>
            <a:r>
              <a:rPr lang="en-GB" dirty="0"/>
              <a:t>are smaller, start nearly instantaneously, and consume a fraction of the compute resources needed to run the same java</a:t>
            </a:r>
          </a:p>
          <a:p>
            <a:r>
              <a:rPr lang="en-GB" dirty="0"/>
              <a:t>application on a Java Virtual Machine. It makes </a:t>
            </a:r>
            <a:r>
              <a:rPr lang="en-GB" dirty="0" err="1"/>
              <a:t>GraalVM</a:t>
            </a:r>
            <a:r>
              <a:rPr lang="en-GB" dirty="0"/>
              <a:t> ideal for cloud deployments and microservices. </a:t>
            </a:r>
            <a:endParaRPr lang="en-US" dirty="0"/>
          </a:p>
        </p:txBody>
      </p:sp>
    </p:spTree>
    <p:extLst>
      <p:ext uri="{BB962C8B-B14F-4D97-AF65-F5344CB8AC3E}">
        <p14:creationId xmlns:p14="http://schemas.microsoft.com/office/powerpoint/2010/main" val="4214258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9" grpId="0"/>
      <p:bldP spid="10" grpId="0" animBg="1"/>
      <p:bldP spid="12" grpId="0"/>
      <p:bldP spid="13" grpId="0" animBg="1"/>
      <p:bldP spid="15" grpId="0" animBg="1"/>
      <p:bldP spid="16" grpId="0" animBg="1"/>
      <p:bldP spid="18" grpId="0"/>
      <p:bldP spid="20" grpId="0"/>
      <p:bldP spid="21" grpId="0" animBg="1"/>
      <p:bldP spid="25" grpId="0" animBg="1"/>
      <p:bldP spid="27" grpId="0" animBg="1"/>
      <p:bldP spid="29" grpId="0"/>
      <p:bldP spid="30" grpId="0"/>
      <p:bldP spid="31" grpId="0"/>
      <p:bldP spid="3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0DAD0-DD97-3D97-09C5-587D8BFA57BE}"/>
              </a:ext>
            </a:extLst>
          </p:cNvPr>
          <p:cNvSpPr>
            <a:spLocks noGrp="1"/>
          </p:cNvSpPr>
          <p:nvPr>
            <p:ph type="title"/>
          </p:nvPr>
        </p:nvSpPr>
        <p:spPr/>
        <p:txBody>
          <a:bodyPr/>
          <a:lstStyle/>
          <a:p>
            <a:r>
              <a:rPr lang="en-GB" dirty="0" err="1"/>
              <a:t>GraalVM</a:t>
            </a:r>
            <a:r>
              <a:rPr lang="en-GB" dirty="0"/>
              <a:t> : HelloWorld Demo</a:t>
            </a:r>
            <a:endParaRPr lang="en-US" dirty="0"/>
          </a:p>
        </p:txBody>
      </p:sp>
      <p:pic>
        <p:nvPicPr>
          <p:cNvPr id="5" name="Content Placeholder 4">
            <a:extLst>
              <a:ext uri="{FF2B5EF4-FFF2-40B4-BE49-F238E27FC236}">
                <a16:creationId xmlns:a16="http://schemas.microsoft.com/office/drawing/2014/main" id="{DCBCA5D6-BA4A-EF7E-5AC6-A732AACEA663}"/>
              </a:ext>
            </a:extLst>
          </p:cNvPr>
          <p:cNvPicPr>
            <a:picLocks noGrp="1" noChangeAspect="1"/>
          </p:cNvPicPr>
          <p:nvPr>
            <p:ph idx="1"/>
          </p:nvPr>
        </p:nvPicPr>
        <p:blipFill>
          <a:blip r:embed="rId2"/>
          <a:stretch>
            <a:fillRect/>
          </a:stretch>
        </p:blipFill>
        <p:spPr>
          <a:xfrm>
            <a:off x="3109495" y="2167475"/>
            <a:ext cx="5973009" cy="3667637"/>
          </a:xfrm>
        </p:spPr>
      </p:pic>
    </p:spTree>
    <p:extLst>
      <p:ext uri="{BB962C8B-B14F-4D97-AF65-F5344CB8AC3E}">
        <p14:creationId xmlns:p14="http://schemas.microsoft.com/office/powerpoint/2010/main" val="513554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0DEEF-FE77-20AD-6FC4-0F84FF29BECF}"/>
              </a:ext>
            </a:extLst>
          </p:cNvPr>
          <p:cNvSpPr>
            <a:spLocks noGrp="1"/>
          </p:cNvSpPr>
          <p:nvPr>
            <p:ph type="title"/>
          </p:nvPr>
        </p:nvSpPr>
        <p:spPr/>
        <p:txBody>
          <a:bodyPr/>
          <a:lstStyle/>
          <a:p>
            <a:r>
              <a:rPr lang="en-IN" dirty="0" err="1"/>
              <a:t>GraalVM</a:t>
            </a:r>
            <a:r>
              <a:rPr lang="en-IN" dirty="0"/>
              <a:t> : Spring Boot – JIT Compilation</a:t>
            </a:r>
            <a:endParaRPr lang="en-US" dirty="0"/>
          </a:p>
        </p:txBody>
      </p:sp>
      <p:pic>
        <p:nvPicPr>
          <p:cNvPr id="5" name="Picture 4">
            <a:extLst>
              <a:ext uri="{FF2B5EF4-FFF2-40B4-BE49-F238E27FC236}">
                <a16:creationId xmlns:a16="http://schemas.microsoft.com/office/drawing/2014/main" id="{B2623AD1-4F55-B664-5088-3A5C5E228BF3}"/>
              </a:ext>
            </a:extLst>
          </p:cNvPr>
          <p:cNvPicPr>
            <a:picLocks noChangeAspect="1"/>
          </p:cNvPicPr>
          <p:nvPr/>
        </p:nvPicPr>
        <p:blipFill>
          <a:blip r:embed="rId3"/>
          <a:stretch>
            <a:fillRect/>
          </a:stretch>
        </p:blipFill>
        <p:spPr>
          <a:xfrm>
            <a:off x="1134440" y="1851122"/>
            <a:ext cx="9412013" cy="1390844"/>
          </a:xfrm>
          <a:prstGeom prst="rect">
            <a:avLst/>
          </a:prstGeom>
        </p:spPr>
      </p:pic>
      <p:pic>
        <p:nvPicPr>
          <p:cNvPr id="7" name="Picture 6">
            <a:extLst>
              <a:ext uri="{FF2B5EF4-FFF2-40B4-BE49-F238E27FC236}">
                <a16:creationId xmlns:a16="http://schemas.microsoft.com/office/drawing/2014/main" id="{B0678B13-EE46-4163-AB18-77BA9F9B9398}"/>
              </a:ext>
            </a:extLst>
          </p:cNvPr>
          <p:cNvPicPr>
            <a:picLocks noChangeAspect="1"/>
          </p:cNvPicPr>
          <p:nvPr/>
        </p:nvPicPr>
        <p:blipFill>
          <a:blip r:embed="rId4"/>
          <a:stretch>
            <a:fillRect/>
          </a:stretch>
        </p:blipFill>
        <p:spPr>
          <a:xfrm>
            <a:off x="1134440" y="4111310"/>
            <a:ext cx="9259592" cy="1438476"/>
          </a:xfrm>
          <a:prstGeom prst="rect">
            <a:avLst/>
          </a:prstGeom>
        </p:spPr>
      </p:pic>
    </p:spTree>
    <p:extLst>
      <p:ext uri="{BB962C8B-B14F-4D97-AF65-F5344CB8AC3E}">
        <p14:creationId xmlns:p14="http://schemas.microsoft.com/office/powerpoint/2010/main" val="3132078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1FA1266-FE12-8A2E-A5AF-717F82E6E719}"/>
              </a:ext>
            </a:extLst>
          </p:cNvPr>
          <p:cNvSpPr/>
          <p:nvPr/>
        </p:nvSpPr>
        <p:spPr>
          <a:xfrm>
            <a:off x="1078114" y="2723235"/>
            <a:ext cx="1521338" cy="18966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2D4689-F4C8-5881-F7BD-0587C300067F}"/>
              </a:ext>
            </a:extLst>
          </p:cNvPr>
          <p:cNvSpPr>
            <a:spLocks noGrp="1"/>
          </p:cNvSpPr>
          <p:nvPr>
            <p:ph type="title"/>
          </p:nvPr>
        </p:nvSpPr>
        <p:spPr/>
        <p:txBody>
          <a:bodyPr/>
          <a:lstStyle/>
          <a:p>
            <a:r>
              <a:rPr lang="en-IN" dirty="0"/>
              <a:t>What happens in </a:t>
            </a:r>
            <a:r>
              <a:rPr lang="en-IN" dirty="0" err="1"/>
              <a:t>GraalVM</a:t>
            </a:r>
            <a:r>
              <a:rPr lang="en-IN" dirty="0"/>
              <a:t> AOT mode?</a:t>
            </a:r>
            <a:endParaRPr lang="en-US" dirty="0"/>
          </a:p>
        </p:txBody>
      </p:sp>
      <p:sp>
        <p:nvSpPr>
          <p:cNvPr id="5" name="Rectangle 4">
            <a:extLst>
              <a:ext uri="{FF2B5EF4-FFF2-40B4-BE49-F238E27FC236}">
                <a16:creationId xmlns:a16="http://schemas.microsoft.com/office/drawing/2014/main" id="{074D40A4-74CC-6C76-038D-566861213302}"/>
              </a:ext>
            </a:extLst>
          </p:cNvPr>
          <p:cNvSpPr/>
          <p:nvPr/>
        </p:nvSpPr>
        <p:spPr>
          <a:xfrm>
            <a:off x="1189918" y="2823060"/>
            <a:ext cx="1289743" cy="311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Application classes</a:t>
            </a:r>
            <a:endParaRPr lang="en-US" sz="1100" dirty="0"/>
          </a:p>
        </p:txBody>
      </p:sp>
      <p:sp>
        <p:nvSpPr>
          <p:cNvPr id="6" name="Rectangle 5">
            <a:extLst>
              <a:ext uri="{FF2B5EF4-FFF2-40B4-BE49-F238E27FC236}">
                <a16:creationId xmlns:a16="http://schemas.microsoft.com/office/drawing/2014/main" id="{CE8A432C-DD0E-160C-C49D-FA6DD8B780F0}"/>
              </a:ext>
            </a:extLst>
          </p:cNvPr>
          <p:cNvSpPr/>
          <p:nvPr/>
        </p:nvSpPr>
        <p:spPr>
          <a:xfrm>
            <a:off x="1189918" y="3266285"/>
            <a:ext cx="1289743" cy="311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Libraries</a:t>
            </a:r>
            <a:endParaRPr lang="en-US" sz="1100" dirty="0"/>
          </a:p>
        </p:txBody>
      </p:sp>
      <p:sp>
        <p:nvSpPr>
          <p:cNvPr id="7" name="Rectangle 6">
            <a:extLst>
              <a:ext uri="{FF2B5EF4-FFF2-40B4-BE49-F238E27FC236}">
                <a16:creationId xmlns:a16="http://schemas.microsoft.com/office/drawing/2014/main" id="{65B099BF-C360-2970-BDA7-FA53B305B5CE}"/>
              </a:ext>
            </a:extLst>
          </p:cNvPr>
          <p:cNvSpPr/>
          <p:nvPr/>
        </p:nvSpPr>
        <p:spPr>
          <a:xfrm>
            <a:off x="1189918" y="3709510"/>
            <a:ext cx="1289743" cy="311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JDK</a:t>
            </a:r>
            <a:endParaRPr lang="en-US" sz="1100" dirty="0"/>
          </a:p>
        </p:txBody>
      </p:sp>
      <p:sp>
        <p:nvSpPr>
          <p:cNvPr id="8" name="Rectangle 7">
            <a:extLst>
              <a:ext uri="{FF2B5EF4-FFF2-40B4-BE49-F238E27FC236}">
                <a16:creationId xmlns:a16="http://schemas.microsoft.com/office/drawing/2014/main" id="{CF957C48-7142-624F-D302-D9D9C6600AE8}"/>
              </a:ext>
            </a:extLst>
          </p:cNvPr>
          <p:cNvSpPr/>
          <p:nvPr/>
        </p:nvSpPr>
        <p:spPr>
          <a:xfrm>
            <a:off x="1189918" y="4152735"/>
            <a:ext cx="1289743" cy="311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Substrate VM</a:t>
            </a:r>
            <a:endParaRPr lang="en-US" sz="1100" dirty="0"/>
          </a:p>
        </p:txBody>
      </p:sp>
      <p:sp>
        <p:nvSpPr>
          <p:cNvPr id="9" name="TextBox 8">
            <a:extLst>
              <a:ext uri="{FF2B5EF4-FFF2-40B4-BE49-F238E27FC236}">
                <a16:creationId xmlns:a16="http://schemas.microsoft.com/office/drawing/2014/main" id="{C9399CC7-DBCE-8A2F-6842-50E1417356D1}"/>
              </a:ext>
            </a:extLst>
          </p:cNvPr>
          <p:cNvSpPr txBox="1"/>
          <p:nvPr/>
        </p:nvSpPr>
        <p:spPr>
          <a:xfrm>
            <a:off x="2641384" y="3393992"/>
            <a:ext cx="930063" cy="261610"/>
          </a:xfrm>
          <a:prstGeom prst="rect">
            <a:avLst/>
          </a:prstGeom>
          <a:noFill/>
        </p:spPr>
        <p:txBody>
          <a:bodyPr wrap="none" rtlCol="0">
            <a:spAutoFit/>
          </a:bodyPr>
          <a:lstStyle/>
          <a:p>
            <a:r>
              <a:rPr lang="en-GB" sz="1100" dirty="0"/>
              <a:t>native-image</a:t>
            </a:r>
            <a:endParaRPr lang="en-US" sz="1100" dirty="0"/>
          </a:p>
        </p:txBody>
      </p:sp>
      <p:cxnSp>
        <p:nvCxnSpPr>
          <p:cNvPr id="10" name="Straight Arrow Connector 9">
            <a:extLst>
              <a:ext uri="{FF2B5EF4-FFF2-40B4-BE49-F238E27FC236}">
                <a16:creationId xmlns:a16="http://schemas.microsoft.com/office/drawing/2014/main" id="{94D09B14-29E6-F697-55C0-5E0AD808C638}"/>
              </a:ext>
            </a:extLst>
          </p:cNvPr>
          <p:cNvCxnSpPr/>
          <p:nvPr/>
        </p:nvCxnSpPr>
        <p:spPr>
          <a:xfrm>
            <a:off x="2696875" y="3709509"/>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60AC9181-A583-6C04-793E-A240001B6284}"/>
              </a:ext>
            </a:extLst>
          </p:cNvPr>
          <p:cNvSpPr/>
          <p:nvPr/>
        </p:nvSpPr>
        <p:spPr>
          <a:xfrm>
            <a:off x="3708625" y="1982531"/>
            <a:ext cx="3757426" cy="3453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Iterative static analysis of the code will be done</a:t>
            </a:r>
          </a:p>
          <a:p>
            <a:pPr algn="ctr"/>
            <a:r>
              <a:rPr lang="en-IN" sz="1400" dirty="0"/>
              <a:t>by </a:t>
            </a:r>
            <a:r>
              <a:rPr lang="en-IN" sz="1400" dirty="0" err="1"/>
              <a:t>GraalVM</a:t>
            </a:r>
            <a:r>
              <a:rPr lang="en-IN" sz="1400" dirty="0"/>
              <a:t> until fixed point reached.</a:t>
            </a:r>
          </a:p>
          <a:p>
            <a:pPr algn="ctr"/>
            <a:endParaRPr lang="en-IN" sz="1400" dirty="0"/>
          </a:p>
          <a:p>
            <a:pPr algn="ctr"/>
            <a:r>
              <a:rPr lang="en-IN" sz="1400" dirty="0" err="1"/>
              <a:t>GraalVM</a:t>
            </a:r>
            <a:r>
              <a:rPr lang="en-IN" sz="1400" dirty="0"/>
              <a:t> scans all the reachable classes, method etc. Any unused code will be ignored</a:t>
            </a:r>
          </a:p>
          <a:p>
            <a:pPr algn="ctr"/>
            <a:endParaRPr lang="en-IN" sz="1400" dirty="0"/>
          </a:p>
          <a:p>
            <a:pPr algn="ctr"/>
            <a:r>
              <a:rPr lang="en-IN" sz="1400" dirty="0"/>
              <a:t>Any dynamic code invoked with </a:t>
            </a:r>
            <a:r>
              <a:rPr lang="en-IN" sz="1400" dirty="0" err="1"/>
              <a:t>reflection,JNI</a:t>
            </a:r>
            <a:r>
              <a:rPr lang="en-IN" sz="1400" dirty="0"/>
              <a:t>, Dynamic proxy etc can’t analysed by </a:t>
            </a:r>
            <a:r>
              <a:rPr lang="en-IN" sz="1400" dirty="0" err="1"/>
              <a:t>GraalVM</a:t>
            </a:r>
            <a:r>
              <a:rPr lang="en-IN" sz="1400" dirty="0"/>
              <a:t> since it performs static analysis. To overcome this, we need to provide Reachability Metadata to </a:t>
            </a:r>
            <a:r>
              <a:rPr lang="en-IN" sz="1400" dirty="0" err="1"/>
              <a:t>GraalVM</a:t>
            </a:r>
            <a:endParaRPr lang="en-US" sz="1400" dirty="0"/>
          </a:p>
        </p:txBody>
      </p:sp>
      <p:sp>
        <p:nvSpPr>
          <p:cNvPr id="12" name="TextBox 11">
            <a:extLst>
              <a:ext uri="{FF2B5EF4-FFF2-40B4-BE49-F238E27FC236}">
                <a16:creationId xmlns:a16="http://schemas.microsoft.com/office/drawing/2014/main" id="{6DD5A1D4-4F0A-93B6-6F2C-44F483923244}"/>
              </a:ext>
            </a:extLst>
          </p:cNvPr>
          <p:cNvSpPr txBox="1"/>
          <p:nvPr/>
        </p:nvSpPr>
        <p:spPr>
          <a:xfrm>
            <a:off x="7596143" y="3266285"/>
            <a:ext cx="1016625" cy="430887"/>
          </a:xfrm>
          <a:prstGeom prst="rect">
            <a:avLst/>
          </a:prstGeom>
          <a:noFill/>
        </p:spPr>
        <p:txBody>
          <a:bodyPr wrap="none" rtlCol="0">
            <a:spAutoFit/>
          </a:bodyPr>
          <a:lstStyle/>
          <a:p>
            <a:r>
              <a:rPr lang="en-GB" sz="1100" dirty="0"/>
              <a:t>Ahead-of-time</a:t>
            </a:r>
          </a:p>
          <a:p>
            <a:r>
              <a:rPr lang="en-GB" sz="1100" dirty="0"/>
              <a:t>compilation</a:t>
            </a:r>
            <a:endParaRPr lang="en-US" sz="1100" dirty="0"/>
          </a:p>
        </p:txBody>
      </p:sp>
      <p:cxnSp>
        <p:nvCxnSpPr>
          <p:cNvPr id="13" name="Straight Arrow Connector 12">
            <a:extLst>
              <a:ext uri="{FF2B5EF4-FFF2-40B4-BE49-F238E27FC236}">
                <a16:creationId xmlns:a16="http://schemas.microsoft.com/office/drawing/2014/main" id="{94F9847A-98F5-0872-BD86-A748B386216D}"/>
              </a:ext>
            </a:extLst>
          </p:cNvPr>
          <p:cNvCxnSpPr/>
          <p:nvPr/>
        </p:nvCxnSpPr>
        <p:spPr>
          <a:xfrm>
            <a:off x="7665225" y="3709510"/>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35DE7727-C897-FCDF-F865-197F59C05D07}"/>
              </a:ext>
            </a:extLst>
          </p:cNvPr>
          <p:cNvSpPr/>
          <p:nvPr/>
        </p:nvSpPr>
        <p:spPr>
          <a:xfrm>
            <a:off x="8656180" y="3416111"/>
            <a:ext cx="1333668" cy="4789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Native executable code</a:t>
            </a:r>
            <a:endParaRPr lang="en-US" sz="1200" dirty="0"/>
          </a:p>
        </p:txBody>
      </p:sp>
      <p:cxnSp>
        <p:nvCxnSpPr>
          <p:cNvPr id="18" name="Straight Arrow Connector 17">
            <a:extLst>
              <a:ext uri="{FF2B5EF4-FFF2-40B4-BE49-F238E27FC236}">
                <a16:creationId xmlns:a16="http://schemas.microsoft.com/office/drawing/2014/main" id="{90712023-31A2-9ECC-8A54-DE5AFEF1D1D9}"/>
              </a:ext>
            </a:extLst>
          </p:cNvPr>
          <p:cNvCxnSpPr>
            <a:cxnSpLocks/>
          </p:cNvCxnSpPr>
          <p:nvPr/>
        </p:nvCxnSpPr>
        <p:spPr>
          <a:xfrm>
            <a:off x="10102340" y="3706181"/>
            <a:ext cx="491835" cy="33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FD08136-F05F-932F-87AB-FD3A1AA90DB0}"/>
              </a:ext>
            </a:extLst>
          </p:cNvPr>
          <p:cNvSpPr/>
          <p:nvPr/>
        </p:nvSpPr>
        <p:spPr>
          <a:xfrm>
            <a:off x="10706667" y="3432083"/>
            <a:ext cx="742036" cy="4789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Output</a:t>
            </a:r>
            <a:endParaRPr lang="en-US" sz="1200" dirty="0"/>
          </a:p>
        </p:txBody>
      </p:sp>
    </p:spTree>
    <p:extLst>
      <p:ext uri="{BB962C8B-B14F-4D97-AF65-F5344CB8AC3E}">
        <p14:creationId xmlns:p14="http://schemas.microsoft.com/office/powerpoint/2010/main" val="2738850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animBg="1"/>
      <p:bldP spid="6" grpId="0" animBg="1"/>
      <p:bldP spid="7" grpId="0" animBg="1"/>
      <p:bldP spid="8" grpId="0" animBg="1"/>
      <p:bldP spid="9" grpId="0"/>
      <p:bldP spid="11" grpId="0" animBg="1"/>
      <p:bldP spid="12" grpId="0"/>
      <p:bldP spid="15" grpId="0" animBg="1"/>
      <p:bldP spid="2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90C77-2123-5804-63D8-A79FB7EFDAFB}"/>
              </a:ext>
            </a:extLst>
          </p:cNvPr>
          <p:cNvSpPr>
            <a:spLocks noGrp="1"/>
          </p:cNvSpPr>
          <p:nvPr>
            <p:ph type="title"/>
          </p:nvPr>
        </p:nvSpPr>
        <p:spPr/>
        <p:txBody>
          <a:bodyPr/>
          <a:lstStyle/>
          <a:p>
            <a:r>
              <a:rPr lang="en-IN" dirty="0"/>
              <a:t>Advantages </a:t>
            </a:r>
            <a:r>
              <a:rPr lang="en-IN" dirty="0" err="1"/>
              <a:t>ofGraalVM</a:t>
            </a:r>
            <a:endParaRPr lang="en-US" dirty="0"/>
          </a:p>
        </p:txBody>
      </p:sp>
      <p:sp>
        <p:nvSpPr>
          <p:cNvPr id="3" name="Content Placeholder 2">
            <a:extLst>
              <a:ext uri="{FF2B5EF4-FFF2-40B4-BE49-F238E27FC236}">
                <a16:creationId xmlns:a16="http://schemas.microsoft.com/office/drawing/2014/main" id="{CAC174BE-1D32-9991-60DF-002B96A14ED9}"/>
              </a:ext>
            </a:extLst>
          </p:cNvPr>
          <p:cNvSpPr>
            <a:spLocks noGrp="1"/>
          </p:cNvSpPr>
          <p:nvPr>
            <p:ph idx="1"/>
          </p:nvPr>
        </p:nvSpPr>
        <p:spPr/>
        <p:txBody>
          <a:bodyPr>
            <a:normAutofit fontScale="92500" lnSpcReduction="20000"/>
          </a:bodyPr>
          <a:lstStyle/>
          <a:p>
            <a:r>
              <a:rPr lang="en-IN" dirty="0"/>
              <a:t>Apps start instantly</a:t>
            </a:r>
          </a:p>
          <a:p>
            <a:pPr lvl="1"/>
            <a:r>
              <a:rPr lang="en-IN" dirty="0"/>
              <a:t>JIT – Normal Just In Time Compilation</a:t>
            </a:r>
          </a:p>
          <a:p>
            <a:pPr lvl="2"/>
            <a:r>
              <a:rPr lang="en-IN" dirty="0"/>
              <a:t>Load JAR files from disk</a:t>
            </a:r>
          </a:p>
          <a:p>
            <a:pPr lvl="2"/>
            <a:r>
              <a:rPr lang="en-IN" dirty="0"/>
              <a:t>Extract class files</a:t>
            </a:r>
          </a:p>
          <a:p>
            <a:pPr lvl="2"/>
            <a:r>
              <a:rPr lang="en-IN" dirty="0"/>
              <a:t>Verify class definitions</a:t>
            </a:r>
          </a:p>
          <a:p>
            <a:pPr lvl="2"/>
            <a:r>
              <a:rPr lang="en-IN" dirty="0"/>
              <a:t>Interpreter logic</a:t>
            </a:r>
          </a:p>
          <a:p>
            <a:pPr lvl="2"/>
            <a:r>
              <a:rPr lang="en-IN" dirty="0"/>
              <a:t>Profiling</a:t>
            </a:r>
          </a:p>
          <a:p>
            <a:pPr lvl="2"/>
            <a:r>
              <a:rPr lang="en-IN" dirty="0"/>
              <a:t>Compile to machine code</a:t>
            </a:r>
          </a:p>
          <a:p>
            <a:pPr lvl="2"/>
            <a:r>
              <a:rPr lang="en-IN" dirty="0"/>
              <a:t>Initiate the start process with full speed</a:t>
            </a:r>
          </a:p>
          <a:p>
            <a:pPr lvl="1"/>
            <a:r>
              <a:rPr lang="en-US" dirty="0"/>
              <a:t>AOT – Ahead Of Time Compilation</a:t>
            </a:r>
          </a:p>
          <a:p>
            <a:pPr lvl="2"/>
            <a:r>
              <a:rPr lang="en-US" dirty="0"/>
              <a:t>Load native executable code from disk</a:t>
            </a:r>
          </a:p>
          <a:p>
            <a:pPr lvl="2"/>
            <a:r>
              <a:rPr lang="en-IN" dirty="0"/>
              <a:t>Initiate the start process with full speed</a:t>
            </a:r>
            <a:endParaRPr lang="en-US" dirty="0"/>
          </a:p>
          <a:p>
            <a:r>
              <a:rPr lang="en-IN" dirty="0"/>
              <a:t>Since the number of steps with </a:t>
            </a:r>
            <a:r>
              <a:rPr lang="en-IN" dirty="0" err="1"/>
              <a:t>GraalVM</a:t>
            </a:r>
            <a:r>
              <a:rPr lang="en-IN" dirty="0"/>
              <a:t> is less and code is ready for execution in native format, the start time will be less compared to traditional JDK</a:t>
            </a:r>
          </a:p>
        </p:txBody>
      </p:sp>
    </p:spTree>
    <p:extLst>
      <p:ext uri="{BB962C8B-B14F-4D97-AF65-F5344CB8AC3E}">
        <p14:creationId xmlns:p14="http://schemas.microsoft.com/office/powerpoint/2010/main" val="41317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582D1-C901-1C4F-9D78-F071591E9B7D}"/>
              </a:ext>
            </a:extLst>
          </p:cNvPr>
          <p:cNvSpPr>
            <a:spLocks noGrp="1"/>
          </p:cNvSpPr>
          <p:nvPr>
            <p:ph type="title"/>
          </p:nvPr>
        </p:nvSpPr>
        <p:spPr/>
        <p:txBody>
          <a:bodyPr/>
          <a:lstStyle/>
          <a:p>
            <a:r>
              <a:rPr lang="en-IN" dirty="0"/>
              <a:t>Advantages </a:t>
            </a:r>
            <a:r>
              <a:rPr lang="en-IN" dirty="0" err="1"/>
              <a:t>ofGraalVM</a:t>
            </a:r>
            <a:endParaRPr lang="en-US" dirty="0"/>
          </a:p>
        </p:txBody>
      </p:sp>
      <p:sp>
        <p:nvSpPr>
          <p:cNvPr id="3" name="Content Placeholder 2">
            <a:extLst>
              <a:ext uri="{FF2B5EF4-FFF2-40B4-BE49-F238E27FC236}">
                <a16:creationId xmlns:a16="http://schemas.microsoft.com/office/drawing/2014/main" id="{1DF641B8-13FD-4D0B-F093-D046EF18625C}"/>
              </a:ext>
            </a:extLst>
          </p:cNvPr>
          <p:cNvSpPr>
            <a:spLocks noGrp="1"/>
          </p:cNvSpPr>
          <p:nvPr>
            <p:ph idx="1"/>
          </p:nvPr>
        </p:nvSpPr>
        <p:spPr/>
        <p:txBody>
          <a:bodyPr/>
          <a:lstStyle/>
          <a:p>
            <a:r>
              <a:rPr lang="en-IN" dirty="0"/>
              <a:t>Low memory consumption </a:t>
            </a:r>
          </a:p>
          <a:p>
            <a:pPr lvl="1"/>
            <a:r>
              <a:rPr lang="en-IN" dirty="0"/>
              <a:t>Save Cloud Bill</a:t>
            </a:r>
          </a:p>
          <a:p>
            <a:r>
              <a:rPr lang="en-IN" dirty="0"/>
              <a:t>Compact packaging</a:t>
            </a:r>
          </a:p>
          <a:p>
            <a:pPr lvl="1"/>
            <a:r>
              <a:rPr lang="en-IN" dirty="0"/>
              <a:t>Save Cloud Bill</a:t>
            </a:r>
          </a:p>
          <a:p>
            <a:r>
              <a:rPr lang="en-US" dirty="0"/>
              <a:t>Reduced Attack Surface</a:t>
            </a:r>
          </a:p>
          <a:p>
            <a:pPr lvl="1"/>
            <a:r>
              <a:rPr lang="en-US" dirty="0"/>
              <a:t>Only code reachable by the application are included in the image and no new code can be loaded at runtime.</a:t>
            </a:r>
          </a:p>
          <a:p>
            <a:pPr lvl="1"/>
            <a:r>
              <a:rPr lang="en-US" dirty="0"/>
              <a:t>Reflection, Deserialization </a:t>
            </a:r>
            <a:r>
              <a:rPr lang="en-US" dirty="0" err="1"/>
              <a:t>etc</a:t>
            </a:r>
            <a:r>
              <a:rPr lang="en-US" dirty="0"/>
              <a:t> are disabled and require explicit reachability metadata configuration</a:t>
            </a:r>
          </a:p>
          <a:p>
            <a:r>
              <a:rPr lang="en-US" dirty="0"/>
              <a:t>Polyglot support</a:t>
            </a:r>
          </a:p>
          <a:p>
            <a:pPr lvl="1"/>
            <a:endParaRPr lang="en-US" dirty="0"/>
          </a:p>
        </p:txBody>
      </p:sp>
    </p:spTree>
    <p:extLst>
      <p:ext uri="{BB962C8B-B14F-4D97-AF65-F5344CB8AC3E}">
        <p14:creationId xmlns:p14="http://schemas.microsoft.com/office/powerpoint/2010/main" val="2455136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BCF3D-487B-ED42-74BB-9AF8E1F4AD06}"/>
              </a:ext>
            </a:extLst>
          </p:cNvPr>
          <p:cNvSpPr>
            <a:spLocks noGrp="1"/>
          </p:cNvSpPr>
          <p:nvPr>
            <p:ph type="title"/>
          </p:nvPr>
        </p:nvSpPr>
        <p:spPr/>
        <p:txBody>
          <a:bodyPr/>
          <a:lstStyle/>
          <a:p>
            <a:r>
              <a:rPr lang="en-IN" dirty="0"/>
              <a:t>Limitation of </a:t>
            </a:r>
            <a:r>
              <a:rPr lang="en-IN" dirty="0" err="1"/>
              <a:t>GraalVM</a:t>
            </a:r>
            <a:endParaRPr lang="en-US" dirty="0"/>
          </a:p>
        </p:txBody>
      </p:sp>
      <p:sp>
        <p:nvSpPr>
          <p:cNvPr id="3" name="Content Placeholder 2">
            <a:extLst>
              <a:ext uri="{FF2B5EF4-FFF2-40B4-BE49-F238E27FC236}">
                <a16:creationId xmlns:a16="http://schemas.microsoft.com/office/drawing/2014/main" id="{B29B90B1-F213-4653-2FB9-22150D57A031}"/>
              </a:ext>
            </a:extLst>
          </p:cNvPr>
          <p:cNvSpPr>
            <a:spLocks noGrp="1"/>
          </p:cNvSpPr>
          <p:nvPr>
            <p:ph idx="1"/>
          </p:nvPr>
        </p:nvSpPr>
        <p:spPr/>
        <p:txBody>
          <a:bodyPr>
            <a:normAutofit fontScale="92500" lnSpcReduction="20000"/>
          </a:bodyPr>
          <a:lstStyle/>
          <a:p>
            <a:r>
              <a:rPr lang="en-IN" dirty="0" err="1"/>
              <a:t>GraalVM</a:t>
            </a:r>
            <a:r>
              <a:rPr lang="en-IN" dirty="0"/>
              <a:t> static analysis may not automatically detected all reflection code, JNI, Dynamic proxy code. </a:t>
            </a:r>
            <a:r>
              <a:rPr lang="en-US" dirty="0"/>
              <a:t>Workaround is to provide this information manually to the </a:t>
            </a:r>
            <a:r>
              <a:rPr lang="en-US" dirty="0" err="1"/>
              <a:t>GraalVM</a:t>
            </a:r>
            <a:r>
              <a:rPr lang="en-US" dirty="0"/>
              <a:t> using Reachability metadata.</a:t>
            </a:r>
          </a:p>
          <a:p>
            <a:r>
              <a:rPr lang="en-US" dirty="0"/>
              <a:t>Maintaining Reachability metadata for our own application code is file, but how about the dynamic code used in libraries and frameworks?</a:t>
            </a:r>
          </a:p>
          <a:p>
            <a:pPr lvl="1"/>
            <a:r>
              <a:rPr lang="en-US" dirty="0"/>
              <a:t>The solution is, all major frameworks like Spring Boot , </a:t>
            </a:r>
            <a:r>
              <a:rPr lang="en-US" dirty="0" err="1"/>
              <a:t>Quarkus</a:t>
            </a:r>
            <a:r>
              <a:rPr lang="en-US" dirty="0"/>
              <a:t> , Micronaut, Helidon are already updated their code to provide this Reachability metadata.</a:t>
            </a:r>
          </a:p>
          <a:p>
            <a:r>
              <a:rPr lang="en-US" dirty="0"/>
              <a:t>Need lot of computational efforts at build time. Make sure to use a powerful machine with the same platform target and OS. You can’t build on windows and deploy the executables code into Linux server</a:t>
            </a:r>
          </a:p>
          <a:p>
            <a:r>
              <a:rPr lang="en-US" dirty="0"/>
              <a:t>During local development and unit testing, it will be annoying to use AOT because it takes lots of time to generate native executable code. Instead use JIT and go for AOT only during the final build process.</a:t>
            </a:r>
          </a:p>
        </p:txBody>
      </p:sp>
    </p:spTree>
    <p:extLst>
      <p:ext uri="{BB962C8B-B14F-4D97-AF65-F5344CB8AC3E}">
        <p14:creationId xmlns:p14="http://schemas.microsoft.com/office/powerpoint/2010/main" val="2696376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871C-2596-5406-6148-DDCF61499E38}"/>
              </a:ext>
            </a:extLst>
          </p:cNvPr>
          <p:cNvSpPr>
            <a:spLocks noGrp="1"/>
          </p:cNvSpPr>
          <p:nvPr>
            <p:ph type="title"/>
          </p:nvPr>
        </p:nvSpPr>
        <p:spPr/>
        <p:txBody>
          <a:bodyPr/>
          <a:lstStyle/>
          <a:p>
            <a:r>
              <a:rPr lang="en-IN" b="1" dirty="0"/>
              <a:t>Different types of Threads</a:t>
            </a:r>
            <a:endParaRPr lang="en-US" b="1" dirty="0"/>
          </a:p>
        </p:txBody>
      </p:sp>
      <p:sp>
        <p:nvSpPr>
          <p:cNvPr id="3" name="Content Placeholder 2">
            <a:extLst>
              <a:ext uri="{FF2B5EF4-FFF2-40B4-BE49-F238E27FC236}">
                <a16:creationId xmlns:a16="http://schemas.microsoft.com/office/drawing/2014/main" id="{CFB49716-B45C-BA36-17F2-8EC20B811189}"/>
              </a:ext>
            </a:extLst>
          </p:cNvPr>
          <p:cNvSpPr>
            <a:spLocks noGrp="1"/>
          </p:cNvSpPr>
          <p:nvPr>
            <p:ph idx="1"/>
          </p:nvPr>
        </p:nvSpPr>
        <p:spPr/>
        <p:txBody>
          <a:bodyPr/>
          <a:lstStyle/>
          <a:p>
            <a:r>
              <a:rPr lang="en-IN" b="1" dirty="0"/>
              <a:t>Kernel/OS Thread</a:t>
            </a:r>
          </a:p>
          <a:p>
            <a:pPr lvl="1"/>
            <a:r>
              <a:rPr lang="en-IN" dirty="0"/>
              <a:t>This is also known as OS Thread.</a:t>
            </a:r>
          </a:p>
          <a:p>
            <a:pPr lvl="1"/>
            <a:r>
              <a:rPr lang="en-IN" dirty="0"/>
              <a:t>Kernel Threads are managed and scheduled by the operating system</a:t>
            </a:r>
          </a:p>
          <a:p>
            <a:r>
              <a:rPr lang="en-IN" b="1" dirty="0"/>
              <a:t>Platform Thread</a:t>
            </a:r>
          </a:p>
          <a:p>
            <a:pPr lvl="1"/>
            <a:r>
              <a:rPr lang="en-IN" dirty="0"/>
              <a:t>Each Java platform thread is associated 1-to-1 with an OS OR kernel thread</a:t>
            </a:r>
            <a:endParaRPr lang="en-US" dirty="0"/>
          </a:p>
        </p:txBody>
      </p:sp>
    </p:spTree>
    <p:extLst>
      <p:ext uri="{BB962C8B-B14F-4D97-AF65-F5344CB8AC3E}">
        <p14:creationId xmlns:p14="http://schemas.microsoft.com/office/powerpoint/2010/main" val="21547589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01E54-D2F8-D750-CDC7-30DAB4707307}"/>
              </a:ext>
            </a:extLst>
          </p:cNvPr>
          <p:cNvSpPr>
            <a:spLocks noGrp="1"/>
          </p:cNvSpPr>
          <p:nvPr>
            <p:ph type="title"/>
          </p:nvPr>
        </p:nvSpPr>
        <p:spPr/>
        <p:txBody>
          <a:bodyPr/>
          <a:lstStyle/>
          <a:p>
            <a:r>
              <a:rPr lang="en-IN" b="1" dirty="0"/>
              <a:t>Virtual Threads</a:t>
            </a:r>
            <a:endParaRPr lang="en-US" b="1" dirty="0"/>
          </a:p>
        </p:txBody>
      </p:sp>
      <p:sp>
        <p:nvSpPr>
          <p:cNvPr id="3" name="Content Placeholder 2">
            <a:extLst>
              <a:ext uri="{FF2B5EF4-FFF2-40B4-BE49-F238E27FC236}">
                <a16:creationId xmlns:a16="http://schemas.microsoft.com/office/drawing/2014/main" id="{92CB2897-C6D0-2CF8-369A-470DE8BE14E3}"/>
              </a:ext>
            </a:extLst>
          </p:cNvPr>
          <p:cNvSpPr>
            <a:spLocks noGrp="1"/>
          </p:cNvSpPr>
          <p:nvPr>
            <p:ph sz="half" idx="1"/>
          </p:nvPr>
        </p:nvSpPr>
        <p:spPr/>
        <p:txBody>
          <a:bodyPr/>
          <a:lstStyle/>
          <a:p>
            <a:r>
              <a:rPr lang="en-IN" dirty="0"/>
              <a:t>A Virtual Thread is a lightweight thread managed by the JVM instead of operating system.</a:t>
            </a:r>
          </a:p>
          <a:p>
            <a:r>
              <a:rPr lang="en-IN" dirty="0"/>
              <a:t>It looks like a normal Java thread but internally</a:t>
            </a:r>
          </a:p>
          <a:p>
            <a:pPr lvl="1"/>
            <a:r>
              <a:rPr lang="en-IN" dirty="0"/>
              <a:t>Scheduled by the JVM</a:t>
            </a:r>
          </a:p>
          <a:p>
            <a:pPr lvl="1"/>
            <a:r>
              <a:rPr lang="en-IN" dirty="0"/>
              <a:t>Extremely cheap to create </a:t>
            </a:r>
          </a:p>
          <a:p>
            <a:pPr lvl="1"/>
            <a:r>
              <a:rPr lang="en-IN" dirty="0"/>
              <a:t>Can block without wasting OS resources</a:t>
            </a:r>
            <a:endParaRPr lang="en-US" dirty="0"/>
          </a:p>
        </p:txBody>
      </p:sp>
      <p:pic>
        <p:nvPicPr>
          <p:cNvPr id="10" name="Content Placeholder 9">
            <a:extLst>
              <a:ext uri="{FF2B5EF4-FFF2-40B4-BE49-F238E27FC236}">
                <a16:creationId xmlns:a16="http://schemas.microsoft.com/office/drawing/2014/main" id="{A89BCC33-18ED-1683-8DB8-49F1DE7482D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182179" y="980312"/>
            <a:ext cx="1668957" cy="4655513"/>
          </a:xfrm>
        </p:spPr>
      </p:pic>
    </p:spTree>
    <p:extLst>
      <p:ext uri="{BB962C8B-B14F-4D97-AF65-F5344CB8AC3E}">
        <p14:creationId xmlns:p14="http://schemas.microsoft.com/office/powerpoint/2010/main" val="33087207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76930-7EB9-2D59-EBA1-55117BBEB57E}"/>
              </a:ext>
            </a:extLst>
          </p:cNvPr>
          <p:cNvSpPr>
            <a:spLocks noGrp="1"/>
          </p:cNvSpPr>
          <p:nvPr>
            <p:ph type="title"/>
          </p:nvPr>
        </p:nvSpPr>
        <p:spPr/>
        <p:txBody>
          <a:bodyPr/>
          <a:lstStyle/>
          <a:p>
            <a:r>
              <a:rPr lang="en-IN" b="1" dirty="0"/>
              <a:t>Compare with Platform Thread</a:t>
            </a:r>
            <a:endParaRPr lang="en-US" b="1" dirty="0"/>
          </a:p>
        </p:txBody>
      </p:sp>
      <p:graphicFrame>
        <p:nvGraphicFramePr>
          <p:cNvPr id="4" name="Table 3">
            <a:extLst>
              <a:ext uri="{FF2B5EF4-FFF2-40B4-BE49-F238E27FC236}">
                <a16:creationId xmlns:a16="http://schemas.microsoft.com/office/drawing/2014/main" id="{F250B7DE-337D-BDDD-3755-41CBD7EEC8A5}"/>
              </a:ext>
            </a:extLst>
          </p:cNvPr>
          <p:cNvGraphicFramePr>
            <a:graphicFrameLocks noGrp="1"/>
          </p:cNvGraphicFramePr>
          <p:nvPr>
            <p:extLst>
              <p:ext uri="{D42A27DB-BD31-4B8C-83A1-F6EECF244321}">
                <p14:modId xmlns:p14="http://schemas.microsoft.com/office/powerpoint/2010/main" val="2796175039"/>
              </p:ext>
            </p:extLst>
          </p:nvPr>
        </p:nvGraphicFramePr>
        <p:xfrm>
          <a:off x="838200" y="2904014"/>
          <a:ext cx="10515600" cy="2194560"/>
        </p:xfrm>
        <a:graphic>
          <a:graphicData uri="http://schemas.openxmlformats.org/drawingml/2006/table">
            <a:tbl>
              <a:tblPr>
                <a:tableStyleId>{35758FB7-9AC5-4552-8A53-C91805E547FA}</a:tableStyleId>
              </a:tblPr>
              <a:tblGrid>
                <a:gridCol w="3505200">
                  <a:extLst>
                    <a:ext uri="{9D8B030D-6E8A-4147-A177-3AD203B41FA5}">
                      <a16:colId xmlns:a16="http://schemas.microsoft.com/office/drawing/2014/main" val="393020955"/>
                    </a:ext>
                  </a:extLst>
                </a:gridCol>
                <a:gridCol w="3505200">
                  <a:extLst>
                    <a:ext uri="{9D8B030D-6E8A-4147-A177-3AD203B41FA5}">
                      <a16:colId xmlns:a16="http://schemas.microsoft.com/office/drawing/2014/main" val="3515915843"/>
                    </a:ext>
                  </a:extLst>
                </a:gridCol>
                <a:gridCol w="3505200">
                  <a:extLst>
                    <a:ext uri="{9D8B030D-6E8A-4147-A177-3AD203B41FA5}">
                      <a16:colId xmlns:a16="http://schemas.microsoft.com/office/drawing/2014/main" val="523298544"/>
                    </a:ext>
                  </a:extLst>
                </a:gridCol>
              </a:tblGrid>
              <a:tr h="0">
                <a:tc>
                  <a:txBody>
                    <a:bodyPr/>
                    <a:lstStyle/>
                    <a:p>
                      <a:pPr>
                        <a:buNone/>
                      </a:pPr>
                      <a:r>
                        <a:rPr lang="en-US"/>
                        <a:t>Aspect</a:t>
                      </a:r>
                    </a:p>
                  </a:txBody>
                  <a:tcPr anchor="ctr"/>
                </a:tc>
                <a:tc>
                  <a:txBody>
                    <a:bodyPr/>
                    <a:lstStyle/>
                    <a:p>
                      <a:pPr>
                        <a:buNone/>
                      </a:pPr>
                      <a:r>
                        <a:rPr lang="en-US"/>
                        <a:t>Platform Thread</a:t>
                      </a:r>
                    </a:p>
                  </a:txBody>
                  <a:tcPr anchor="ctr"/>
                </a:tc>
                <a:tc>
                  <a:txBody>
                    <a:bodyPr/>
                    <a:lstStyle/>
                    <a:p>
                      <a:pPr>
                        <a:buNone/>
                      </a:pPr>
                      <a:r>
                        <a:rPr lang="en-US"/>
                        <a:t>Virtual Thread</a:t>
                      </a:r>
                    </a:p>
                  </a:txBody>
                  <a:tcPr anchor="ctr"/>
                </a:tc>
                <a:extLst>
                  <a:ext uri="{0D108BD9-81ED-4DB2-BD59-A6C34878D82A}">
                    <a16:rowId xmlns:a16="http://schemas.microsoft.com/office/drawing/2014/main" val="2535172322"/>
                  </a:ext>
                </a:extLst>
              </a:tr>
              <a:tr h="0">
                <a:tc>
                  <a:txBody>
                    <a:bodyPr/>
                    <a:lstStyle/>
                    <a:p>
                      <a:pPr>
                        <a:buNone/>
                      </a:pPr>
                      <a:r>
                        <a:rPr lang="en-US"/>
                        <a:t>Backed by</a:t>
                      </a:r>
                    </a:p>
                  </a:txBody>
                  <a:tcPr anchor="ctr"/>
                </a:tc>
                <a:tc>
                  <a:txBody>
                    <a:bodyPr/>
                    <a:lstStyle/>
                    <a:p>
                      <a:pPr>
                        <a:buNone/>
                      </a:pPr>
                      <a:r>
                        <a:rPr lang="en-US"/>
                        <a:t>OS thread</a:t>
                      </a:r>
                    </a:p>
                  </a:txBody>
                  <a:tcPr anchor="ctr"/>
                </a:tc>
                <a:tc>
                  <a:txBody>
                    <a:bodyPr/>
                    <a:lstStyle/>
                    <a:p>
                      <a:pPr>
                        <a:buNone/>
                      </a:pPr>
                      <a:r>
                        <a:rPr lang="en-US"/>
                        <a:t>JVM scheduler</a:t>
                      </a:r>
                    </a:p>
                  </a:txBody>
                  <a:tcPr anchor="ctr"/>
                </a:tc>
                <a:extLst>
                  <a:ext uri="{0D108BD9-81ED-4DB2-BD59-A6C34878D82A}">
                    <a16:rowId xmlns:a16="http://schemas.microsoft.com/office/drawing/2014/main" val="1960198319"/>
                  </a:ext>
                </a:extLst>
              </a:tr>
              <a:tr h="0">
                <a:tc>
                  <a:txBody>
                    <a:bodyPr/>
                    <a:lstStyle/>
                    <a:p>
                      <a:pPr>
                        <a:buNone/>
                      </a:pPr>
                      <a:r>
                        <a:rPr lang="en-US"/>
                        <a:t>Creation cost</a:t>
                      </a:r>
                    </a:p>
                  </a:txBody>
                  <a:tcPr anchor="ctr"/>
                </a:tc>
                <a:tc>
                  <a:txBody>
                    <a:bodyPr/>
                    <a:lstStyle/>
                    <a:p>
                      <a:pPr>
                        <a:buNone/>
                      </a:pPr>
                      <a:r>
                        <a:rPr lang="en-US"/>
                        <a:t>Expensive</a:t>
                      </a:r>
                    </a:p>
                  </a:txBody>
                  <a:tcPr anchor="ctr"/>
                </a:tc>
                <a:tc>
                  <a:txBody>
                    <a:bodyPr/>
                    <a:lstStyle/>
                    <a:p>
                      <a:pPr>
                        <a:buNone/>
                      </a:pPr>
                      <a:r>
                        <a:rPr lang="en-US"/>
                        <a:t>Very cheap</a:t>
                      </a:r>
                    </a:p>
                  </a:txBody>
                  <a:tcPr anchor="ctr"/>
                </a:tc>
                <a:extLst>
                  <a:ext uri="{0D108BD9-81ED-4DB2-BD59-A6C34878D82A}">
                    <a16:rowId xmlns:a16="http://schemas.microsoft.com/office/drawing/2014/main" val="1658156294"/>
                  </a:ext>
                </a:extLst>
              </a:tr>
              <a:tr h="0">
                <a:tc>
                  <a:txBody>
                    <a:bodyPr/>
                    <a:lstStyle/>
                    <a:p>
                      <a:pPr>
                        <a:buNone/>
                      </a:pPr>
                      <a:r>
                        <a:rPr lang="en-US"/>
                        <a:t>Count</a:t>
                      </a:r>
                    </a:p>
                  </a:txBody>
                  <a:tcPr anchor="ctr"/>
                </a:tc>
                <a:tc>
                  <a:txBody>
                    <a:bodyPr/>
                    <a:lstStyle/>
                    <a:p>
                      <a:pPr>
                        <a:buNone/>
                      </a:pPr>
                      <a:r>
                        <a:rPr lang="en-US"/>
                        <a:t>Hundreds / thousands</a:t>
                      </a:r>
                    </a:p>
                  </a:txBody>
                  <a:tcPr anchor="ctr"/>
                </a:tc>
                <a:tc>
                  <a:txBody>
                    <a:bodyPr/>
                    <a:lstStyle/>
                    <a:p>
                      <a:pPr>
                        <a:buNone/>
                      </a:pPr>
                      <a:r>
                        <a:rPr lang="en-US"/>
                        <a:t>Millions</a:t>
                      </a:r>
                    </a:p>
                  </a:txBody>
                  <a:tcPr anchor="ctr"/>
                </a:tc>
                <a:extLst>
                  <a:ext uri="{0D108BD9-81ED-4DB2-BD59-A6C34878D82A}">
                    <a16:rowId xmlns:a16="http://schemas.microsoft.com/office/drawing/2014/main" val="3741193912"/>
                  </a:ext>
                </a:extLst>
              </a:tr>
              <a:tr h="0">
                <a:tc>
                  <a:txBody>
                    <a:bodyPr/>
                    <a:lstStyle/>
                    <a:p>
                      <a:pPr>
                        <a:buNone/>
                      </a:pPr>
                      <a:r>
                        <a:rPr lang="en-US"/>
                        <a:t>Blocking</a:t>
                      </a:r>
                    </a:p>
                  </a:txBody>
                  <a:tcPr anchor="ctr"/>
                </a:tc>
                <a:tc>
                  <a:txBody>
                    <a:bodyPr/>
                    <a:lstStyle/>
                    <a:p>
                      <a:pPr>
                        <a:buNone/>
                      </a:pPr>
                      <a:r>
                        <a:rPr lang="en-US" dirty="0"/>
                        <a:t>Wastes OS thread</a:t>
                      </a:r>
                    </a:p>
                  </a:txBody>
                  <a:tcPr anchor="ctr"/>
                </a:tc>
                <a:tc>
                  <a:txBody>
                    <a:bodyPr/>
                    <a:lstStyle/>
                    <a:p>
                      <a:pPr>
                        <a:buNone/>
                      </a:pPr>
                      <a:r>
                        <a:rPr lang="en-US" dirty="0"/>
                        <a:t>JVM parks it</a:t>
                      </a:r>
                    </a:p>
                  </a:txBody>
                  <a:tcPr anchor="ctr"/>
                </a:tc>
                <a:extLst>
                  <a:ext uri="{0D108BD9-81ED-4DB2-BD59-A6C34878D82A}">
                    <a16:rowId xmlns:a16="http://schemas.microsoft.com/office/drawing/2014/main" val="825593794"/>
                  </a:ext>
                </a:extLst>
              </a:tr>
              <a:tr h="0">
                <a:tc>
                  <a:txBody>
                    <a:bodyPr/>
                    <a:lstStyle/>
                    <a:p>
                      <a:pPr>
                        <a:buNone/>
                      </a:pPr>
                      <a:r>
                        <a:rPr lang="en-US"/>
                        <a:t>Used in</a:t>
                      </a:r>
                    </a:p>
                  </a:txBody>
                  <a:tcPr anchor="ctr"/>
                </a:tc>
                <a:tc>
                  <a:txBody>
                    <a:bodyPr/>
                    <a:lstStyle/>
                    <a:p>
                      <a:pPr>
                        <a:buNone/>
                      </a:pPr>
                      <a:r>
                        <a:rPr lang="en-US"/>
                        <a:t>Java since day 1</a:t>
                      </a:r>
                    </a:p>
                  </a:txBody>
                  <a:tcPr anchor="ctr"/>
                </a:tc>
                <a:tc>
                  <a:txBody>
                    <a:bodyPr/>
                    <a:lstStyle/>
                    <a:p>
                      <a:pPr>
                        <a:buNone/>
                      </a:pPr>
                      <a:r>
                        <a:rPr lang="en-US" dirty="0"/>
                        <a:t>Java 19 (Loom)</a:t>
                      </a:r>
                    </a:p>
                  </a:txBody>
                  <a:tcPr anchor="ctr"/>
                </a:tc>
                <a:extLst>
                  <a:ext uri="{0D108BD9-81ED-4DB2-BD59-A6C34878D82A}">
                    <a16:rowId xmlns:a16="http://schemas.microsoft.com/office/drawing/2014/main" val="921594108"/>
                  </a:ext>
                </a:extLst>
              </a:tr>
            </a:tbl>
          </a:graphicData>
        </a:graphic>
      </p:graphicFrame>
    </p:spTree>
    <p:extLst>
      <p:ext uri="{BB962C8B-B14F-4D97-AF65-F5344CB8AC3E}">
        <p14:creationId xmlns:p14="http://schemas.microsoft.com/office/powerpoint/2010/main" val="33553632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15C57-8518-45A1-C049-429E0AF9088D}"/>
              </a:ext>
            </a:extLst>
          </p:cNvPr>
          <p:cNvSpPr>
            <a:spLocks noGrp="1"/>
          </p:cNvSpPr>
          <p:nvPr>
            <p:ph type="title"/>
          </p:nvPr>
        </p:nvSpPr>
        <p:spPr/>
        <p:txBody>
          <a:bodyPr/>
          <a:lstStyle/>
          <a:p>
            <a:r>
              <a:rPr lang="en-IN" b="1" dirty="0"/>
              <a:t>Why do we need Virtual Threads ?</a:t>
            </a:r>
            <a:endParaRPr lang="en-US" b="1" dirty="0"/>
          </a:p>
        </p:txBody>
      </p:sp>
      <p:sp>
        <p:nvSpPr>
          <p:cNvPr id="4" name="Rectangle 3">
            <a:extLst>
              <a:ext uri="{FF2B5EF4-FFF2-40B4-BE49-F238E27FC236}">
                <a16:creationId xmlns:a16="http://schemas.microsoft.com/office/drawing/2014/main" id="{D6AED4B4-54D3-1180-734A-F8376F9AD528}"/>
              </a:ext>
            </a:extLst>
          </p:cNvPr>
          <p:cNvSpPr/>
          <p:nvPr/>
        </p:nvSpPr>
        <p:spPr>
          <a:xfrm>
            <a:off x="838200" y="1690688"/>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16 GB RAM</a:t>
            </a:r>
            <a:endParaRPr lang="en-US" dirty="0"/>
          </a:p>
        </p:txBody>
      </p:sp>
      <p:sp>
        <p:nvSpPr>
          <p:cNvPr id="5" name="TextBox 4">
            <a:extLst>
              <a:ext uri="{FF2B5EF4-FFF2-40B4-BE49-F238E27FC236}">
                <a16:creationId xmlns:a16="http://schemas.microsoft.com/office/drawing/2014/main" id="{6E5CD21B-8757-3F3D-D506-FB1CB3BF7975}"/>
              </a:ext>
            </a:extLst>
          </p:cNvPr>
          <p:cNvSpPr txBox="1"/>
          <p:nvPr/>
        </p:nvSpPr>
        <p:spPr>
          <a:xfrm>
            <a:off x="1939544" y="1690688"/>
            <a:ext cx="1843966" cy="369332"/>
          </a:xfrm>
          <a:prstGeom prst="rect">
            <a:avLst/>
          </a:prstGeom>
          <a:noFill/>
        </p:spPr>
        <p:txBody>
          <a:bodyPr wrap="none" rtlCol="0">
            <a:spAutoFit/>
          </a:bodyPr>
          <a:lstStyle/>
          <a:p>
            <a:r>
              <a:rPr lang="en-IN" dirty="0"/>
              <a:t>1 Thread = 20 MB</a:t>
            </a:r>
            <a:endParaRPr lang="en-US" dirty="0"/>
          </a:p>
        </p:txBody>
      </p:sp>
      <p:sp>
        <p:nvSpPr>
          <p:cNvPr id="6" name="TextBox 5">
            <a:extLst>
              <a:ext uri="{FF2B5EF4-FFF2-40B4-BE49-F238E27FC236}">
                <a16:creationId xmlns:a16="http://schemas.microsoft.com/office/drawing/2014/main" id="{6EA96496-0E55-6B77-469B-170FEA12A196}"/>
              </a:ext>
            </a:extLst>
          </p:cNvPr>
          <p:cNvSpPr txBox="1"/>
          <p:nvPr/>
        </p:nvSpPr>
        <p:spPr>
          <a:xfrm>
            <a:off x="1939544" y="2145856"/>
            <a:ext cx="4696863" cy="369332"/>
          </a:xfrm>
          <a:prstGeom prst="rect">
            <a:avLst/>
          </a:prstGeom>
          <a:noFill/>
        </p:spPr>
        <p:txBody>
          <a:bodyPr wrap="none" rtlCol="0">
            <a:spAutoFit/>
          </a:bodyPr>
          <a:lstStyle/>
          <a:p>
            <a:r>
              <a:rPr lang="en-IN" dirty="0"/>
              <a:t>I can create around 800 Threads. (16 *1024 /20)</a:t>
            </a:r>
            <a:endParaRPr lang="en-US" dirty="0"/>
          </a:p>
        </p:txBody>
      </p:sp>
      <p:sp>
        <p:nvSpPr>
          <p:cNvPr id="7" name="TextBox 6">
            <a:extLst>
              <a:ext uri="{FF2B5EF4-FFF2-40B4-BE49-F238E27FC236}">
                <a16:creationId xmlns:a16="http://schemas.microsoft.com/office/drawing/2014/main" id="{4485B40E-D4FE-5A81-286E-AE4BD23F1D89}"/>
              </a:ext>
            </a:extLst>
          </p:cNvPr>
          <p:cNvSpPr txBox="1"/>
          <p:nvPr/>
        </p:nvSpPr>
        <p:spPr>
          <a:xfrm>
            <a:off x="1939544" y="2601024"/>
            <a:ext cx="3942426" cy="369332"/>
          </a:xfrm>
          <a:prstGeom prst="rect">
            <a:avLst/>
          </a:prstGeom>
          <a:noFill/>
        </p:spPr>
        <p:txBody>
          <a:bodyPr wrap="none" rtlCol="0">
            <a:spAutoFit/>
          </a:bodyPr>
          <a:lstStyle/>
          <a:p>
            <a:r>
              <a:rPr lang="en-IN" dirty="0"/>
              <a:t>Single request processing time = 100 </a:t>
            </a:r>
            <a:r>
              <a:rPr lang="en-IN" dirty="0" err="1"/>
              <a:t>ms</a:t>
            </a:r>
            <a:endParaRPr lang="en-US" dirty="0"/>
          </a:p>
        </p:txBody>
      </p:sp>
      <p:sp>
        <p:nvSpPr>
          <p:cNvPr id="11" name="Rectangle 10">
            <a:extLst>
              <a:ext uri="{FF2B5EF4-FFF2-40B4-BE49-F238E27FC236}">
                <a16:creationId xmlns:a16="http://schemas.microsoft.com/office/drawing/2014/main" id="{98FEEB8D-B73B-A1E7-87D7-CE0D8E954CEE}"/>
              </a:ext>
            </a:extLst>
          </p:cNvPr>
          <p:cNvSpPr/>
          <p:nvPr/>
        </p:nvSpPr>
        <p:spPr>
          <a:xfrm>
            <a:off x="834210" y="3060192"/>
            <a:ext cx="1843966" cy="9469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Request Preparation </a:t>
            </a:r>
            <a:br>
              <a:rPr lang="en-IN" dirty="0"/>
            </a:br>
            <a:r>
              <a:rPr lang="en-IN" dirty="0"/>
              <a:t>0.1 </a:t>
            </a:r>
            <a:r>
              <a:rPr lang="en-IN" dirty="0" err="1"/>
              <a:t>ms</a:t>
            </a:r>
            <a:endParaRPr lang="en-US" dirty="0"/>
          </a:p>
        </p:txBody>
      </p:sp>
      <p:sp>
        <p:nvSpPr>
          <p:cNvPr id="15" name="Rectangle 14">
            <a:extLst>
              <a:ext uri="{FF2B5EF4-FFF2-40B4-BE49-F238E27FC236}">
                <a16:creationId xmlns:a16="http://schemas.microsoft.com/office/drawing/2014/main" id="{87203939-3514-5EE8-9C75-73652F8C7DF1}"/>
              </a:ext>
            </a:extLst>
          </p:cNvPr>
          <p:cNvSpPr/>
          <p:nvPr/>
        </p:nvSpPr>
        <p:spPr>
          <a:xfrm>
            <a:off x="2678176" y="3060192"/>
            <a:ext cx="3417824" cy="9469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IO (</a:t>
            </a:r>
            <a:r>
              <a:rPr lang="en-IN" dirty="0" err="1"/>
              <a:t>Database,Disk</a:t>
            </a:r>
            <a:r>
              <a:rPr lang="en-IN" dirty="0"/>
              <a:t>) Operations </a:t>
            </a:r>
          </a:p>
          <a:p>
            <a:pPr algn="ctr"/>
            <a:r>
              <a:rPr lang="en-IN" dirty="0"/>
              <a:t>100 </a:t>
            </a:r>
            <a:r>
              <a:rPr lang="en-IN" dirty="0" err="1"/>
              <a:t>ms</a:t>
            </a:r>
            <a:endParaRPr lang="en-US" dirty="0"/>
          </a:p>
        </p:txBody>
      </p:sp>
      <p:sp>
        <p:nvSpPr>
          <p:cNvPr id="17" name="Rectangle 16">
            <a:extLst>
              <a:ext uri="{FF2B5EF4-FFF2-40B4-BE49-F238E27FC236}">
                <a16:creationId xmlns:a16="http://schemas.microsoft.com/office/drawing/2014/main" id="{D08B252F-3B80-CC21-0359-645CCC5CDF22}"/>
              </a:ext>
            </a:extLst>
          </p:cNvPr>
          <p:cNvSpPr/>
          <p:nvPr/>
        </p:nvSpPr>
        <p:spPr>
          <a:xfrm>
            <a:off x="6096000" y="3060192"/>
            <a:ext cx="1843966" cy="9469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Response Preparation </a:t>
            </a:r>
            <a:br>
              <a:rPr lang="en-IN" dirty="0"/>
            </a:br>
            <a:r>
              <a:rPr lang="en-IN" dirty="0"/>
              <a:t>0.1 </a:t>
            </a:r>
            <a:r>
              <a:rPr lang="en-IN" dirty="0" err="1"/>
              <a:t>ms</a:t>
            </a:r>
            <a:endParaRPr lang="en-US" dirty="0"/>
          </a:p>
        </p:txBody>
      </p:sp>
      <p:sp>
        <p:nvSpPr>
          <p:cNvPr id="18" name="TextBox 17">
            <a:extLst>
              <a:ext uri="{FF2B5EF4-FFF2-40B4-BE49-F238E27FC236}">
                <a16:creationId xmlns:a16="http://schemas.microsoft.com/office/drawing/2014/main" id="{325A94DA-C91A-CF59-1CB9-A863088F7186}"/>
              </a:ext>
            </a:extLst>
          </p:cNvPr>
          <p:cNvSpPr txBox="1"/>
          <p:nvPr/>
        </p:nvSpPr>
        <p:spPr>
          <a:xfrm>
            <a:off x="8294624" y="3060192"/>
            <a:ext cx="2546979" cy="369332"/>
          </a:xfrm>
          <a:prstGeom prst="rect">
            <a:avLst/>
          </a:prstGeom>
          <a:noFill/>
        </p:spPr>
        <p:txBody>
          <a:bodyPr wrap="none" rtlCol="0">
            <a:spAutoFit/>
          </a:bodyPr>
          <a:lstStyle/>
          <a:p>
            <a:r>
              <a:rPr lang="en-IN" dirty="0"/>
              <a:t>800 Concurrent Requests</a:t>
            </a:r>
            <a:endParaRPr lang="en-US" dirty="0"/>
          </a:p>
        </p:txBody>
      </p:sp>
      <p:sp>
        <p:nvSpPr>
          <p:cNvPr id="19" name="TextBox 18">
            <a:extLst>
              <a:ext uri="{FF2B5EF4-FFF2-40B4-BE49-F238E27FC236}">
                <a16:creationId xmlns:a16="http://schemas.microsoft.com/office/drawing/2014/main" id="{3E7E0E4F-DA37-0C95-048C-E321AB17A85F}"/>
              </a:ext>
            </a:extLst>
          </p:cNvPr>
          <p:cNvSpPr txBox="1"/>
          <p:nvPr/>
        </p:nvSpPr>
        <p:spPr>
          <a:xfrm>
            <a:off x="8294624" y="3584448"/>
            <a:ext cx="2164375" cy="369332"/>
          </a:xfrm>
          <a:prstGeom prst="rect">
            <a:avLst/>
          </a:prstGeom>
          <a:noFill/>
        </p:spPr>
        <p:txBody>
          <a:bodyPr wrap="none" rtlCol="0">
            <a:spAutoFit/>
          </a:bodyPr>
          <a:lstStyle/>
          <a:p>
            <a:r>
              <a:rPr lang="en-IN" dirty="0"/>
              <a:t>1 Request = 1 Thread</a:t>
            </a:r>
            <a:endParaRPr lang="en-US" dirty="0"/>
          </a:p>
        </p:txBody>
      </p:sp>
      <p:sp>
        <p:nvSpPr>
          <p:cNvPr id="20" name="TextBox 19">
            <a:extLst>
              <a:ext uri="{FF2B5EF4-FFF2-40B4-BE49-F238E27FC236}">
                <a16:creationId xmlns:a16="http://schemas.microsoft.com/office/drawing/2014/main" id="{7B07A68A-D021-E27D-EA26-C12459DBB02F}"/>
              </a:ext>
            </a:extLst>
          </p:cNvPr>
          <p:cNvSpPr txBox="1"/>
          <p:nvPr/>
        </p:nvSpPr>
        <p:spPr>
          <a:xfrm>
            <a:off x="987552" y="4425696"/>
            <a:ext cx="4462440" cy="369332"/>
          </a:xfrm>
          <a:prstGeom prst="rect">
            <a:avLst/>
          </a:prstGeom>
          <a:noFill/>
        </p:spPr>
        <p:txBody>
          <a:bodyPr wrap="none" rtlCol="0">
            <a:spAutoFit/>
          </a:bodyPr>
          <a:lstStyle/>
          <a:p>
            <a:r>
              <a:rPr lang="en-IN" dirty="0"/>
              <a:t>Total CPU time for processing single request =</a:t>
            </a:r>
            <a:endParaRPr lang="en-US" dirty="0"/>
          </a:p>
        </p:txBody>
      </p:sp>
      <p:sp>
        <p:nvSpPr>
          <p:cNvPr id="21" name="TextBox 20">
            <a:extLst>
              <a:ext uri="{FF2B5EF4-FFF2-40B4-BE49-F238E27FC236}">
                <a16:creationId xmlns:a16="http://schemas.microsoft.com/office/drawing/2014/main" id="{E7E399B9-2EFE-B401-4F65-1B40AA6B622E}"/>
              </a:ext>
            </a:extLst>
          </p:cNvPr>
          <p:cNvSpPr txBox="1"/>
          <p:nvPr/>
        </p:nvSpPr>
        <p:spPr>
          <a:xfrm>
            <a:off x="5394721" y="4425696"/>
            <a:ext cx="2483372" cy="369332"/>
          </a:xfrm>
          <a:prstGeom prst="rect">
            <a:avLst/>
          </a:prstGeom>
          <a:noFill/>
        </p:spPr>
        <p:txBody>
          <a:bodyPr wrap="none" rtlCol="0">
            <a:spAutoFit/>
          </a:bodyPr>
          <a:lstStyle/>
          <a:p>
            <a:r>
              <a:rPr lang="en-IN" dirty="0"/>
              <a:t>0.1 </a:t>
            </a:r>
            <a:r>
              <a:rPr lang="en-IN" dirty="0" err="1"/>
              <a:t>ms</a:t>
            </a:r>
            <a:r>
              <a:rPr lang="en-IN" dirty="0"/>
              <a:t> + 0.1 </a:t>
            </a:r>
            <a:r>
              <a:rPr lang="en-IN" dirty="0" err="1"/>
              <a:t>ms</a:t>
            </a:r>
            <a:r>
              <a:rPr lang="en-IN" dirty="0"/>
              <a:t> = 0.2 </a:t>
            </a:r>
            <a:r>
              <a:rPr lang="en-IN" dirty="0" err="1"/>
              <a:t>ms</a:t>
            </a:r>
            <a:endParaRPr lang="en-US" dirty="0"/>
          </a:p>
        </p:txBody>
      </p:sp>
      <p:sp>
        <p:nvSpPr>
          <p:cNvPr id="22" name="TextBox 21">
            <a:extLst>
              <a:ext uri="{FF2B5EF4-FFF2-40B4-BE49-F238E27FC236}">
                <a16:creationId xmlns:a16="http://schemas.microsoft.com/office/drawing/2014/main" id="{F3C5DD09-C63D-93FF-7FE9-12179D73BB2E}"/>
              </a:ext>
            </a:extLst>
          </p:cNvPr>
          <p:cNvSpPr txBox="1"/>
          <p:nvPr/>
        </p:nvSpPr>
        <p:spPr>
          <a:xfrm>
            <a:off x="987552" y="4822610"/>
            <a:ext cx="4609660" cy="369332"/>
          </a:xfrm>
          <a:prstGeom prst="rect">
            <a:avLst/>
          </a:prstGeom>
          <a:noFill/>
        </p:spPr>
        <p:txBody>
          <a:bodyPr wrap="none" rtlCol="0">
            <a:spAutoFit/>
          </a:bodyPr>
          <a:lstStyle/>
          <a:p>
            <a:r>
              <a:rPr lang="en-IN" dirty="0"/>
              <a:t>Total Requests are 800 = 800 * 0.2 </a:t>
            </a:r>
            <a:r>
              <a:rPr lang="en-IN" dirty="0" err="1"/>
              <a:t>ms</a:t>
            </a:r>
            <a:r>
              <a:rPr lang="en-IN" dirty="0"/>
              <a:t> = 160 </a:t>
            </a:r>
            <a:r>
              <a:rPr lang="en-IN" dirty="0" err="1"/>
              <a:t>ms</a:t>
            </a:r>
            <a:endParaRPr lang="en-US" dirty="0"/>
          </a:p>
        </p:txBody>
      </p:sp>
      <p:sp>
        <p:nvSpPr>
          <p:cNvPr id="23" name="TextBox 22">
            <a:extLst>
              <a:ext uri="{FF2B5EF4-FFF2-40B4-BE49-F238E27FC236}">
                <a16:creationId xmlns:a16="http://schemas.microsoft.com/office/drawing/2014/main" id="{D8FDEDB0-8815-DE68-A3C0-67541FDC553F}"/>
              </a:ext>
            </a:extLst>
          </p:cNvPr>
          <p:cNvSpPr txBox="1"/>
          <p:nvPr/>
        </p:nvSpPr>
        <p:spPr>
          <a:xfrm>
            <a:off x="987552" y="5213620"/>
            <a:ext cx="5033879" cy="369332"/>
          </a:xfrm>
          <a:prstGeom prst="rect">
            <a:avLst/>
          </a:prstGeom>
          <a:noFill/>
        </p:spPr>
        <p:txBody>
          <a:bodyPr wrap="none" rtlCol="0">
            <a:spAutoFit/>
          </a:bodyPr>
          <a:lstStyle/>
          <a:p>
            <a:r>
              <a:rPr lang="en-IN" dirty="0"/>
              <a:t>CPU utilization of 1 second = 160 </a:t>
            </a:r>
            <a:r>
              <a:rPr lang="en-IN" dirty="0" err="1"/>
              <a:t>ms</a:t>
            </a:r>
            <a:r>
              <a:rPr lang="en-IN" dirty="0"/>
              <a:t> / 1000 </a:t>
            </a:r>
            <a:r>
              <a:rPr lang="en-IN" dirty="0" err="1"/>
              <a:t>ms</a:t>
            </a:r>
            <a:r>
              <a:rPr lang="en-IN" dirty="0"/>
              <a:t> = 16</a:t>
            </a:r>
            <a:endParaRPr lang="en-US" dirty="0"/>
          </a:p>
        </p:txBody>
      </p:sp>
      <p:sp>
        <p:nvSpPr>
          <p:cNvPr id="24" name="TextBox 23">
            <a:extLst>
              <a:ext uri="{FF2B5EF4-FFF2-40B4-BE49-F238E27FC236}">
                <a16:creationId xmlns:a16="http://schemas.microsoft.com/office/drawing/2014/main" id="{2CE214AF-C028-7959-A030-3A83E44BD6B9}"/>
              </a:ext>
            </a:extLst>
          </p:cNvPr>
          <p:cNvSpPr txBox="1"/>
          <p:nvPr/>
        </p:nvSpPr>
        <p:spPr>
          <a:xfrm>
            <a:off x="1020064" y="5647484"/>
            <a:ext cx="2174441" cy="369332"/>
          </a:xfrm>
          <a:prstGeom prst="rect">
            <a:avLst/>
          </a:prstGeom>
          <a:noFill/>
        </p:spPr>
        <p:txBody>
          <a:bodyPr wrap="none" rtlCol="0">
            <a:spAutoFit/>
          </a:bodyPr>
          <a:lstStyle/>
          <a:p>
            <a:r>
              <a:rPr lang="en-IN" dirty="0"/>
              <a:t>CPU utilization = 16%</a:t>
            </a:r>
            <a:endParaRPr lang="en-US" dirty="0"/>
          </a:p>
        </p:txBody>
      </p:sp>
      <p:sp>
        <p:nvSpPr>
          <p:cNvPr id="25" name="TextBox 24">
            <a:extLst>
              <a:ext uri="{FF2B5EF4-FFF2-40B4-BE49-F238E27FC236}">
                <a16:creationId xmlns:a16="http://schemas.microsoft.com/office/drawing/2014/main" id="{45032AE4-6E53-C691-4EED-A3E1EB07F9F0}"/>
              </a:ext>
            </a:extLst>
          </p:cNvPr>
          <p:cNvSpPr txBox="1"/>
          <p:nvPr/>
        </p:nvSpPr>
        <p:spPr>
          <a:xfrm>
            <a:off x="1020064" y="6071252"/>
            <a:ext cx="5097229" cy="369332"/>
          </a:xfrm>
          <a:prstGeom prst="rect">
            <a:avLst/>
          </a:prstGeom>
          <a:noFill/>
        </p:spPr>
        <p:txBody>
          <a:bodyPr wrap="none" rtlCol="0">
            <a:spAutoFit/>
          </a:bodyPr>
          <a:lstStyle/>
          <a:p>
            <a:r>
              <a:rPr lang="en-IN" dirty="0"/>
              <a:t>We are not optimally utilizing the CPU to its capacity</a:t>
            </a:r>
            <a:endParaRPr lang="en-US" dirty="0"/>
          </a:p>
        </p:txBody>
      </p:sp>
    </p:spTree>
    <p:extLst>
      <p:ext uri="{BB962C8B-B14F-4D97-AF65-F5344CB8AC3E}">
        <p14:creationId xmlns:p14="http://schemas.microsoft.com/office/powerpoint/2010/main" val="1511857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P spid="11" grpId="0" animBg="1"/>
      <p:bldP spid="15" grpId="0" animBg="1"/>
      <p:bldP spid="17" grpId="0" animBg="1"/>
      <p:bldP spid="18" grpId="0"/>
      <p:bldP spid="19" grpId="0"/>
      <p:bldP spid="20" grpId="0"/>
      <p:bldP spid="21" grpId="0"/>
      <p:bldP spid="22" grpId="0"/>
      <p:bldP spid="23" grpId="0"/>
      <p:bldP spid="24" grpId="0"/>
      <p:bldP spid="2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24D22-E20B-3D73-EFB1-CE421FDED51E}"/>
              </a:ext>
            </a:extLst>
          </p:cNvPr>
          <p:cNvSpPr>
            <a:spLocks noGrp="1"/>
          </p:cNvSpPr>
          <p:nvPr>
            <p:ph type="title"/>
          </p:nvPr>
        </p:nvSpPr>
        <p:spPr/>
        <p:txBody>
          <a:bodyPr/>
          <a:lstStyle/>
          <a:p>
            <a:r>
              <a:rPr lang="en-IN" b="1" dirty="0"/>
              <a:t>Why do we need Virtual Threads ?</a:t>
            </a:r>
            <a:endParaRPr lang="en-US" b="1" dirty="0"/>
          </a:p>
        </p:txBody>
      </p:sp>
      <p:sp>
        <p:nvSpPr>
          <p:cNvPr id="4" name="TextBox 3">
            <a:extLst>
              <a:ext uri="{FF2B5EF4-FFF2-40B4-BE49-F238E27FC236}">
                <a16:creationId xmlns:a16="http://schemas.microsoft.com/office/drawing/2014/main" id="{65409872-6E94-A33F-55D9-27FABF2429F4}"/>
              </a:ext>
            </a:extLst>
          </p:cNvPr>
          <p:cNvSpPr txBox="1"/>
          <p:nvPr/>
        </p:nvSpPr>
        <p:spPr>
          <a:xfrm>
            <a:off x="999744" y="1836928"/>
            <a:ext cx="1957780" cy="369332"/>
          </a:xfrm>
          <a:prstGeom prst="rect">
            <a:avLst/>
          </a:prstGeom>
          <a:noFill/>
        </p:spPr>
        <p:txBody>
          <a:bodyPr wrap="none" rtlCol="0">
            <a:spAutoFit/>
          </a:bodyPr>
          <a:lstStyle/>
          <a:p>
            <a:r>
              <a:rPr lang="en-IN" dirty="0"/>
              <a:t>16% = 800 Threads</a:t>
            </a:r>
            <a:endParaRPr lang="en-US" dirty="0"/>
          </a:p>
        </p:txBody>
      </p:sp>
      <p:sp>
        <p:nvSpPr>
          <p:cNvPr id="5" name="TextBox 4">
            <a:extLst>
              <a:ext uri="{FF2B5EF4-FFF2-40B4-BE49-F238E27FC236}">
                <a16:creationId xmlns:a16="http://schemas.microsoft.com/office/drawing/2014/main" id="{9362623A-CE60-3251-D910-A40AF6CCF1A6}"/>
              </a:ext>
            </a:extLst>
          </p:cNvPr>
          <p:cNvSpPr txBox="1"/>
          <p:nvPr/>
        </p:nvSpPr>
        <p:spPr>
          <a:xfrm>
            <a:off x="999744" y="2271776"/>
            <a:ext cx="6549935" cy="369332"/>
          </a:xfrm>
          <a:prstGeom prst="rect">
            <a:avLst/>
          </a:prstGeom>
          <a:noFill/>
        </p:spPr>
        <p:txBody>
          <a:bodyPr wrap="none" rtlCol="0">
            <a:spAutoFit/>
          </a:bodyPr>
          <a:lstStyle/>
          <a:p>
            <a:r>
              <a:rPr lang="en-IN" dirty="0"/>
              <a:t>How many threads do we need to create in order to utilize 90% CPU</a:t>
            </a:r>
            <a:endParaRPr lang="en-US" dirty="0"/>
          </a:p>
        </p:txBody>
      </p:sp>
      <p:sp>
        <p:nvSpPr>
          <p:cNvPr id="6" name="TextBox 5">
            <a:extLst>
              <a:ext uri="{FF2B5EF4-FFF2-40B4-BE49-F238E27FC236}">
                <a16:creationId xmlns:a16="http://schemas.microsoft.com/office/drawing/2014/main" id="{25FFE8B7-ED5F-CC9A-1A34-27212976BE6C}"/>
              </a:ext>
            </a:extLst>
          </p:cNvPr>
          <p:cNvSpPr txBox="1"/>
          <p:nvPr/>
        </p:nvSpPr>
        <p:spPr>
          <a:xfrm>
            <a:off x="999744" y="2706132"/>
            <a:ext cx="5738238" cy="369332"/>
          </a:xfrm>
          <a:prstGeom prst="rect">
            <a:avLst/>
          </a:prstGeom>
          <a:noFill/>
        </p:spPr>
        <p:txBody>
          <a:bodyPr wrap="none" rtlCol="0">
            <a:spAutoFit/>
          </a:bodyPr>
          <a:lstStyle/>
          <a:p>
            <a:r>
              <a:rPr lang="en-IN" dirty="0"/>
              <a:t>Number of threads required = 800 * 90 / 16 = 4500 threads</a:t>
            </a:r>
            <a:endParaRPr lang="en-US" dirty="0"/>
          </a:p>
        </p:txBody>
      </p:sp>
      <p:sp>
        <p:nvSpPr>
          <p:cNvPr id="7" name="TextBox 6">
            <a:extLst>
              <a:ext uri="{FF2B5EF4-FFF2-40B4-BE49-F238E27FC236}">
                <a16:creationId xmlns:a16="http://schemas.microsoft.com/office/drawing/2014/main" id="{EB419202-4E22-FFBB-7FF6-E9DC4339DE09}"/>
              </a:ext>
            </a:extLst>
          </p:cNvPr>
          <p:cNvSpPr txBox="1"/>
          <p:nvPr/>
        </p:nvSpPr>
        <p:spPr>
          <a:xfrm>
            <a:off x="999744" y="3140488"/>
            <a:ext cx="5623078" cy="369332"/>
          </a:xfrm>
          <a:prstGeom prst="rect">
            <a:avLst/>
          </a:prstGeom>
          <a:noFill/>
        </p:spPr>
        <p:txBody>
          <a:bodyPr wrap="none" rtlCol="0">
            <a:spAutoFit/>
          </a:bodyPr>
          <a:lstStyle/>
          <a:p>
            <a:r>
              <a:rPr lang="en-IN" dirty="0"/>
              <a:t>How much RAM is required for same = 4500 * 20 = 90 GB</a:t>
            </a:r>
            <a:endParaRPr lang="en-US" dirty="0"/>
          </a:p>
        </p:txBody>
      </p:sp>
    </p:spTree>
    <p:extLst>
      <p:ext uri="{BB962C8B-B14F-4D97-AF65-F5344CB8AC3E}">
        <p14:creationId xmlns:p14="http://schemas.microsoft.com/office/powerpoint/2010/main" val="1451238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C9DAD-7E5F-9911-7809-9D642D7F577B}"/>
              </a:ext>
            </a:extLst>
          </p:cNvPr>
          <p:cNvSpPr>
            <a:spLocks noGrp="1"/>
          </p:cNvSpPr>
          <p:nvPr>
            <p:ph type="title"/>
          </p:nvPr>
        </p:nvSpPr>
        <p:spPr/>
        <p:txBody>
          <a:bodyPr/>
          <a:lstStyle/>
          <a:p>
            <a:r>
              <a:rPr lang="en-IN" b="1" dirty="0"/>
              <a:t>Actuator</a:t>
            </a:r>
            <a:endParaRPr lang="en-US" b="1" dirty="0"/>
          </a:p>
        </p:txBody>
      </p:sp>
      <p:sp>
        <p:nvSpPr>
          <p:cNvPr id="3" name="Content Placeholder 2">
            <a:extLst>
              <a:ext uri="{FF2B5EF4-FFF2-40B4-BE49-F238E27FC236}">
                <a16:creationId xmlns:a16="http://schemas.microsoft.com/office/drawing/2014/main" id="{D2F7EC03-AF5A-E8F9-9F8C-104DAEF3F357}"/>
              </a:ext>
            </a:extLst>
          </p:cNvPr>
          <p:cNvSpPr>
            <a:spLocks noGrp="1"/>
          </p:cNvSpPr>
          <p:nvPr>
            <p:ph idx="1"/>
          </p:nvPr>
        </p:nvSpPr>
        <p:spPr/>
        <p:txBody>
          <a:bodyPr/>
          <a:lstStyle/>
          <a:p>
            <a:r>
              <a:rPr lang="en-IN" dirty="0"/>
              <a:t>Spring Boot Actuator provides production-ready endpoints to monitor and manage applications.</a:t>
            </a:r>
          </a:p>
          <a:p>
            <a:r>
              <a:rPr lang="en-IN" dirty="0"/>
              <a:t>What changed in Spring Boot 3</a:t>
            </a:r>
          </a:p>
          <a:p>
            <a:pPr lvl="1"/>
            <a:r>
              <a:rPr lang="en-IN" dirty="0"/>
              <a:t>Better defaults</a:t>
            </a:r>
          </a:p>
          <a:p>
            <a:pPr lvl="1"/>
            <a:r>
              <a:rPr lang="en-IN" dirty="0"/>
              <a:t>Stronger security</a:t>
            </a:r>
          </a:p>
          <a:p>
            <a:pPr lvl="1"/>
            <a:r>
              <a:rPr lang="en-IN" dirty="0"/>
              <a:t>Improved health model</a:t>
            </a:r>
          </a:p>
          <a:p>
            <a:pPr lvl="1"/>
            <a:r>
              <a:rPr lang="en-IN" dirty="0"/>
              <a:t>Observability alignment</a:t>
            </a:r>
          </a:p>
          <a:p>
            <a:r>
              <a:rPr lang="en-IN" dirty="0"/>
              <a:t>Actuator is no longer an afterthought. </a:t>
            </a:r>
            <a:endParaRPr lang="en-US" dirty="0"/>
          </a:p>
        </p:txBody>
      </p:sp>
    </p:spTree>
    <p:extLst>
      <p:ext uri="{BB962C8B-B14F-4D97-AF65-F5344CB8AC3E}">
        <p14:creationId xmlns:p14="http://schemas.microsoft.com/office/powerpoint/2010/main" val="20588204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D2C79-D5F0-8767-C561-A6C7BEECFA85}"/>
              </a:ext>
            </a:extLst>
          </p:cNvPr>
          <p:cNvSpPr>
            <a:spLocks noGrp="1"/>
          </p:cNvSpPr>
          <p:nvPr>
            <p:ph type="title"/>
          </p:nvPr>
        </p:nvSpPr>
        <p:spPr/>
        <p:txBody>
          <a:bodyPr/>
          <a:lstStyle/>
          <a:p>
            <a:r>
              <a:rPr lang="en-IN" b="1" dirty="0"/>
              <a:t>Observability and Monitoring </a:t>
            </a:r>
            <a:endParaRPr lang="en-US" b="1" dirty="0"/>
          </a:p>
        </p:txBody>
      </p:sp>
      <p:sp>
        <p:nvSpPr>
          <p:cNvPr id="3" name="Content Placeholder 2">
            <a:extLst>
              <a:ext uri="{FF2B5EF4-FFF2-40B4-BE49-F238E27FC236}">
                <a16:creationId xmlns:a16="http://schemas.microsoft.com/office/drawing/2014/main" id="{CC8E476A-FA96-7DA6-752B-6AA3E4EE5403}"/>
              </a:ext>
            </a:extLst>
          </p:cNvPr>
          <p:cNvSpPr>
            <a:spLocks noGrp="1"/>
          </p:cNvSpPr>
          <p:nvPr>
            <p:ph idx="1"/>
          </p:nvPr>
        </p:nvSpPr>
        <p:spPr/>
        <p:txBody>
          <a:bodyPr/>
          <a:lstStyle/>
          <a:p>
            <a:r>
              <a:rPr lang="en-IN" dirty="0"/>
              <a:t>Monitoring performance of service calls</a:t>
            </a:r>
          </a:p>
          <a:p>
            <a:pPr lvl="1"/>
            <a:r>
              <a:rPr lang="en-IN" dirty="0"/>
              <a:t>We can track the path of a specific chain service call through our service network and see how long it took to complete at each service.</a:t>
            </a:r>
          </a:p>
          <a:p>
            <a:r>
              <a:rPr lang="en-IN" dirty="0"/>
              <a:t>Monitoring services metrics and health </a:t>
            </a:r>
          </a:p>
          <a:p>
            <a:pPr lvl="1"/>
            <a:r>
              <a:rPr lang="en-IN" dirty="0"/>
              <a:t>We can easily and efficiently monitor the metrics like CPU usage, JVM metrics</a:t>
            </a:r>
          </a:p>
          <a:p>
            <a:pPr lvl="1"/>
            <a:r>
              <a:rPr lang="en-IN" dirty="0"/>
              <a:t>We can monitor the status and health of all our endpoints in a single place and create alerts and notifications for any abnormal behaviour of the services</a:t>
            </a:r>
            <a:endParaRPr lang="en-US" dirty="0"/>
          </a:p>
        </p:txBody>
      </p:sp>
    </p:spTree>
    <p:extLst>
      <p:ext uri="{BB962C8B-B14F-4D97-AF65-F5344CB8AC3E}">
        <p14:creationId xmlns:p14="http://schemas.microsoft.com/office/powerpoint/2010/main" val="1586202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13A2F-1669-1EA2-307A-7BAFE01546A9}"/>
              </a:ext>
            </a:extLst>
          </p:cNvPr>
          <p:cNvSpPr>
            <a:spLocks noGrp="1"/>
          </p:cNvSpPr>
          <p:nvPr>
            <p:ph type="title"/>
          </p:nvPr>
        </p:nvSpPr>
        <p:spPr/>
        <p:txBody>
          <a:bodyPr/>
          <a:lstStyle/>
          <a:p>
            <a:r>
              <a:rPr lang="en-IN" b="1" dirty="0"/>
              <a:t>What is Observability ?</a:t>
            </a:r>
            <a:endParaRPr lang="en-US" b="1" dirty="0"/>
          </a:p>
        </p:txBody>
      </p:sp>
      <p:sp>
        <p:nvSpPr>
          <p:cNvPr id="3" name="Content Placeholder 2">
            <a:extLst>
              <a:ext uri="{FF2B5EF4-FFF2-40B4-BE49-F238E27FC236}">
                <a16:creationId xmlns:a16="http://schemas.microsoft.com/office/drawing/2014/main" id="{9729CBD5-FB33-C6DE-BFC6-84F79795EB18}"/>
              </a:ext>
            </a:extLst>
          </p:cNvPr>
          <p:cNvSpPr>
            <a:spLocks noGrp="1"/>
          </p:cNvSpPr>
          <p:nvPr>
            <p:ph idx="1"/>
          </p:nvPr>
        </p:nvSpPr>
        <p:spPr/>
        <p:txBody>
          <a:bodyPr/>
          <a:lstStyle/>
          <a:p>
            <a:r>
              <a:rPr lang="en-IN" dirty="0"/>
              <a:t>Observability is the ability to understand the internal state of a system by observing its outputs.</a:t>
            </a:r>
          </a:p>
          <a:p>
            <a:r>
              <a:rPr lang="en-IN" dirty="0"/>
              <a:t>In the context of Spring Boot microservices observability is achieved by collecting and analysing data from variety of sources such as metrics logs and traces.</a:t>
            </a:r>
            <a:endParaRPr lang="en-US" dirty="0"/>
          </a:p>
        </p:txBody>
      </p:sp>
    </p:spTree>
    <p:extLst>
      <p:ext uri="{BB962C8B-B14F-4D97-AF65-F5344CB8AC3E}">
        <p14:creationId xmlns:p14="http://schemas.microsoft.com/office/powerpoint/2010/main" val="16511230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00676-C15D-3232-3674-07A125F96604}"/>
              </a:ext>
            </a:extLst>
          </p:cNvPr>
          <p:cNvSpPr>
            <a:spLocks noGrp="1"/>
          </p:cNvSpPr>
          <p:nvPr>
            <p:ph type="title"/>
          </p:nvPr>
        </p:nvSpPr>
        <p:spPr>
          <a:xfrm>
            <a:off x="838200" y="352933"/>
            <a:ext cx="10515600" cy="1325563"/>
          </a:xfrm>
        </p:spPr>
        <p:txBody>
          <a:bodyPr/>
          <a:lstStyle/>
          <a:p>
            <a:r>
              <a:rPr lang="en-IN" b="1" dirty="0"/>
              <a:t>The Three pillars of Observability</a:t>
            </a:r>
            <a:endParaRPr lang="en-US" b="1" dirty="0"/>
          </a:p>
        </p:txBody>
      </p:sp>
      <p:sp>
        <p:nvSpPr>
          <p:cNvPr id="3" name="Content Placeholder 2">
            <a:extLst>
              <a:ext uri="{FF2B5EF4-FFF2-40B4-BE49-F238E27FC236}">
                <a16:creationId xmlns:a16="http://schemas.microsoft.com/office/drawing/2014/main" id="{3217CC98-BB0A-8D2C-ABE0-EBE5D996E597}"/>
              </a:ext>
            </a:extLst>
          </p:cNvPr>
          <p:cNvSpPr>
            <a:spLocks noGrp="1"/>
          </p:cNvSpPr>
          <p:nvPr>
            <p:ph idx="1"/>
          </p:nvPr>
        </p:nvSpPr>
        <p:spPr/>
        <p:txBody>
          <a:bodyPr>
            <a:normAutofit fontScale="92500"/>
          </a:bodyPr>
          <a:lstStyle/>
          <a:p>
            <a:r>
              <a:rPr lang="en-IN" dirty="0"/>
              <a:t>Metrics</a:t>
            </a:r>
          </a:p>
          <a:p>
            <a:pPr lvl="1"/>
            <a:r>
              <a:rPr lang="en-IN" dirty="0"/>
              <a:t>Metrics are quantitative measurements of the health of a system. </a:t>
            </a:r>
          </a:p>
          <a:p>
            <a:pPr lvl="1"/>
            <a:r>
              <a:rPr lang="en-IN" dirty="0"/>
              <a:t>They can be used to track things like CPU usage, memory usage and response time.</a:t>
            </a:r>
          </a:p>
          <a:p>
            <a:r>
              <a:rPr lang="en-IN" dirty="0"/>
              <a:t>Logs</a:t>
            </a:r>
          </a:p>
          <a:p>
            <a:pPr lvl="1"/>
            <a:r>
              <a:rPr lang="en-IN" dirty="0"/>
              <a:t>Logs are a record of events that occur in a system.</a:t>
            </a:r>
          </a:p>
          <a:p>
            <a:pPr lvl="1"/>
            <a:r>
              <a:rPr lang="en-IN" dirty="0"/>
              <a:t>They can be used to track things like errors, exceptions and other unexpected events</a:t>
            </a:r>
          </a:p>
          <a:p>
            <a:r>
              <a:rPr lang="en-IN" dirty="0"/>
              <a:t>Traces </a:t>
            </a:r>
          </a:p>
          <a:p>
            <a:pPr lvl="1"/>
            <a:r>
              <a:rPr lang="en-IN" dirty="0"/>
              <a:t>Traces are a record of the path that a request takes through a system.</a:t>
            </a:r>
          </a:p>
          <a:p>
            <a:pPr lvl="1"/>
            <a:r>
              <a:rPr lang="en-IN" dirty="0"/>
              <a:t>The can be used to track the performance of a request and identify bottlenecks</a:t>
            </a:r>
          </a:p>
        </p:txBody>
      </p:sp>
    </p:spTree>
    <p:extLst>
      <p:ext uri="{BB962C8B-B14F-4D97-AF65-F5344CB8AC3E}">
        <p14:creationId xmlns:p14="http://schemas.microsoft.com/office/powerpoint/2010/main" val="1949049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251D-7119-B45A-AEA6-81367D28F9B3}"/>
              </a:ext>
            </a:extLst>
          </p:cNvPr>
          <p:cNvSpPr>
            <a:spLocks noGrp="1"/>
          </p:cNvSpPr>
          <p:nvPr>
            <p:ph type="title"/>
          </p:nvPr>
        </p:nvSpPr>
        <p:spPr/>
        <p:txBody>
          <a:bodyPr/>
          <a:lstStyle/>
          <a:p>
            <a:r>
              <a:rPr lang="en-IN" b="1" dirty="0"/>
              <a:t>The Three pillars of Observability</a:t>
            </a:r>
            <a:endParaRPr lang="en-US" b="1" dirty="0"/>
          </a:p>
        </p:txBody>
      </p:sp>
      <p:sp>
        <p:nvSpPr>
          <p:cNvPr id="3" name="Content Placeholder 2">
            <a:extLst>
              <a:ext uri="{FF2B5EF4-FFF2-40B4-BE49-F238E27FC236}">
                <a16:creationId xmlns:a16="http://schemas.microsoft.com/office/drawing/2014/main" id="{34BA78AD-C2A6-5352-7ED9-B2E606068339}"/>
              </a:ext>
            </a:extLst>
          </p:cNvPr>
          <p:cNvSpPr>
            <a:spLocks noGrp="1"/>
          </p:cNvSpPr>
          <p:nvPr>
            <p:ph idx="1"/>
          </p:nvPr>
        </p:nvSpPr>
        <p:spPr/>
        <p:txBody>
          <a:bodyPr/>
          <a:lstStyle/>
          <a:p>
            <a:r>
              <a:rPr lang="en-IN" dirty="0"/>
              <a:t>By collecting and analysing data from these three sources, you can gain a comprehensive understanding of the internal state of your application.</a:t>
            </a:r>
          </a:p>
          <a:p>
            <a:r>
              <a:rPr lang="en-IN" dirty="0"/>
              <a:t>This understanding can be used to identify and troubleshoot problems, improve performance and ensure the overall health of your system.</a:t>
            </a:r>
            <a:endParaRPr lang="en-US" dirty="0"/>
          </a:p>
        </p:txBody>
      </p:sp>
    </p:spTree>
    <p:extLst>
      <p:ext uri="{BB962C8B-B14F-4D97-AF65-F5344CB8AC3E}">
        <p14:creationId xmlns:p14="http://schemas.microsoft.com/office/powerpoint/2010/main" val="385852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172C0-1741-657C-3993-86C932FB2E98}"/>
              </a:ext>
            </a:extLst>
          </p:cNvPr>
          <p:cNvSpPr>
            <a:spLocks noGrp="1"/>
          </p:cNvSpPr>
          <p:nvPr>
            <p:ph type="title"/>
          </p:nvPr>
        </p:nvSpPr>
        <p:spPr/>
        <p:txBody>
          <a:bodyPr/>
          <a:lstStyle/>
          <a:p>
            <a:r>
              <a:rPr lang="en-IN" b="1" dirty="0"/>
              <a:t>What is Monitoring ?</a:t>
            </a:r>
            <a:endParaRPr lang="en-US" b="1" dirty="0"/>
          </a:p>
        </p:txBody>
      </p:sp>
      <p:sp>
        <p:nvSpPr>
          <p:cNvPr id="3" name="Content Placeholder 2">
            <a:extLst>
              <a:ext uri="{FF2B5EF4-FFF2-40B4-BE49-F238E27FC236}">
                <a16:creationId xmlns:a16="http://schemas.microsoft.com/office/drawing/2014/main" id="{314E84AE-0F2B-6450-AFBC-C101735BA454}"/>
              </a:ext>
            </a:extLst>
          </p:cNvPr>
          <p:cNvSpPr>
            <a:spLocks noGrp="1"/>
          </p:cNvSpPr>
          <p:nvPr>
            <p:ph idx="1"/>
          </p:nvPr>
        </p:nvSpPr>
        <p:spPr/>
        <p:txBody>
          <a:bodyPr/>
          <a:lstStyle/>
          <a:p>
            <a:r>
              <a:rPr lang="en-IN" dirty="0"/>
              <a:t>Monitoring in microservices involves checking the telemetry data available for the application and defining alerts for known states.</a:t>
            </a:r>
          </a:p>
          <a:p>
            <a:r>
              <a:rPr lang="en-IN" dirty="0"/>
              <a:t>This process collects and analyses data from a system to identify and troubleshoot problems as well as track the health of individual microservices and overall health of the microservices network </a:t>
            </a:r>
            <a:endParaRPr lang="en-US" dirty="0"/>
          </a:p>
        </p:txBody>
      </p:sp>
    </p:spTree>
    <p:extLst>
      <p:ext uri="{BB962C8B-B14F-4D97-AF65-F5344CB8AC3E}">
        <p14:creationId xmlns:p14="http://schemas.microsoft.com/office/powerpoint/2010/main" val="7700001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058A5-5094-624D-2F10-998F95F08456}"/>
              </a:ext>
            </a:extLst>
          </p:cNvPr>
          <p:cNvSpPr>
            <a:spLocks noGrp="1"/>
          </p:cNvSpPr>
          <p:nvPr>
            <p:ph type="title"/>
          </p:nvPr>
        </p:nvSpPr>
        <p:spPr/>
        <p:txBody>
          <a:bodyPr/>
          <a:lstStyle/>
          <a:p>
            <a:r>
              <a:rPr lang="en-IN" b="1" dirty="0"/>
              <a:t>Monitoring is important because</a:t>
            </a:r>
            <a:endParaRPr lang="en-US" b="1" dirty="0"/>
          </a:p>
        </p:txBody>
      </p:sp>
      <p:sp>
        <p:nvSpPr>
          <p:cNvPr id="3" name="Content Placeholder 2">
            <a:extLst>
              <a:ext uri="{FF2B5EF4-FFF2-40B4-BE49-F238E27FC236}">
                <a16:creationId xmlns:a16="http://schemas.microsoft.com/office/drawing/2014/main" id="{B758EFCB-22DF-B835-5691-BE8343DA6D67}"/>
              </a:ext>
            </a:extLst>
          </p:cNvPr>
          <p:cNvSpPr>
            <a:spLocks noGrp="1"/>
          </p:cNvSpPr>
          <p:nvPr>
            <p:ph idx="1"/>
          </p:nvPr>
        </p:nvSpPr>
        <p:spPr/>
        <p:txBody>
          <a:bodyPr/>
          <a:lstStyle/>
          <a:p>
            <a:r>
              <a:rPr lang="en-IN" dirty="0"/>
              <a:t>Identify and troubleshoot problems </a:t>
            </a:r>
          </a:p>
          <a:p>
            <a:pPr lvl="1"/>
            <a:r>
              <a:rPr lang="en-IN" dirty="0"/>
              <a:t>By collecting and analysing data from your service, you can identify problems before they cause outages or other disruptions.</a:t>
            </a:r>
          </a:p>
          <a:p>
            <a:r>
              <a:rPr lang="en-US" dirty="0"/>
              <a:t>Track the health of your application</a:t>
            </a:r>
          </a:p>
          <a:p>
            <a:pPr lvl="1"/>
            <a:r>
              <a:rPr lang="en-US" dirty="0"/>
              <a:t>Monitoring can help you to track the health of your application, so you can identify any service that are underperforming or that are experiencing problems</a:t>
            </a:r>
          </a:p>
          <a:p>
            <a:r>
              <a:rPr lang="en-US" dirty="0"/>
              <a:t>Optimize your service</a:t>
            </a:r>
          </a:p>
          <a:p>
            <a:pPr lvl="1"/>
            <a:r>
              <a:rPr lang="en-US" dirty="0"/>
              <a:t>By monitoring your application/service, you can identify areas where you can optimize your application/service to improve performance and reliability.</a:t>
            </a:r>
          </a:p>
        </p:txBody>
      </p:sp>
    </p:spTree>
    <p:extLst>
      <p:ext uri="{BB962C8B-B14F-4D97-AF65-F5344CB8AC3E}">
        <p14:creationId xmlns:p14="http://schemas.microsoft.com/office/powerpoint/2010/main" val="22729213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04D48-A028-6C1A-17BE-0FA469A4AB56}"/>
              </a:ext>
            </a:extLst>
          </p:cNvPr>
          <p:cNvSpPr>
            <a:spLocks noGrp="1"/>
          </p:cNvSpPr>
          <p:nvPr>
            <p:ph type="title"/>
          </p:nvPr>
        </p:nvSpPr>
        <p:spPr/>
        <p:txBody>
          <a:bodyPr/>
          <a:lstStyle/>
          <a:p>
            <a:r>
              <a:rPr lang="en-IN" b="1" dirty="0"/>
              <a:t>Logging</a:t>
            </a:r>
            <a:endParaRPr lang="en-US" b="1" dirty="0"/>
          </a:p>
        </p:txBody>
      </p:sp>
      <p:sp>
        <p:nvSpPr>
          <p:cNvPr id="3" name="Content Placeholder 2">
            <a:extLst>
              <a:ext uri="{FF2B5EF4-FFF2-40B4-BE49-F238E27FC236}">
                <a16:creationId xmlns:a16="http://schemas.microsoft.com/office/drawing/2014/main" id="{D9A4FBE6-4550-57C8-67F2-3E3520FDCF58}"/>
              </a:ext>
            </a:extLst>
          </p:cNvPr>
          <p:cNvSpPr>
            <a:spLocks noGrp="1"/>
          </p:cNvSpPr>
          <p:nvPr>
            <p:ph idx="1"/>
          </p:nvPr>
        </p:nvSpPr>
        <p:spPr/>
        <p:txBody>
          <a:bodyPr/>
          <a:lstStyle/>
          <a:p>
            <a:r>
              <a:rPr lang="en-IN" dirty="0"/>
              <a:t>Logs are essential tools for troubleshooting and debugging tasks.</a:t>
            </a:r>
          </a:p>
          <a:p>
            <a:r>
              <a:rPr lang="en-IN" dirty="0"/>
              <a:t>They can be used to reconstruct what happened at a specific point in time in a single application instance.</a:t>
            </a:r>
          </a:p>
          <a:p>
            <a:r>
              <a:rPr lang="en-IN" dirty="0"/>
              <a:t>Logs are typically categorized according to the type of severity of the event such as trace, debug, info, warn and error.</a:t>
            </a:r>
          </a:p>
          <a:p>
            <a:r>
              <a:rPr lang="en-IN" dirty="0"/>
              <a:t>This allow us to log only most severe events in production while still giving us the chance to change the log level temporarily during debugging</a:t>
            </a:r>
            <a:br>
              <a:rPr lang="en-IN" dirty="0"/>
            </a:br>
            <a:endParaRPr lang="en-US" dirty="0"/>
          </a:p>
        </p:txBody>
      </p:sp>
    </p:spTree>
    <p:extLst>
      <p:ext uri="{BB962C8B-B14F-4D97-AF65-F5344CB8AC3E}">
        <p14:creationId xmlns:p14="http://schemas.microsoft.com/office/powerpoint/2010/main" val="13020904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00A44-04EF-4B5D-1507-EF91F27DDEE0}"/>
              </a:ext>
            </a:extLst>
          </p:cNvPr>
          <p:cNvSpPr>
            <a:spLocks noGrp="1"/>
          </p:cNvSpPr>
          <p:nvPr>
            <p:ph type="title"/>
          </p:nvPr>
        </p:nvSpPr>
        <p:spPr/>
        <p:txBody>
          <a:bodyPr/>
          <a:lstStyle/>
          <a:p>
            <a:r>
              <a:rPr lang="en-IN" b="1" dirty="0"/>
              <a:t>Managing logs with Grafana, Loki and </a:t>
            </a:r>
            <a:r>
              <a:rPr lang="en-IN" b="1" dirty="0" err="1"/>
              <a:t>Promtail</a:t>
            </a:r>
            <a:endParaRPr lang="en-US" b="1" dirty="0"/>
          </a:p>
        </p:txBody>
      </p:sp>
      <p:sp>
        <p:nvSpPr>
          <p:cNvPr id="3" name="Content Placeholder 2">
            <a:extLst>
              <a:ext uri="{FF2B5EF4-FFF2-40B4-BE49-F238E27FC236}">
                <a16:creationId xmlns:a16="http://schemas.microsoft.com/office/drawing/2014/main" id="{95193891-1BE5-790D-C5C6-5DC10EDDDBD9}"/>
              </a:ext>
            </a:extLst>
          </p:cNvPr>
          <p:cNvSpPr>
            <a:spLocks noGrp="1"/>
          </p:cNvSpPr>
          <p:nvPr>
            <p:ph idx="1"/>
          </p:nvPr>
        </p:nvSpPr>
        <p:spPr/>
        <p:txBody>
          <a:bodyPr/>
          <a:lstStyle/>
          <a:p>
            <a:r>
              <a:rPr lang="en-IN" dirty="0"/>
              <a:t>Grafana is an open source analytics and interactive visualization web application.</a:t>
            </a:r>
          </a:p>
          <a:p>
            <a:r>
              <a:rPr lang="en-IN" dirty="0"/>
              <a:t>It provides charts, graphs and alerts for the web when connected to supported data sources,</a:t>
            </a:r>
          </a:p>
          <a:p>
            <a:r>
              <a:rPr lang="en-IN" dirty="0"/>
              <a:t>It can be easily install using Docker or Docker Compose</a:t>
            </a:r>
          </a:p>
          <a:p>
            <a:r>
              <a:rPr lang="en-IN" dirty="0"/>
              <a:t>Grafana is a popular tool for visualizing metrics, logs and traces from a variety of sources.</a:t>
            </a:r>
          </a:p>
          <a:p>
            <a:r>
              <a:rPr lang="en-IN" dirty="0"/>
              <a:t>It is used by organization of all size to monitor their applications and infrastructure.</a:t>
            </a:r>
            <a:endParaRPr lang="en-US" dirty="0"/>
          </a:p>
        </p:txBody>
      </p:sp>
    </p:spTree>
    <p:extLst>
      <p:ext uri="{BB962C8B-B14F-4D97-AF65-F5344CB8AC3E}">
        <p14:creationId xmlns:p14="http://schemas.microsoft.com/office/powerpoint/2010/main" val="7157117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81619-8511-ABB2-72DE-25337CE47808}"/>
              </a:ext>
            </a:extLst>
          </p:cNvPr>
          <p:cNvSpPr>
            <a:spLocks noGrp="1"/>
          </p:cNvSpPr>
          <p:nvPr>
            <p:ph type="title"/>
          </p:nvPr>
        </p:nvSpPr>
        <p:spPr/>
        <p:txBody>
          <a:bodyPr/>
          <a:lstStyle/>
          <a:p>
            <a:r>
              <a:rPr lang="en-IN" b="1" dirty="0"/>
              <a:t>Managing logs with Grafana, Loki and </a:t>
            </a:r>
            <a:r>
              <a:rPr lang="en-IN" b="1" dirty="0" err="1"/>
              <a:t>Promtail</a:t>
            </a:r>
            <a:endParaRPr lang="en-US" b="1" dirty="0"/>
          </a:p>
        </p:txBody>
      </p:sp>
      <p:sp>
        <p:nvSpPr>
          <p:cNvPr id="3" name="Content Placeholder 2">
            <a:extLst>
              <a:ext uri="{FF2B5EF4-FFF2-40B4-BE49-F238E27FC236}">
                <a16:creationId xmlns:a16="http://schemas.microsoft.com/office/drawing/2014/main" id="{A8C563AC-81E2-1AC5-BAA4-6E5F36CD477C}"/>
              </a:ext>
            </a:extLst>
          </p:cNvPr>
          <p:cNvSpPr>
            <a:spLocks noGrp="1"/>
          </p:cNvSpPr>
          <p:nvPr>
            <p:ph idx="1"/>
          </p:nvPr>
        </p:nvSpPr>
        <p:spPr/>
        <p:txBody>
          <a:bodyPr/>
          <a:lstStyle/>
          <a:p>
            <a:r>
              <a:rPr lang="en-IN" dirty="0"/>
              <a:t>Grafana Loki is a horizontally scalable, highly available and cost effective log aggregation system.</a:t>
            </a:r>
          </a:p>
          <a:p>
            <a:r>
              <a:rPr lang="en-IN" dirty="0" err="1"/>
              <a:t>Promtail</a:t>
            </a:r>
            <a:r>
              <a:rPr lang="en-IN" dirty="0"/>
              <a:t> is a lightweight log agent that ships logs from your container to Loki. It is easy to configure and can be used to collect logs from a wide variety of sources.</a:t>
            </a:r>
          </a:p>
          <a:p>
            <a:r>
              <a:rPr lang="en-IN" dirty="0"/>
              <a:t>Together, Grafana Loki and </a:t>
            </a:r>
            <a:r>
              <a:rPr lang="en-IN" dirty="0" err="1"/>
              <a:t>Promtail</a:t>
            </a:r>
            <a:r>
              <a:rPr lang="en-IN" dirty="0"/>
              <a:t> provide a powerful logging solution that can help you understand and troubleshoot your application.</a:t>
            </a:r>
          </a:p>
          <a:p>
            <a:r>
              <a:rPr lang="en-IN" dirty="0"/>
              <a:t>Grafana provides visualization of the log lines captured within Loki.</a:t>
            </a:r>
            <a:endParaRPr lang="en-US" dirty="0"/>
          </a:p>
        </p:txBody>
      </p:sp>
    </p:spTree>
    <p:extLst>
      <p:ext uri="{BB962C8B-B14F-4D97-AF65-F5344CB8AC3E}">
        <p14:creationId xmlns:p14="http://schemas.microsoft.com/office/powerpoint/2010/main" val="35130048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38A34-96FD-B924-25F9-00C3B9B6B4CE}"/>
              </a:ext>
            </a:extLst>
          </p:cNvPr>
          <p:cNvSpPr>
            <a:spLocks noGrp="1"/>
          </p:cNvSpPr>
          <p:nvPr>
            <p:ph type="title"/>
          </p:nvPr>
        </p:nvSpPr>
        <p:spPr/>
        <p:txBody>
          <a:bodyPr/>
          <a:lstStyle/>
          <a:p>
            <a:r>
              <a:rPr lang="en-IN" b="1" dirty="0"/>
              <a:t>Managing logs with Grafana, Loki and </a:t>
            </a:r>
            <a:r>
              <a:rPr lang="en-IN" b="1" dirty="0" err="1"/>
              <a:t>Promtail</a:t>
            </a:r>
            <a:endParaRPr lang="en-US" dirty="0"/>
          </a:p>
        </p:txBody>
      </p:sp>
      <p:sp>
        <p:nvSpPr>
          <p:cNvPr id="4" name="Rectangle 3">
            <a:extLst>
              <a:ext uri="{FF2B5EF4-FFF2-40B4-BE49-F238E27FC236}">
                <a16:creationId xmlns:a16="http://schemas.microsoft.com/office/drawing/2014/main" id="{0D80DBD1-B8D4-4A43-CD15-410CEDCC6657}"/>
              </a:ext>
            </a:extLst>
          </p:cNvPr>
          <p:cNvSpPr/>
          <p:nvPr/>
        </p:nvSpPr>
        <p:spPr>
          <a:xfrm>
            <a:off x="1438712" y="2420224"/>
            <a:ext cx="2059497"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Spring Boot Application</a:t>
            </a:r>
            <a:endParaRPr lang="en-US" dirty="0"/>
          </a:p>
        </p:txBody>
      </p:sp>
      <p:sp>
        <p:nvSpPr>
          <p:cNvPr id="5" name="Pentagon 4">
            <a:extLst>
              <a:ext uri="{FF2B5EF4-FFF2-40B4-BE49-F238E27FC236}">
                <a16:creationId xmlns:a16="http://schemas.microsoft.com/office/drawing/2014/main" id="{699CE517-ECE0-FA0F-B8D3-3B0383CDD13D}"/>
              </a:ext>
            </a:extLst>
          </p:cNvPr>
          <p:cNvSpPr/>
          <p:nvPr/>
        </p:nvSpPr>
        <p:spPr>
          <a:xfrm>
            <a:off x="1256250" y="4257412"/>
            <a:ext cx="2424420" cy="1350628"/>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Promtail</a:t>
            </a:r>
            <a:br>
              <a:rPr lang="en-IN" dirty="0"/>
            </a:br>
            <a:r>
              <a:rPr lang="en-IN" sz="1200" dirty="0"/>
              <a:t>Collects logs from containers, process &amp; forwards to Loki</a:t>
            </a:r>
            <a:endParaRPr lang="en-US" dirty="0"/>
          </a:p>
        </p:txBody>
      </p:sp>
      <p:cxnSp>
        <p:nvCxnSpPr>
          <p:cNvPr id="7" name="Straight Arrow Connector 6">
            <a:extLst>
              <a:ext uri="{FF2B5EF4-FFF2-40B4-BE49-F238E27FC236}">
                <a16:creationId xmlns:a16="http://schemas.microsoft.com/office/drawing/2014/main" id="{7C2EFC2F-8D81-899C-EA54-65FE1AD07BAC}"/>
              </a:ext>
            </a:extLst>
          </p:cNvPr>
          <p:cNvCxnSpPr>
            <a:stCxn id="5" idx="0"/>
            <a:endCxn id="4" idx="2"/>
          </p:cNvCxnSpPr>
          <p:nvPr/>
        </p:nvCxnSpPr>
        <p:spPr>
          <a:xfrm flipV="1">
            <a:off x="2468460" y="3334624"/>
            <a:ext cx="1" cy="92278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9" name="Rectangle: Rounded Corners 8">
            <a:extLst>
              <a:ext uri="{FF2B5EF4-FFF2-40B4-BE49-F238E27FC236}">
                <a16:creationId xmlns:a16="http://schemas.microsoft.com/office/drawing/2014/main" id="{3DE5951B-4A52-FDE9-A9B2-2DDF72F7A211}"/>
              </a:ext>
            </a:extLst>
          </p:cNvPr>
          <p:cNvSpPr/>
          <p:nvPr/>
        </p:nvSpPr>
        <p:spPr>
          <a:xfrm>
            <a:off x="7285839" y="4316105"/>
            <a:ext cx="1526796"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Loki</a:t>
            </a:r>
            <a:br>
              <a:rPr lang="en-IN" dirty="0"/>
            </a:br>
            <a:r>
              <a:rPr lang="en-IN" sz="1000" dirty="0"/>
              <a:t>log aggregation system</a:t>
            </a:r>
            <a:endParaRPr lang="en-US" dirty="0"/>
          </a:p>
        </p:txBody>
      </p:sp>
      <p:cxnSp>
        <p:nvCxnSpPr>
          <p:cNvPr id="11" name="Straight Arrow Connector 10">
            <a:extLst>
              <a:ext uri="{FF2B5EF4-FFF2-40B4-BE49-F238E27FC236}">
                <a16:creationId xmlns:a16="http://schemas.microsoft.com/office/drawing/2014/main" id="{F7626FB5-416C-E07F-2EC4-80BF9125EC2B}"/>
              </a:ext>
            </a:extLst>
          </p:cNvPr>
          <p:cNvCxnSpPr>
            <a:stCxn id="5" idx="5"/>
          </p:cNvCxnSpPr>
          <p:nvPr/>
        </p:nvCxnSpPr>
        <p:spPr>
          <a:xfrm>
            <a:off x="3680667" y="4773305"/>
            <a:ext cx="3605172" cy="3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 name="Rectangle: Rounded Corners 11">
            <a:extLst>
              <a:ext uri="{FF2B5EF4-FFF2-40B4-BE49-F238E27FC236}">
                <a16:creationId xmlns:a16="http://schemas.microsoft.com/office/drawing/2014/main" id="{E011F4C6-C843-FF69-2762-1E69DC521C10}"/>
              </a:ext>
            </a:extLst>
          </p:cNvPr>
          <p:cNvSpPr/>
          <p:nvPr/>
        </p:nvSpPr>
        <p:spPr>
          <a:xfrm>
            <a:off x="7285839" y="2420224"/>
            <a:ext cx="1526796"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Grafana</a:t>
            </a:r>
            <a:br>
              <a:rPr lang="en-IN" dirty="0"/>
            </a:br>
            <a:r>
              <a:rPr lang="en-IN" sz="1000" dirty="0"/>
              <a:t>Query, Search, Visualize logs with Loki as </a:t>
            </a:r>
            <a:r>
              <a:rPr lang="en-IN" sz="1000" dirty="0" err="1"/>
              <a:t>datasource</a:t>
            </a:r>
            <a:endParaRPr lang="en-US" dirty="0"/>
          </a:p>
        </p:txBody>
      </p:sp>
      <p:cxnSp>
        <p:nvCxnSpPr>
          <p:cNvPr id="14" name="Straight Arrow Connector 13">
            <a:extLst>
              <a:ext uri="{FF2B5EF4-FFF2-40B4-BE49-F238E27FC236}">
                <a16:creationId xmlns:a16="http://schemas.microsoft.com/office/drawing/2014/main" id="{13F0BB0C-0498-C564-BC06-0B51A273B8FA}"/>
              </a:ext>
            </a:extLst>
          </p:cNvPr>
          <p:cNvCxnSpPr>
            <a:stCxn id="12" idx="2"/>
            <a:endCxn id="9" idx="0"/>
          </p:cNvCxnSpPr>
          <p:nvPr/>
        </p:nvCxnSpPr>
        <p:spPr>
          <a:xfrm>
            <a:off x="8049237" y="3334624"/>
            <a:ext cx="0" cy="98148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5" name="TextBox 14">
            <a:extLst>
              <a:ext uri="{FF2B5EF4-FFF2-40B4-BE49-F238E27FC236}">
                <a16:creationId xmlns:a16="http://schemas.microsoft.com/office/drawing/2014/main" id="{9C6969BE-34B3-13FB-BE64-99641AC0B856}"/>
              </a:ext>
            </a:extLst>
          </p:cNvPr>
          <p:cNvSpPr txBox="1"/>
          <p:nvPr/>
        </p:nvSpPr>
        <p:spPr>
          <a:xfrm>
            <a:off x="2600587" y="3825364"/>
            <a:ext cx="1281698" cy="369332"/>
          </a:xfrm>
          <a:prstGeom prst="rect">
            <a:avLst/>
          </a:prstGeom>
          <a:noFill/>
        </p:spPr>
        <p:txBody>
          <a:bodyPr wrap="none" rtlCol="0">
            <a:spAutoFit/>
          </a:bodyPr>
          <a:lstStyle/>
          <a:p>
            <a:r>
              <a:rPr lang="en-IN" dirty="0"/>
              <a:t>Fetches Log</a:t>
            </a:r>
            <a:endParaRPr lang="en-US" dirty="0"/>
          </a:p>
        </p:txBody>
      </p:sp>
      <p:sp>
        <p:nvSpPr>
          <p:cNvPr id="16" name="TextBox 15">
            <a:extLst>
              <a:ext uri="{FF2B5EF4-FFF2-40B4-BE49-F238E27FC236}">
                <a16:creationId xmlns:a16="http://schemas.microsoft.com/office/drawing/2014/main" id="{7EF4FAA9-23A5-FA88-5F02-E77C5B6BD937}"/>
              </a:ext>
            </a:extLst>
          </p:cNvPr>
          <p:cNvSpPr txBox="1"/>
          <p:nvPr/>
        </p:nvSpPr>
        <p:spPr>
          <a:xfrm>
            <a:off x="4517472" y="4303722"/>
            <a:ext cx="1433790" cy="369332"/>
          </a:xfrm>
          <a:prstGeom prst="rect">
            <a:avLst/>
          </a:prstGeom>
          <a:noFill/>
        </p:spPr>
        <p:txBody>
          <a:bodyPr wrap="none" rtlCol="0">
            <a:spAutoFit/>
          </a:bodyPr>
          <a:lstStyle/>
          <a:p>
            <a:r>
              <a:rPr lang="en-IN" dirty="0"/>
              <a:t>Forward Logs</a:t>
            </a:r>
            <a:endParaRPr lang="en-US" dirty="0"/>
          </a:p>
        </p:txBody>
      </p:sp>
      <p:sp>
        <p:nvSpPr>
          <p:cNvPr id="17" name="TextBox 16">
            <a:extLst>
              <a:ext uri="{FF2B5EF4-FFF2-40B4-BE49-F238E27FC236}">
                <a16:creationId xmlns:a16="http://schemas.microsoft.com/office/drawing/2014/main" id="{D5447F6C-A6AA-3269-10B0-C28B4ACC56E8}"/>
              </a:ext>
            </a:extLst>
          </p:cNvPr>
          <p:cNvSpPr txBox="1"/>
          <p:nvPr/>
        </p:nvSpPr>
        <p:spPr>
          <a:xfrm>
            <a:off x="8095740" y="3611352"/>
            <a:ext cx="2322431" cy="369332"/>
          </a:xfrm>
          <a:prstGeom prst="rect">
            <a:avLst/>
          </a:prstGeom>
          <a:noFill/>
        </p:spPr>
        <p:txBody>
          <a:bodyPr wrap="none" rtlCol="0">
            <a:spAutoFit/>
          </a:bodyPr>
          <a:lstStyle/>
          <a:p>
            <a:r>
              <a:rPr lang="en-IN" dirty="0"/>
              <a:t>Query and Search Logs</a:t>
            </a:r>
            <a:endParaRPr lang="en-US" dirty="0"/>
          </a:p>
        </p:txBody>
      </p:sp>
    </p:spTree>
    <p:extLst>
      <p:ext uri="{BB962C8B-B14F-4D97-AF65-F5344CB8AC3E}">
        <p14:creationId xmlns:p14="http://schemas.microsoft.com/office/powerpoint/2010/main" val="349361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2" grpId="0" animBg="1"/>
      <p:bldP spid="15" grpId="0"/>
      <p:bldP spid="16" grpId="0"/>
      <p:bldP spid="1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4169</TotalTime>
  <Words>2762</Words>
  <Application>Microsoft Office PowerPoint</Application>
  <PresentationFormat>Widescreen</PresentationFormat>
  <Paragraphs>402</Paragraphs>
  <Slides>49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Calibri Light</vt:lpstr>
      <vt:lpstr>Office Theme</vt:lpstr>
      <vt:lpstr>Spring Boot 3 with Java 21</vt:lpstr>
      <vt:lpstr>New Baseline Features of Spring Boot 3.x</vt:lpstr>
      <vt:lpstr>Spring Boot 3.x Baseline Features</vt:lpstr>
      <vt:lpstr>New Baseline Features of Spring Boot 3.x</vt:lpstr>
      <vt:lpstr>Jakarta EE 9+ Namespace (javax → jakarta)</vt:lpstr>
      <vt:lpstr>Hibernate 6 as Default JPA Provider</vt:lpstr>
      <vt:lpstr>Problem Details (RFC 7807) for Error Handling</vt:lpstr>
      <vt:lpstr>Observability Is a First-Class Concern</vt:lpstr>
      <vt:lpstr>AOT (Ahead-of-Time) Processing Built-In</vt:lpstr>
      <vt:lpstr>Spring Security 6 Baseline</vt:lpstr>
      <vt:lpstr>Stricter Defaults &amp; Fail-Fast Philosophy</vt:lpstr>
      <vt:lpstr>PowerPoint Presentation</vt:lpstr>
      <vt:lpstr>Spring Boot Auto-Configuration</vt:lpstr>
      <vt:lpstr>What This Means in Simple English</vt:lpstr>
      <vt:lpstr>How Auto-Configuration Worked in Spring Boot 2.x</vt:lpstr>
      <vt:lpstr>What happens at runtime?</vt:lpstr>
      <vt:lpstr>Problems With Reflection-Heavy Discovery</vt:lpstr>
      <vt:lpstr>How Auto-Configuration Works in Spring Boot 3.x</vt:lpstr>
      <vt:lpstr>What happens at runtime?</vt:lpstr>
      <vt:lpstr>Why This Matters (Very Important)</vt:lpstr>
      <vt:lpstr>Visual Comparison</vt:lpstr>
      <vt:lpstr>GraalVM</vt:lpstr>
      <vt:lpstr>GraalVM</vt:lpstr>
      <vt:lpstr>GraalVM : Questions</vt:lpstr>
      <vt:lpstr>What happens inside normal JDK?</vt:lpstr>
      <vt:lpstr>What happens inside JVM?</vt:lpstr>
      <vt:lpstr>What happens with GraalVM</vt:lpstr>
      <vt:lpstr>GraalVM : HelloWorld Demo</vt:lpstr>
      <vt:lpstr>GraalVM : Spring Boot – JIT Compilation</vt:lpstr>
      <vt:lpstr>What happens in GraalVM AOT mode?</vt:lpstr>
      <vt:lpstr>Advantages ofGraalVM</vt:lpstr>
      <vt:lpstr>Advantages ofGraalVM</vt:lpstr>
      <vt:lpstr>Limitation of GraalVM</vt:lpstr>
      <vt:lpstr>Different types of Threads</vt:lpstr>
      <vt:lpstr>Virtual Threads</vt:lpstr>
      <vt:lpstr>Compare with Platform Thread</vt:lpstr>
      <vt:lpstr>Why do we need Virtual Threads ?</vt:lpstr>
      <vt:lpstr>Why do we need Virtual Threads ?</vt:lpstr>
      <vt:lpstr>Actuator</vt:lpstr>
      <vt:lpstr>Observability and Monitoring </vt:lpstr>
      <vt:lpstr>What is Observability ?</vt:lpstr>
      <vt:lpstr>The Three pillars of Observability</vt:lpstr>
      <vt:lpstr>The Three pillars of Observability</vt:lpstr>
      <vt:lpstr>What is Monitoring ?</vt:lpstr>
      <vt:lpstr>Monitoring is important because</vt:lpstr>
      <vt:lpstr>Logging</vt:lpstr>
      <vt:lpstr>Managing logs with Grafana, Loki and Promtail</vt:lpstr>
      <vt:lpstr>Managing logs with Grafana, Loki and Promtail</vt:lpstr>
      <vt:lpstr>Managing logs with Grafana, Loki and Promtail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Vivek Gohil</dc:creator>
  <cp:lastModifiedBy>Vivek Gohil</cp:lastModifiedBy>
  <cp:revision>15</cp:revision>
  <dcterms:created xsi:type="dcterms:W3CDTF">2025-01-04T07:58:17Z</dcterms:created>
  <dcterms:modified xsi:type="dcterms:W3CDTF">2026-01-11T18:51:03Z</dcterms:modified>
</cp:coreProperties>
</file>