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191" d="100"/>
          <a:sy n="191" d="100"/>
        </p:scale>
        <p:origin x="259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Gohil" userId="8f3e33861dddeea9" providerId="LiveId" clId="{52A5A5C7-FE2B-4B34-A032-961BD4A48B86}"/>
    <pc:docChg chg="modSld">
      <pc:chgData name="Vivek Gohil" userId="8f3e33861dddeea9" providerId="LiveId" clId="{52A5A5C7-FE2B-4B34-A032-961BD4A48B86}" dt="2025-08-17T10:39:04.357" v="31" actId="20577"/>
      <pc:docMkLst>
        <pc:docMk/>
      </pc:docMkLst>
      <pc:sldChg chg="modSp">
        <pc:chgData name="Vivek Gohil" userId="8f3e33861dddeea9" providerId="LiveId" clId="{52A5A5C7-FE2B-4B34-A032-961BD4A48B86}" dt="2025-08-17T07:05:06.845" v="5" actId="20577"/>
        <pc:sldMkLst>
          <pc:docMk/>
          <pc:sldMk cId="2073400945" sldId="276"/>
        </pc:sldMkLst>
        <pc:spChg chg="mod">
          <ac:chgData name="Vivek Gohil" userId="8f3e33861dddeea9" providerId="LiveId" clId="{52A5A5C7-FE2B-4B34-A032-961BD4A48B86}" dt="2025-08-17T07:05:06.845" v="5" actId="20577"/>
          <ac:spMkLst>
            <pc:docMk/>
            <pc:sldMk cId="2073400945" sldId="276"/>
            <ac:spMk id="3" creationId="{026118C4-A2C3-5EB2-6768-B3915FE7CBD1}"/>
          </ac:spMkLst>
        </pc:spChg>
      </pc:sldChg>
      <pc:sldChg chg="modSp">
        <pc:chgData name="Vivek Gohil" userId="8f3e33861dddeea9" providerId="LiveId" clId="{52A5A5C7-FE2B-4B34-A032-961BD4A48B86}" dt="2025-08-17T07:11:53.800" v="12" actId="20577"/>
        <pc:sldMkLst>
          <pc:docMk/>
          <pc:sldMk cId="487117561" sldId="277"/>
        </pc:sldMkLst>
        <pc:spChg chg="mod">
          <ac:chgData name="Vivek Gohil" userId="8f3e33861dddeea9" providerId="LiveId" clId="{52A5A5C7-FE2B-4B34-A032-961BD4A48B86}" dt="2025-08-17T07:09:09.060" v="7" actId="20577"/>
          <ac:spMkLst>
            <pc:docMk/>
            <pc:sldMk cId="487117561" sldId="277"/>
            <ac:spMk id="3" creationId="{943F9465-6F04-C962-6F4D-218BF1E20533}"/>
          </ac:spMkLst>
        </pc:spChg>
        <pc:spChg chg="mod">
          <ac:chgData name="Vivek Gohil" userId="8f3e33861dddeea9" providerId="LiveId" clId="{52A5A5C7-FE2B-4B34-A032-961BD4A48B86}" dt="2025-08-17T07:11:53.800" v="12" actId="20577"/>
          <ac:spMkLst>
            <pc:docMk/>
            <pc:sldMk cId="487117561" sldId="277"/>
            <ac:spMk id="4" creationId="{47E6B042-585E-3D93-BD9F-68A2D2A7079E}"/>
          </ac:spMkLst>
        </pc:spChg>
      </pc:sldChg>
      <pc:sldChg chg="modSp mod">
        <pc:chgData name="Vivek Gohil" userId="8f3e33861dddeea9" providerId="LiveId" clId="{52A5A5C7-FE2B-4B34-A032-961BD4A48B86}" dt="2025-08-17T10:30:08.212" v="28" actId="20577"/>
        <pc:sldMkLst>
          <pc:docMk/>
          <pc:sldMk cId="3661768485" sldId="284"/>
        </pc:sldMkLst>
        <pc:spChg chg="mod">
          <ac:chgData name="Vivek Gohil" userId="8f3e33861dddeea9" providerId="LiveId" clId="{52A5A5C7-FE2B-4B34-A032-961BD4A48B86}" dt="2025-08-17T10:30:08.212" v="28" actId="20577"/>
          <ac:spMkLst>
            <pc:docMk/>
            <pc:sldMk cId="3661768485" sldId="284"/>
            <ac:spMk id="4" creationId="{D4C562FD-0464-1C4A-8ACD-29710281F623}"/>
          </ac:spMkLst>
        </pc:spChg>
      </pc:sldChg>
      <pc:sldChg chg="modSp mod">
        <pc:chgData name="Vivek Gohil" userId="8f3e33861dddeea9" providerId="LiveId" clId="{52A5A5C7-FE2B-4B34-A032-961BD4A48B86}" dt="2025-08-17T10:39:04.357" v="31" actId="20577"/>
        <pc:sldMkLst>
          <pc:docMk/>
          <pc:sldMk cId="825000579" sldId="289"/>
        </pc:sldMkLst>
        <pc:spChg chg="mod">
          <ac:chgData name="Vivek Gohil" userId="8f3e33861dddeea9" providerId="LiveId" clId="{52A5A5C7-FE2B-4B34-A032-961BD4A48B86}" dt="2025-08-17T10:39:04.357" v="31" actId="20577"/>
          <ac:spMkLst>
            <pc:docMk/>
            <pc:sldMk cId="825000579" sldId="289"/>
            <ac:spMk id="4" creationId="{764E172B-88D9-CA71-F5FC-CFA43158B6D9}"/>
          </ac:spMkLst>
        </pc:spChg>
        <pc:spChg chg="mod">
          <ac:chgData name="Vivek Gohil" userId="8f3e33861dddeea9" providerId="LiveId" clId="{52A5A5C7-FE2B-4B34-A032-961BD4A48B86}" dt="2025-08-17T10:38:23.267" v="29" actId="20577"/>
          <ac:spMkLst>
            <pc:docMk/>
            <pc:sldMk cId="825000579" sldId="289"/>
            <ac:spMk id="5" creationId="{A1305730-593E-6D33-2186-386EB177E3D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5E9EF-E46C-58E5-79D2-4A5197DB6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1103CB-0FA7-8B15-7D31-F97B8E86E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4ABFE-2250-80C1-E539-69CDDF3F8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D1A2-665C-4358-ACBE-6C09B4F6BF5D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F300E-D22D-6F52-4428-AE99869B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DCAD4-A344-F99D-D41F-0792261A7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48F6-634E-4026-A4E2-E45326C0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212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289E-8F87-6EEB-6CE0-DCC42E0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B24A8-FC71-1CA6-2311-522DC12BF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15137-047D-BEA4-4990-1EC06EF9C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D1A2-665C-4358-ACBE-6C09B4F6BF5D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6E34B-C0A5-C0D7-A36D-EDD35F527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3632E-F384-F352-EB05-CBF19A71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48F6-634E-4026-A4E2-E45326C0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52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CD08-35DB-8A3D-8314-FE93CEAF5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9E31C-81C7-7F19-82E8-EE12419BD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2659-0AC5-2245-0F44-3325A28E7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D1A2-665C-4358-ACBE-6C09B4F6BF5D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0EC08-182A-2A05-8B90-0505F0E55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68F88-E5DA-E89C-8026-235D7113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48F6-634E-4026-A4E2-E45326C0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810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6C525-9166-9D43-F307-5786ACA5A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F5BE-B2FE-41CF-3DEF-E771AB433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0A244-0324-4A93-2AC0-1FFCC4A1E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B8039-80F9-8D9A-32FB-BB1C27746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D1A2-665C-4358-ACBE-6C09B4F6BF5D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89EF5-B5A8-C85B-4848-443D97E0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E1B76-B4B5-DAE9-B49C-015E0226A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48F6-634E-4026-A4E2-E45326C0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485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5D936-AB90-0DFA-6AEA-59387B1D4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1BC67-6CDE-4DF2-A6DF-59B3A71D1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1B925-7655-C7CF-A5A0-CCA49642D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A4198C-9647-0075-CEBE-D47A167B8C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7DF9F5-3B06-04CD-AB16-EE2DAAA43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B35831-340B-CFCC-EB12-43B0EBD2B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D1A2-665C-4358-ACBE-6C09B4F6BF5D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C9FF81-BDEF-F6FB-31B9-06938221E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4EA85B-D103-3B4D-486A-B6241E44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48F6-634E-4026-A4E2-E45326C0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214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1F804-5FD3-07B6-8A17-8B174B8AE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A9354B-1F8C-1A15-AE41-2F0676176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D1A2-665C-4358-ACBE-6C09B4F6BF5D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8D80C6-5647-ABC5-9D6C-78B0873B1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9974F-D7B0-54D5-EAAD-19E801B8C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48F6-634E-4026-A4E2-E45326C0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366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D4B87-3161-7FAC-5E8C-51E16EF90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D1A2-665C-4358-ACBE-6C09B4F6BF5D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4E72CB-09A6-341C-BA2E-5885CF473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5F0B7-B515-D6FC-9F7A-77BA78D6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48F6-634E-4026-A4E2-E45326C0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454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FC005-EC4C-5046-6AF5-513AA8D0E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CC254-CAF4-5DBE-28B3-76E316E51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B7530F-819A-E906-E2B1-EE9D65252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A622B-FA44-7F5F-05E8-3809A12D9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D1A2-665C-4358-ACBE-6C09B4F6BF5D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5F073-CEC3-C265-C423-97F95EC7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21AF5-D55F-A3CE-01E5-A94E9FF11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48F6-634E-4026-A4E2-E45326C0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840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A2AAA-7B69-7766-1269-C2ECCC45F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27AF2B-3137-C749-325E-76E1BCCAF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943D81-CF90-11F6-A0FF-63D7F8940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0E9AF-CBDF-6B8C-C59E-16B8AAA5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D1A2-665C-4358-ACBE-6C09B4F6BF5D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8CA09-5104-489A-2065-A267D2B35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C04EF-A1F0-0547-F421-F252D6599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48F6-634E-4026-A4E2-E45326C0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661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8215-5BE3-2B49-EA2B-2C6832BC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8C7FCA-B2ED-94A4-C7C8-B6B450F6B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3EF6-8834-2457-7B3E-96A5B87AB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D1A2-665C-4358-ACBE-6C09B4F6BF5D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1826F-CB32-3F2B-108C-E2DA53A5E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EDBBD-D3DE-96E9-00D7-41AD5AA86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48F6-634E-4026-A4E2-E45326C0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1D48C7-17FF-BD10-7AFB-14D11E7E2B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F8743-7528-9D8F-77E0-C040137A8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4780-5D5C-F546-4D26-DBFC4DD02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D1A2-665C-4358-ACBE-6C09B4F6BF5D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F200F-E637-8F7A-C2C3-A05B6967B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D9289-22A8-7A72-4D85-3A5D41DA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48F6-634E-4026-A4E2-E45326C0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461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58F9FD-4850-A154-B6EC-3DCF48EE5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4A04E-814E-57C9-577C-5894A547B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DB31B-07BD-60AF-F79C-050302ACB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FD1A2-665C-4358-ACBE-6C09B4F6BF5D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1DB04-6EF8-C6C2-F56B-85E66332E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9B769-CE19-9790-0C5B-CABE3C63D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C48F6-634E-4026-A4E2-E45326C0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0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docker.com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api/create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C98C-3A4A-30A5-DAD0-67860E58B0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 Boot Microservices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BACC1-E167-447E-46B0-A1B20A84AB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405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149-B1E6-900E-6F01-4C1A7D7B2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Microservices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C2C92-53EC-7C21-1C0E-7B9935A40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handle below things with Microservices</a:t>
            </a:r>
          </a:p>
          <a:p>
            <a:r>
              <a:rPr lang="en-US" dirty="0"/>
              <a:t>Deployment</a:t>
            </a:r>
          </a:p>
          <a:p>
            <a:pPr lvl="1"/>
            <a:r>
              <a:rPr lang="en-US" dirty="0"/>
              <a:t>How do we deploy all tiny 100s of Microservices with less efforts and cost?</a:t>
            </a:r>
          </a:p>
          <a:p>
            <a:r>
              <a:rPr lang="en-US" dirty="0"/>
              <a:t>Portability</a:t>
            </a:r>
          </a:p>
          <a:p>
            <a:pPr lvl="1"/>
            <a:r>
              <a:rPr lang="en-US" dirty="0"/>
              <a:t>How do we move our 100s of Microservices across the multiple environments with less efforts, configurations and cost?</a:t>
            </a:r>
          </a:p>
          <a:p>
            <a:r>
              <a:rPr lang="en-US" dirty="0"/>
              <a:t>Scalability</a:t>
            </a:r>
          </a:p>
          <a:p>
            <a:pPr lvl="1"/>
            <a:r>
              <a:rPr lang="en-US" dirty="0"/>
              <a:t>How do we scale out applications based on the demand on the fly with minimum effort and cost?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2513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D4A85-463D-E444-81D8-8CC14014F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9DBE2-B60C-20E4-DF4D-373D11668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Containerization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14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5E0C-20C1-02A3-A3EF-66A9F91D4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67A9E-3B7A-CEC2-97CE-D04198050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Containers offers a self contained and isolated environment for applications.</a:t>
            </a:r>
          </a:p>
          <a:p>
            <a:r>
              <a:rPr lang="en-US" dirty="0"/>
              <a:t>Including all necessary dependencies.</a:t>
            </a:r>
          </a:p>
          <a:p>
            <a:r>
              <a:rPr lang="en-US" dirty="0"/>
              <a:t>By containerizing an application, it becomes portable and can run seamlessly in any cloud environment.</a:t>
            </a:r>
          </a:p>
          <a:p>
            <a:r>
              <a:rPr lang="en-US" dirty="0"/>
              <a:t>Containers enables unified management of applications regardless of language or framework used.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56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B6689-9A26-3300-BFCF-26DC38F75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containerize the Maven application?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770B6-C9F3-BD2D-3E63-BE6B38359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</a:t>
            </a:r>
          </a:p>
          <a:p>
            <a:pPr lvl="1"/>
            <a:r>
              <a:rPr lang="en-US" dirty="0"/>
              <a:t>It is an open-source platform to package and run an application in loosely isolated environment.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660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84FA8-C4D9-6B67-275D-08739DA0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Containers are different from Virtual Machines?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E6F9D6-CBFE-8E1A-C47F-C23641C125BE}"/>
              </a:ext>
            </a:extLst>
          </p:cNvPr>
          <p:cNvSpPr/>
          <p:nvPr/>
        </p:nvSpPr>
        <p:spPr>
          <a:xfrm>
            <a:off x="2275114" y="6008914"/>
            <a:ext cx="7677397" cy="552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 – Physical Hardware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A77A9D-FB55-59F7-C17D-DD7FBC89E4E8}"/>
              </a:ext>
            </a:extLst>
          </p:cNvPr>
          <p:cNvSpPr/>
          <p:nvPr/>
        </p:nvSpPr>
        <p:spPr>
          <a:xfrm>
            <a:off x="2275113" y="5193475"/>
            <a:ext cx="7677397" cy="552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Hypervisor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4199C7-195F-4839-D406-CA417462E38D}"/>
              </a:ext>
            </a:extLst>
          </p:cNvPr>
          <p:cNvSpPr/>
          <p:nvPr/>
        </p:nvSpPr>
        <p:spPr>
          <a:xfrm>
            <a:off x="2275113" y="2535382"/>
            <a:ext cx="2255817" cy="23948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86390D-0B25-1E72-FC43-C8F15673FB4F}"/>
              </a:ext>
            </a:extLst>
          </p:cNvPr>
          <p:cNvSpPr/>
          <p:nvPr/>
        </p:nvSpPr>
        <p:spPr>
          <a:xfrm>
            <a:off x="4985904" y="2535382"/>
            <a:ext cx="2255817" cy="23948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7B66EA-8799-1880-6932-E8ED868398DC}"/>
              </a:ext>
            </a:extLst>
          </p:cNvPr>
          <p:cNvSpPr/>
          <p:nvPr/>
        </p:nvSpPr>
        <p:spPr>
          <a:xfrm>
            <a:off x="7696693" y="2535382"/>
            <a:ext cx="2255817" cy="23948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293629-EFD9-74D1-A01B-5E92FCFB2AE0}"/>
              </a:ext>
            </a:extLst>
          </p:cNvPr>
          <p:cNvSpPr/>
          <p:nvPr/>
        </p:nvSpPr>
        <p:spPr>
          <a:xfrm>
            <a:off x="2476006" y="4127448"/>
            <a:ext cx="1816925" cy="4512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Gust OS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D4E940-C0FB-427A-81C6-56A4C68902C0}"/>
              </a:ext>
            </a:extLst>
          </p:cNvPr>
          <p:cNvSpPr/>
          <p:nvPr/>
        </p:nvSpPr>
        <p:spPr>
          <a:xfrm>
            <a:off x="2476005" y="3463636"/>
            <a:ext cx="1816925" cy="4512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bin/library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D414BB-BFBB-D35C-B663-EADEEF43FD13}"/>
              </a:ext>
            </a:extLst>
          </p:cNvPr>
          <p:cNvSpPr/>
          <p:nvPr/>
        </p:nvSpPr>
        <p:spPr>
          <a:xfrm>
            <a:off x="2476006" y="2799824"/>
            <a:ext cx="1816925" cy="4512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 1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7B5F29-32ED-428E-BE71-1802954EB157}"/>
              </a:ext>
            </a:extLst>
          </p:cNvPr>
          <p:cNvSpPr/>
          <p:nvPr/>
        </p:nvSpPr>
        <p:spPr>
          <a:xfrm>
            <a:off x="5205350" y="4127448"/>
            <a:ext cx="1816925" cy="4512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Gust OS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F67804-C88E-67B4-8934-C49F7D8BDE3F}"/>
              </a:ext>
            </a:extLst>
          </p:cNvPr>
          <p:cNvSpPr/>
          <p:nvPr/>
        </p:nvSpPr>
        <p:spPr>
          <a:xfrm>
            <a:off x="5205349" y="3463636"/>
            <a:ext cx="1816925" cy="4512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bin/library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D8072B-A8A1-AFA6-09F9-1644F8E98999}"/>
              </a:ext>
            </a:extLst>
          </p:cNvPr>
          <p:cNvSpPr/>
          <p:nvPr/>
        </p:nvSpPr>
        <p:spPr>
          <a:xfrm>
            <a:off x="5205350" y="2799824"/>
            <a:ext cx="1816925" cy="4512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 2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E0C387-4930-252A-C5F0-D2D2611CABD7}"/>
              </a:ext>
            </a:extLst>
          </p:cNvPr>
          <p:cNvSpPr/>
          <p:nvPr/>
        </p:nvSpPr>
        <p:spPr>
          <a:xfrm>
            <a:off x="7934695" y="4127448"/>
            <a:ext cx="1816925" cy="4512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Gust OS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1FC687-0E8B-3E3D-CEEC-762130AFA0B0}"/>
              </a:ext>
            </a:extLst>
          </p:cNvPr>
          <p:cNvSpPr/>
          <p:nvPr/>
        </p:nvSpPr>
        <p:spPr>
          <a:xfrm>
            <a:off x="7934694" y="3463636"/>
            <a:ext cx="1816925" cy="4512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bin/library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E13FAE-343A-93B1-FA94-DC8A8AC0ED48}"/>
              </a:ext>
            </a:extLst>
          </p:cNvPr>
          <p:cNvSpPr/>
          <p:nvPr/>
        </p:nvSpPr>
        <p:spPr>
          <a:xfrm>
            <a:off x="7934695" y="2799824"/>
            <a:ext cx="1816925" cy="4512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 3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9D9A87-D466-9513-4449-36D3E93B6393}"/>
              </a:ext>
            </a:extLst>
          </p:cNvPr>
          <p:cNvSpPr txBox="1"/>
          <p:nvPr/>
        </p:nvSpPr>
        <p:spPr>
          <a:xfrm>
            <a:off x="2477126" y="2087479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Virtual Machine 1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8F4D1A-51FF-27CF-034D-42D61C53D7A5}"/>
              </a:ext>
            </a:extLst>
          </p:cNvPr>
          <p:cNvSpPr txBox="1"/>
          <p:nvPr/>
        </p:nvSpPr>
        <p:spPr>
          <a:xfrm>
            <a:off x="5170105" y="2078964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Virtual Machine 2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3B994F-1D65-FD33-E0EC-E04DCC1AA5CD}"/>
              </a:ext>
            </a:extLst>
          </p:cNvPr>
          <p:cNvSpPr txBox="1"/>
          <p:nvPr/>
        </p:nvSpPr>
        <p:spPr>
          <a:xfrm>
            <a:off x="7917261" y="2059775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Virtual Machine 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465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499E2-0E9D-D7BF-0ACB-B844A23E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of Using Virtual Machine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7E5D8-DAB2-1106-D4A9-0A6183820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if you have 100s of Microservices</a:t>
            </a:r>
            <a:r>
              <a:rPr lang="en-IN" dirty="0"/>
              <a:t>?</a:t>
            </a:r>
          </a:p>
          <a:p>
            <a:pPr lvl="1"/>
            <a:r>
              <a:rPr lang="en-IN" dirty="0"/>
              <a:t>Its difficult to create 100 VMs</a:t>
            </a:r>
          </a:p>
          <a:p>
            <a:r>
              <a:rPr lang="en-IN" dirty="0"/>
              <a:t>What if you install multiple applications on single VM?</a:t>
            </a:r>
          </a:p>
          <a:p>
            <a:pPr lvl="1"/>
            <a:r>
              <a:rPr lang="en-IN" dirty="0"/>
              <a:t>How you will handle the requirements of each application, such as each application needs different software, RAM and configurations?</a:t>
            </a:r>
          </a:p>
          <a:p>
            <a:r>
              <a:rPr lang="en-IN" dirty="0"/>
              <a:t>If we need to take restart of Virtual Machine?</a:t>
            </a:r>
          </a:p>
          <a:p>
            <a:pPr lvl="1"/>
            <a:r>
              <a:rPr lang="en-IN" dirty="0"/>
              <a:t>All application will be affected/down which is not acceptable.</a:t>
            </a:r>
          </a:p>
          <a:p>
            <a:r>
              <a:rPr lang="en-IN" dirty="0"/>
              <a:t>How you will achieve scalability?</a:t>
            </a:r>
          </a:p>
          <a:p>
            <a:pPr lvl="1"/>
            <a:r>
              <a:rPr lang="en-IN" dirty="0"/>
              <a:t>If you want to create multiple Virtual Machines then it’s a time consuming process.</a:t>
            </a:r>
            <a:endParaRPr lang="en-US" dirty="0"/>
          </a:p>
          <a:p>
            <a:pPr lvl="1"/>
            <a:r>
              <a:rPr lang="en-US" dirty="0"/>
              <a:t>Deleting Virtual Machine after scalability is also is time consuming.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39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B457D-BAF2-7CF3-7394-7AD5630B7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885E31-425A-2FCD-55A8-DCB65E40D82C}"/>
              </a:ext>
            </a:extLst>
          </p:cNvPr>
          <p:cNvSpPr/>
          <p:nvPr/>
        </p:nvSpPr>
        <p:spPr>
          <a:xfrm>
            <a:off x="2601685" y="5589319"/>
            <a:ext cx="7677397" cy="552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 – Physical Hardware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3EBBEC-54AB-E20C-2EFC-81F290790632}"/>
              </a:ext>
            </a:extLst>
          </p:cNvPr>
          <p:cNvSpPr/>
          <p:nvPr/>
        </p:nvSpPr>
        <p:spPr>
          <a:xfrm>
            <a:off x="2601685" y="4860966"/>
            <a:ext cx="7677397" cy="552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Operating System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A34B0F-A3EF-8698-B721-0938FDF6BBED}"/>
              </a:ext>
            </a:extLst>
          </p:cNvPr>
          <p:cNvSpPr/>
          <p:nvPr/>
        </p:nvSpPr>
        <p:spPr>
          <a:xfrm>
            <a:off x="2601685" y="2304586"/>
            <a:ext cx="2255817" cy="1651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39B747-2C08-01DC-3694-DA3B8BCB989F}"/>
              </a:ext>
            </a:extLst>
          </p:cNvPr>
          <p:cNvSpPr/>
          <p:nvPr/>
        </p:nvSpPr>
        <p:spPr>
          <a:xfrm>
            <a:off x="5312476" y="2304586"/>
            <a:ext cx="2255817" cy="1651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7F4E2D-23C9-CD19-BC36-32EF1587588A}"/>
              </a:ext>
            </a:extLst>
          </p:cNvPr>
          <p:cNvSpPr/>
          <p:nvPr/>
        </p:nvSpPr>
        <p:spPr>
          <a:xfrm>
            <a:off x="8023265" y="2304586"/>
            <a:ext cx="2255817" cy="1651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FFF7F7-B8F2-4780-C6D0-45D786475BFD}"/>
              </a:ext>
            </a:extLst>
          </p:cNvPr>
          <p:cNvSpPr/>
          <p:nvPr/>
        </p:nvSpPr>
        <p:spPr>
          <a:xfrm>
            <a:off x="2802577" y="3181118"/>
            <a:ext cx="1816925" cy="4512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bin/library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B38385-1696-046E-6ABB-49299C55EA34}"/>
              </a:ext>
            </a:extLst>
          </p:cNvPr>
          <p:cNvSpPr/>
          <p:nvPr/>
        </p:nvSpPr>
        <p:spPr>
          <a:xfrm>
            <a:off x="2802578" y="2517306"/>
            <a:ext cx="1816925" cy="4512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 1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E6A529-4331-F6B9-D0F1-682D8AFB531B}"/>
              </a:ext>
            </a:extLst>
          </p:cNvPr>
          <p:cNvSpPr/>
          <p:nvPr/>
        </p:nvSpPr>
        <p:spPr>
          <a:xfrm>
            <a:off x="5531921" y="3181118"/>
            <a:ext cx="1816925" cy="4512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bin/library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928B25-5D4E-20FF-37E1-58ED3533AD9C}"/>
              </a:ext>
            </a:extLst>
          </p:cNvPr>
          <p:cNvSpPr/>
          <p:nvPr/>
        </p:nvSpPr>
        <p:spPr>
          <a:xfrm>
            <a:off x="5531922" y="2517306"/>
            <a:ext cx="1816925" cy="4512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 2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D8C685-5F23-E366-9D0E-5A51DB691F86}"/>
              </a:ext>
            </a:extLst>
          </p:cNvPr>
          <p:cNvSpPr/>
          <p:nvPr/>
        </p:nvSpPr>
        <p:spPr>
          <a:xfrm>
            <a:off x="8261266" y="3181118"/>
            <a:ext cx="1816925" cy="4512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bin/library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E5D470-03CD-98EF-0F30-1E5557CA9830}"/>
              </a:ext>
            </a:extLst>
          </p:cNvPr>
          <p:cNvSpPr/>
          <p:nvPr/>
        </p:nvSpPr>
        <p:spPr>
          <a:xfrm>
            <a:off x="8261267" y="2517306"/>
            <a:ext cx="1816925" cy="4512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 3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3908AD-D518-FE94-27F2-F5F5E1EC9E67}"/>
              </a:ext>
            </a:extLst>
          </p:cNvPr>
          <p:cNvSpPr txBox="1"/>
          <p:nvPr/>
        </p:nvSpPr>
        <p:spPr>
          <a:xfrm>
            <a:off x="3070893" y="1775490"/>
            <a:ext cx="1274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Container 1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EFCB9A-8AC2-E794-BAE0-75C8B883B8FF}"/>
              </a:ext>
            </a:extLst>
          </p:cNvPr>
          <p:cNvSpPr txBox="1"/>
          <p:nvPr/>
        </p:nvSpPr>
        <p:spPr>
          <a:xfrm>
            <a:off x="5803093" y="1775490"/>
            <a:ext cx="1274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Container 2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F12B84-8510-8242-2466-08C306CB7A1F}"/>
              </a:ext>
            </a:extLst>
          </p:cNvPr>
          <p:cNvSpPr txBox="1"/>
          <p:nvPr/>
        </p:nvSpPr>
        <p:spPr>
          <a:xfrm>
            <a:off x="8513883" y="1754491"/>
            <a:ext cx="1274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Container 3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0AC102-522E-86C9-D212-69D543DA7128}"/>
              </a:ext>
            </a:extLst>
          </p:cNvPr>
          <p:cNvSpPr/>
          <p:nvPr/>
        </p:nvSpPr>
        <p:spPr>
          <a:xfrm>
            <a:off x="2601685" y="4132613"/>
            <a:ext cx="7677397" cy="552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 Engin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606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8" grpId="0"/>
      <p:bldP spid="19" grpId="0"/>
      <p:bldP spid="20" grpId="0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6B28-155C-6BE2-19F4-6B4704EDD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Containers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11A59-D782-6DB9-5CDF-0AE4870CC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Containers don’t need separate operating system; they share the Host Machine Operating System.</a:t>
            </a:r>
          </a:p>
          <a:p>
            <a:r>
              <a:rPr lang="en-US" dirty="0"/>
              <a:t>As Guest operating system is not there for container they become light weight and creating, destroying, restarting will take only few seconds.</a:t>
            </a:r>
          </a:p>
          <a:p>
            <a:r>
              <a:rPr lang="en-US" dirty="0"/>
              <a:t>Inside the same server containers can have separate isolated environment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Container 1 : Java 8</a:t>
            </a:r>
          </a:p>
          <a:p>
            <a:pPr lvl="1"/>
            <a:r>
              <a:rPr lang="en-IN" dirty="0"/>
              <a:t>Container 2 : Java 17</a:t>
            </a:r>
          </a:p>
          <a:p>
            <a:pPr lvl="1"/>
            <a:r>
              <a:rPr lang="en-IN" dirty="0"/>
              <a:t>Container 3 : Python</a:t>
            </a:r>
          </a:p>
          <a:p>
            <a:r>
              <a:rPr lang="en-IN" dirty="0"/>
              <a:t>Installation of new application within container is very fast and simple using command.</a:t>
            </a:r>
          </a:p>
        </p:txBody>
      </p:sp>
    </p:spTree>
    <p:extLst>
      <p:ext uri="{BB962C8B-B14F-4D97-AF65-F5344CB8AC3E}">
        <p14:creationId xmlns:p14="http://schemas.microsoft.com/office/powerpoint/2010/main" val="1785291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FB58D-5DDA-8106-0AC9-D2D533F87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Container?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3127E-2D48-9B8D-D579-862DD8481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Container is an isolated environment that allows us to build &amp; run software packages.</a:t>
            </a:r>
          </a:p>
          <a:p>
            <a:r>
              <a:rPr lang="en-US" dirty="0"/>
              <a:t>These software packages include the code and all dependencies to run application quickly &amp; reliably on any computing environment.</a:t>
            </a:r>
          </a:p>
          <a:p>
            <a:r>
              <a:rPr lang="en-US" dirty="0"/>
              <a:t>We call these packages as Container.</a:t>
            </a:r>
          </a:p>
          <a:p>
            <a:r>
              <a:rPr lang="en-US" dirty="0"/>
              <a:t>From our Microservices application we will create the container images.</a:t>
            </a:r>
          </a:p>
          <a:p>
            <a:r>
              <a:rPr lang="en-US" dirty="0"/>
              <a:t>From the container image we can create any number of containers.</a:t>
            </a:r>
          </a:p>
          <a:p>
            <a:r>
              <a:rPr lang="en-US" dirty="0"/>
              <a:t>Example From a Class we create any number of objects.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058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4897D-55A5-E2D6-7A4E-1EADFF67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Containerization?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45987-8D1E-EF3D-F1D2-6FC6C71E5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containerization is an operating system virtualization method, that is used to deploy and run containers without using any virtual machine.</a:t>
            </a:r>
          </a:p>
          <a:p>
            <a:r>
              <a:rPr lang="en-US" dirty="0"/>
              <a:t>Containers can run on physical hardware, in cloud and across multiple operating systems.</a:t>
            </a:r>
          </a:p>
        </p:txBody>
      </p:sp>
    </p:spTree>
    <p:extLst>
      <p:ext uri="{BB962C8B-B14F-4D97-AF65-F5344CB8AC3E}">
        <p14:creationId xmlns:p14="http://schemas.microsoft.com/office/powerpoint/2010/main" val="186056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589B-A611-D105-0255-636278F77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Container is different from Virtual Machine?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8A08B-BE69-9FC0-E9F7-EB05318DD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Already explained.</a:t>
            </a:r>
          </a:p>
          <a:p>
            <a:r>
              <a:rPr lang="en-US" dirty="0"/>
              <a:t>In case of Virtual Machine – The virtualization is at hardware level.</a:t>
            </a:r>
          </a:p>
          <a:p>
            <a:r>
              <a:rPr lang="en-US" dirty="0"/>
              <a:t>In case of Container – The virtualization is at operating system level.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12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56763-8446-55E7-BF9B-566C6586C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Docker?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4EB38-4709-8DA2-0A58-4B8A5BF9B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is an open-sourced platform or product.</a:t>
            </a:r>
          </a:p>
          <a:p>
            <a:r>
              <a:rPr lang="en-US" dirty="0"/>
              <a:t>Docker enables developers to automate the deployment, scaling and management of application using containerization.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763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4E5B-B041-7A8D-625E-6AC84438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exactly happen inside containerization?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B9369-92F0-6736-0756-4F1FEBAB1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containerization Linux features such as namespace and </a:t>
            </a:r>
            <a:r>
              <a:rPr lang="en-US" dirty="0" err="1"/>
              <a:t>cgroups</a:t>
            </a:r>
            <a:r>
              <a:rPr lang="en-US" dirty="0"/>
              <a:t> play a very crucial role in providing isolation and resource management.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644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7025A-FE0C-A3ED-053E-CDA3E5C52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namespace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A79AC-A04D-3CC9-1826-658DD71BC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Namespace is a concept of Linux which allow creation of isolated environments within the same operating system.</a:t>
            </a:r>
          </a:p>
          <a:p>
            <a:r>
              <a:rPr lang="en-US" dirty="0"/>
              <a:t>Each container has its own set of namespace, including process, network, mount, IPC(Inter Process Communication) and use namespace.</a:t>
            </a:r>
          </a:p>
          <a:p>
            <a:r>
              <a:rPr lang="en-US" dirty="0"/>
              <a:t>These namespaces ensure that processes within a container are only aware of their specific namespace, providing a level of isolation.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232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2FB81-708C-134A-32BF-A006051C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Control Group(CG)?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B99CE-C6F2-745A-0CC9-7B8B7B1AA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Group provides resource management and allocation capabilities for containers.</a:t>
            </a:r>
          </a:p>
          <a:p>
            <a:r>
              <a:rPr lang="en-US" dirty="0"/>
              <a:t>Control Group control and limit the resources such as CPU, memory, disk, IO &amp; network bandwidth the container can consume.</a:t>
            </a:r>
          </a:p>
          <a:p>
            <a:r>
              <a:rPr lang="en-US" dirty="0"/>
              <a:t>By Control Groups container runtimes can enforce resource restrictions and prevent one container from monopolizing system resources, ensuring fail allocation among containers.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643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177CD-43CB-2323-CC28-00BE4CCA1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dose Docker works on MAC &amp; Windows?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4108E-ADDF-4BF0-E764-D6513C45F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install Docker Desktop on MAC or Windows system, Only Docker client is installed on your system.</a:t>
            </a:r>
          </a:p>
          <a:p>
            <a:r>
              <a:rPr lang="en-US" dirty="0"/>
              <a:t>Behind the scenes, a light weight virtual machine is configured with Linux and the Docker server is install within that virtual machine.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1872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CB0B-A33A-5584-0431-FCB088215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Architecture?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0D5D52-4633-AE9C-B759-DA974A99B5A6}"/>
              </a:ext>
            </a:extLst>
          </p:cNvPr>
          <p:cNvSpPr/>
          <p:nvPr/>
        </p:nvSpPr>
        <p:spPr>
          <a:xfrm>
            <a:off x="3911042" y="2012736"/>
            <a:ext cx="4298733" cy="4606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693DB4-74A6-528A-8BF7-72E4013266D3}"/>
              </a:ext>
            </a:extLst>
          </p:cNvPr>
          <p:cNvSpPr/>
          <p:nvPr/>
        </p:nvSpPr>
        <p:spPr>
          <a:xfrm>
            <a:off x="8730905" y="2012736"/>
            <a:ext cx="3268718" cy="4606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95AB40-C556-BF89-A42B-2EF80378EB67}"/>
              </a:ext>
            </a:extLst>
          </p:cNvPr>
          <p:cNvSpPr/>
          <p:nvPr/>
        </p:nvSpPr>
        <p:spPr>
          <a:xfrm>
            <a:off x="121195" y="1994451"/>
            <a:ext cx="3268718" cy="4606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 sz="1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FE2665-D669-D8ED-7624-023A2FAF9124}"/>
              </a:ext>
            </a:extLst>
          </p:cNvPr>
          <p:cNvSpPr/>
          <p:nvPr/>
        </p:nvSpPr>
        <p:spPr>
          <a:xfrm>
            <a:off x="420741" y="2594794"/>
            <a:ext cx="2669628" cy="58961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dk1"/>
                </a:solidFill>
              </a:rPr>
              <a:t>Docker Remote API</a:t>
            </a:r>
            <a:endParaRPr lang="en-IN" dirty="0">
              <a:solidFill>
                <a:schemeClr val="dk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B84A868-FABA-DC9D-BA5A-FDDA6DD4E395}"/>
              </a:ext>
            </a:extLst>
          </p:cNvPr>
          <p:cNvSpPr/>
          <p:nvPr/>
        </p:nvSpPr>
        <p:spPr>
          <a:xfrm>
            <a:off x="439135" y="5455086"/>
            <a:ext cx="2669628" cy="58961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dk1"/>
                </a:solidFill>
              </a:rPr>
              <a:t>Docker CLI</a:t>
            </a:r>
            <a:endParaRPr lang="en-IN" dirty="0">
              <a:solidFill>
                <a:schemeClr val="dk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A3D6AB-7710-CC94-42FD-FB444A8B13FA}"/>
              </a:ext>
            </a:extLst>
          </p:cNvPr>
          <p:cNvSpPr txBox="1"/>
          <p:nvPr/>
        </p:nvSpPr>
        <p:spPr>
          <a:xfrm>
            <a:off x="1033565" y="1588001"/>
            <a:ext cx="1433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Docker Client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131C0B-F4B8-FA64-E461-E3CB82EDB3C9}"/>
              </a:ext>
            </a:extLst>
          </p:cNvPr>
          <p:cNvSpPr txBox="1"/>
          <p:nvPr/>
        </p:nvSpPr>
        <p:spPr>
          <a:xfrm>
            <a:off x="4915947" y="1588000"/>
            <a:ext cx="209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Docker Server - Host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A1E011-62DC-C808-163B-29217F330421}"/>
              </a:ext>
            </a:extLst>
          </p:cNvPr>
          <p:cNvSpPr txBox="1"/>
          <p:nvPr/>
        </p:nvSpPr>
        <p:spPr>
          <a:xfrm>
            <a:off x="9310138" y="1580001"/>
            <a:ext cx="1640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Docker Registry</a:t>
            </a:r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98BAEE7-FE89-91F3-4905-C9E5C9FEB587}"/>
              </a:ext>
            </a:extLst>
          </p:cNvPr>
          <p:cNvSpPr/>
          <p:nvPr/>
        </p:nvSpPr>
        <p:spPr>
          <a:xfrm>
            <a:off x="4058187" y="2652605"/>
            <a:ext cx="4004442" cy="58961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dk1"/>
                </a:solidFill>
              </a:rPr>
              <a:t>Docker Demon</a:t>
            </a:r>
            <a:endParaRPr lang="en-IN" dirty="0">
              <a:solidFill>
                <a:schemeClr val="dk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8D9AE7-DCD4-5532-E6DB-29A747249A5A}"/>
              </a:ext>
            </a:extLst>
          </p:cNvPr>
          <p:cNvSpPr/>
          <p:nvPr/>
        </p:nvSpPr>
        <p:spPr>
          <a:xfrm>
            <a:off x="4179059" y="3867589"/>
            <a:ext cx="1681655" cy="2523962"/>
          </a:xfrm>
          <a:prstGeom prst="rect">
            <a:avLst/>
          </a:prstGeom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605CEA-3EF9-6B0F-F88F-A6C8BC9059FE}"/>
              </a:ext>
            </a:extLst>
          </p:cNvPr>
          <p:cNvSpPr/>
          <p:nvPr/>
        </p:nvSpPr>
        <p:spPr>
          <a:xfrm>
            <a:off x="6286382" y="3867589"/>
            <a:ext cx="1681655" cy="2523962"/>
          </a:xfrm>
          <a:prstGeom prst="rect">
            <a:avLst/>
          </a:prstGeom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69F5850-AD89-FA22-DC37-6D2458526D83}"/>
              </a:ext>
            </a:extLst>
          </p:cNvPr>
          <p:cNvSpPr/>
          <p:nvPr/>
        </p:nvSpPr>
        <p:spPr>
          <a:xfrm>
            <a:off x="4412913" y="4119838"/>
            <a:ext cx="1213945" cy="4624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Container 1 of App</a:t>
            </a:r>
            <a:endParaRPr lang="en-IN" sz="12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343735C-178A-1473-019D-923535F29576}"/>
              </a:ext>
            </a:extLst>
          </p:cNvPr>
          <p:cNvSpPr/>
          <p:nvPr/>
        </p:nvSpPr>
        <p:spPr>
          <a:xfrm>
            <a:off x="4412912" y="4845271"/>
            <a:ext cx="1213945" cy="4624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Container 2 of App</a:t>
            </a:r>
            <a:endParaRPr lang="en-IN" sz="12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9370E33-DF7F-5B10-19F6-C1B6A2070273}"/>
              </a:ext>
            </a:extLst>
          </p:cNvPr>
          <p:cNvSpPr/>
          <p:nvPr/>
        </p:nvSpPr>
        <p:spPr>
          <a:xfrm>
            <a:off x="4412913" y="5570705"/>
            <a:ext cx="1213945" cy="4624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MySQL Container</a:t>
            </a:r>
            <a:endParaRPr lang="en-IN" sz="12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34C4FE4-3921-F9E3-BB61-411E82745E57}"/>
              </a:ext>
            </a:extLst>
          </p:cNvPr>
          <p:cNvSpPr/>
          <p:nvPr/>
        </p:nvSpPr>
        <p:spPr>
          <a:xfrm>
            <a:off x="6505786" y="4456169"/>
            <a:ext cx="1213945" cy="4624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Image of App</a:t>
            </a:r>
            <a:endParaRPr lang="en-IN" sz="12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3D9AD6D-431B-9A65-2396-33A52912FEBC}"/>
              </a:ext>
            </a:extLst>
          </p:cNvPr>
          <p:cNvSpPr/>
          <p:nvPr/>
        </p:nvSpPr>
        <p:spPr>
          <a:xfrm>
            <a:off x="6505785" y="5181602"/>
            <a:ext cx="1213945" cy="4624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MySQL Image</a:t>
            </a:r>
            <a:endParaRPr lang="en-IN" sz="12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F5686FB-6E7D-AB5F-C615-92475571C5E2}"/>
              </a:ext>
            </a:extLst>
          </p:cNvPr>
          <p:cNvCxnSpPr/>
          <p:nvPr/>
        </p:nvCxnSpPr>
        <p:spPr>
          <a:xfrm flipH="1" flipV="1">
            <a:off x="5626857" y="4456169"/>
            <a:ext cx="878928" cy="262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EA5AC9B-A668-529D-1C5B-1512F8B2FF48}"/>
              </a:ext>
            </a:extLst>
          </p:cNvPr>
          <p:cNvCxnSpPr>
            <a:stCxn id="25" idx="1"/>
          </p:cNvCxnSpPr>
          <p:nvPr/>
        </p:nvCxnSpPr>
        <p:spPr>
          <a:xfrm flipH="1" flipV="1">
            <a:off x="5626857" y="4340554"/>
            <a:ext cx="878929" cy="3468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3BE7531-D02F-9991-7D45-A93F30153D8A}"/>
              </a:ext>
            </a:extLst>
          </p:cNvPr>
          <p:cNvCxnSpPr>
            <a:cxnSpLocks/>
            <a:stCxn id="25" idx="1"/>
            <a:endCxn id="20" idx="3"/>
          </p:cNvCxnSpPr>
          <p:nvPr/>
        </p:nvCxnSpPr>
        <p:spPr>
          <a:xfrm flipH="1">
            <a:off x="5626857" y="4687397"/>
            <a:ext cx="878929" cy="389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8E121C2-99A2-0949-31E7-62301460DB64}"/>
              </a:ext>
            </a:extLst>
          </p:cNvPr>
          <p:cNvCxnSpPr>
            <a:cxnSpLocks/>
          </p:cNvCxnSpPr>
          <p:nvPr/>
        </p:nvCxnSpPr>
        <p:spPr>
          <a:xfrm flipH="1">
            <a:off x="5634084" y="5412830"/>
            <a:ext cx="878929" cy="389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C7FB9B4-D152-626A-961F-1C6F0ACDB262}"/>
              </a:ext>
            </a:extLst>
          </p:cNvPr>
          <p:cNvSpPr/>
          <p:nvPr/>
        </p:nvSpPr>
        <p:spPr>
          <a:xfrm>
            <a:off x="9030450" y="2652605"/>
            <a:ext cx="2669628" cy="58961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dk1"/>
                </a:solidFill>
              </a:rPr>
              <a:t>Docker Hub</a:t>
            </a:r>
            <a:endParaRPr lang="en-IN" dirty="0">
              <a:solidFill>
                <a:schemeClr val="dk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3255CC8-0B99-6A63-52EE-3CE3E124FC67}"/>
              </a:ext>
            </a:extLst>
          </p:cNvPr>
          <p:cNvSpPr/>
          <p:nvPr/>
        </p:nvSpPr>
        <p:spPr>
          <a:xfrm>
            <a:off x="9030450" y="5486621"/>
            <a:ext cx="2669628" cy="58961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dk1"/>
                </a:solidFill>
              </a:rPr>
              <a:t>Private Registry</a:t>
            </a:r>
            <a:endParaRPr lang="en-IN" dirty="0">
              <a:solidFill>
                <a:schemeClr val="dk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490A370-B21D-1C09-7D6E-6D08752508C1}"/>
              </a:ext>
            </a:extLst>
          </p:cNvPr>
          <p:cNvCxnSpPr/>
          <p:nvPr/>
        </p:nvCxnSpPr>
        <p:spPr>
          <a:xfrm>
            <a:off x="3389913" y="2932386"/>
            <a:ext cx="52112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5B95FFA-27CF-B6A2-4881-D6E76EBC384D}"/>
              </a:ext>
            </a:extLst>
          </p:cNvPr>
          <p:cNvCxnSpPr/>
          <p:nvPr/>
        </p:nvCxnSpPr>
        <p:spPr>
          <a:xfrm>
            <a:off x="8209775" y="2900855"/>
            <a:ext cx="5211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6EC6CE-DCB8-8A9B-C147-EA1EB7F2A13B}"/>
              </a:ext>
            </a:extLst>
          </p:cNvPr>
          <p:cNvCxnSpPr/>
          <p:nvPr/>
        </p:nvCxnSpPr>
        <p:spPr>
          <a:xfrm flipH="1">
            <a:off x="7968037" y="5181602"/>
            <a:ext cx="7628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8D5EC32-224E-E2AC-A300-406C710A73E8}"/>
              </a:ext>
            </a:extLst>
          </p:cNvPr>
          <p:cNvCxnSpPr/>
          <p:nvPr/>
        </p:nvCxnSpPr>
        <p:spPr>
          <a:xfrm flipH="1">
            <a:off x="3389913" y="5770398"/>
            <a:ext cx="52112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AE5DC9D-D007-B110-D8F1-1903283195CE}"/>
              </a:ext>
            </a:extLst>
          </p:cNvPr>
          <p:cNvSpPr txBox="1"/>
          <p:nvPr/>
        </p:nvSpPr>
        <p:spPr>
          <a:xfrm>
            <a:off x="3466773" y="239665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  <a:endParaRPr lang="en-IN" sz="2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CEF984-1F9B-90AF-2C3D-2AB9CCBBF1EC}"/>
              </a:ext>
            </a:extLst>
          </p:cNvPr>
          <p:cNvSpPr txBox="1"/>
          <p:nvPr/>
        </p:nvSpPr>
        <p:spPr>
          <a:xfrm>
            <a:off x="8286636" y="23663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  <a:endParaRPr lang="en-IN" sz="2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43DDEE-19B8-DC92-7554-8DD8F9A89969}"/>
              </a:ext>
            </a:extLst>
          </p:cNvPr>
          <p:cNvSpPr txBox="1"/>
          <p:nvPr/>
        </p:nvSpPr>
        <p:spPr>
          <a:xfrm>
            <a:off x="8286636" y="465838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3</a:t>
            </a:r>
            <a:endParaRPr lang="en-IN" sz="2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E73BD2-CA2A-D793-0B22-9B88FE5D34EF}"/>
              </a:ext>
            </a:extLst>
          </p:cNvPr>
          <p:cNvSpPr txBox="1"/>
          <p:nvPr/>
        </p:nvSpPr>
        <p:spPr>
          <a:xfrm>
            <a:off x="5876704" y="516036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4</a:t>
            </a:r>
            <a:endParaRPr lang="en-IN" sz="2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FE6699-4A03-7304-1D6B-48A7BD01FA71}"/>
              </a:ext>
            </a:extLst>
          </p:cNvPr>
          <p:cNvSpPr txBox="1"/>
          <p:nvPr/>
        </p:nvSpPr>
        <p:spPr>
          <a:xfrm>
            <a:off x="3474226" y="524192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5</a:t>
            </a:r>
            <a:endParaRPr lang="en-IN" sz="28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4A1090-978B-FC5B-4557-F1AF450D9297}"/>
              </a:ext>
            </a:extLst>
          </p:cNvPr>
          <p:cNvSpPr txBox="1"/>
          <p:nvPr/>
        </p:nvSpPr>
        <p:spPr>
          <a:xfrm>
            <a:off x="230971" y="4078944"/>
            <a:ext cx="30491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</a:rPr>
              <a:t>We can issue commands to Docker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Demon using Docker API or Docker CLI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DD1CBD8-D32E-E874-E59C-9CB75F5CE05C}"/>
              </a:ext>
            </a:extLst>
          </p:cNvPr>
          <p:cNvSpPr txBox="1"/>
          <p:nvPr/>
        </p:nvSpPr>
        <p:spPr>
          <a:xfrm>
            <a:off x="4761799" y="2101683"/>
            <a:ext cx="30491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</a:rPr>
              <a:t>Using Docker Demon, we create and mange Docker Images  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0499FC-2329-B5FE-64C5-DAAEB547B268}"/>
              </a:ext>
            </a:extLst>
          </p:cNvPr>
          <p:cNvSpPr txBox="1"/>
          <p:nvPr/>
        </p:nvSpPr>
        <p:spPr>
          <a:xfrm>
            <a:off x="8840681" y="4144743"/>
            <a:ext cx="30491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</a:rPr>
              <a:t>Docker Images can be pulled from Docker Hub or private registry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377422-D47B-21A4-1117-409D875ABEA7}"/>
              </a:ext>
            </a:extLst>
          </p:cNvPr>
          <p:cNvSpPr txBox="1"/>
          <p:nvPr/>
        </p:nvSpPr>
        <p:spPr>
          <a:xfrm>
            <a:off x="4412912" y="3446331"/>
            <a:ext cx="119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Containers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A4ABFB-4133-594E-4BF9-0B756BDBFC92}"/>
              </a:ext>
            </a:extLst>
          </p:cNvPr>
          <p:cNvSpPr txBox="1"/>
          <p:nvPr/>
        </p:nvSpPr>
        <p:spPr>
          <a:xfrm>
            <a:off x="6590893" y="3470555"/>
            <a:ext cx="84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Images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89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  <p:bldP spid="26" grpId="0" animBg="1"/>
      <p:bldP spid="34" grpId="0" animBg="1"/>
      <p:bldP spid="35" grpId="0" animBg="1"/>
      <p:bldP spid="46" grpId="0"/>
      <p:bldP spid="47" grpId="0"/>
      <p:bldP spid="48" grpId="0"/>
      <p:bldP spid="49" grpId="0"/>
      <p:bldP spid="50" grpId="0"/>
      <p:bldP spid="52" grpId="0"/>
      <p:bldP spid="53" grpId="0"/>
      <p:bldP spid="54" grpId="0"/>
      <p:bldP spid="55" grpId="0"/>
      <p:bldP spid="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D5E6E-0F81-DA86-124F-320662BFC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Installation 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66B5C-8C01-7E7F-CB44-6F89EA664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https://www.docker.com</a:t>
            </a:r>
            <a:r>
              <a:rPr lang="en-US" dirty="0"/>
              <a:t> </a:t>
            </a:r>
          </a:p>
          <a:p>
            <a:r>
              <a:rPr lang="en-US" dirty="0"/>
              <a:t>Download and install docker.exe</a:t>
            </a:r>
          </a:p>
          <a:p>
            <a:r>
              <a:rPr lang="en-US" dirty="0"/>
              <a:t>Verify using below command in </a:t>
            </a:r>
            <a:r>
              <a:rPr lang="en-US" dirty="0" err="1"/>
              <a:t>cmd</a:t>
            </a:r>
            <a:endParaRPr lang="en-US" dirty="0"/>
          </a:p>
          <a:p>
            <a:pPr lvl="1"/>
            <a:r>
              <a:rPr lang="en-IN" dirty="0">
                <a:latin typeface="Consolas" panose="020B0609020204030204" pitchFamily="49" charset="0"/>
              </a:rPr>
              <a:t>docker version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7557F7-DE60-60BC-5428-9BCFC0F06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226" y="1153262"/>
            <a:ext cx="5548139" cy="521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24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B9913-5C5D-97B9-2EC3-49D0A2680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Docker Images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2C79F-D6DE-68C2-62A3-415CF45EB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 generate docker images from our existing microservices, we will explore the below three  different commonly used approaches</a:t>
            </a:r>
          </a:p>
          <a:p>
            <a:r>
              <a:rPr lang="en-IN" dirty="0"/>
              <a:t>Using Docker file – Accounts Microservices </a:t>
            </a:r>
          </a:p>
          <a:p>
            <a:pPr lvl="1"/>
            <a:r>
              <a:rPr lang="en-IN" dirty="0"/>
              <a:t>We need to write a docker file with the list of instructions which can be passed to Docker server to generate a Docker image.</a:t>
            </a:r>
          </a:p>
          <a:p>
            <a:r>
              <a:rPr lang="en-IN" dirty="0"/>
              <a:t>Using </a:t>
            </a:r>
            <a:r>
              <a:rPr lang="en-IN" dirty="0" err="1"/>
              <a:t>Buildpacks</a:t>
            </a:r>
            <a:r>
              <a:rPr lang="en-IN" dirty="0"/>
              <a:t> – Loans Microservices</a:t>
            </a:r>
          </a:p>
          <a:p>
            <a:pPr lvl="1"/>
            <a:r>
              <a:rPr lang="en-IN" dirty="0" err="1"/>
              <a:t>Buildpacks</a:t>
            </a:r>
            <a:r>
              <a:rPr lang="en-IN" dirty="0"/>
              <a:t> is a project initiated by Heroku &amp; Pivotal. It simplifies containerization since we don’t need to write a docker file.</a:t>
            </a:r>
          </a:p>
          <a:p>
            <a:r>
              <a:rPr lang="en-IN" dirty="0"/>
              <a:t>Google Jib – Cards Microservices </a:t>
            </a:r>
          </a:p>
          <a:p>
            <a:pPr lvl="1"/>
            <a:r>
              <a:rPr lang="en-IN" dirty="0"/>
              <a:t>Jib is an open-source Java tool maintained by Google for building Docker images of Java application. It simplifies containerization since we don’t need to write a docker file.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11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8881-482F-CED1-EFB0-D1D05C1B9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generate Docker image of Account microservices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118C4-A2C3-5EB2-6768-B3915FE7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Add packaging tag into pom.xml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IN" dirty="0">
                <a:latin typeface="Consolas" panose="020B0609020204030204" pitchFamily="49" charset="0"/>
              </a:rPr>
              <a:t>&lt;packaging&gt;jar&lt;/packaging&gt;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Validate Maven installation and version using below command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	</a:t>
            </a:r>
            <a:r>
              <a:rPr lang="en-IN" dirty="0" err="1">
                <a:latin typeface="Consolas" panose="020B0609020204030204" pitchFamily="49" charset="0"/>
              </a:rPr>
              <a:t>mvn</a:t>
            </a:r>
            <a:r>
              <a:rPr lang="en-IN" dirty="0">
                <a:latin typeface="Consolas" panose="020B0609020204030204" pitchFamily="49" charset="0"/>
              </a:rPr>
              <a:t> –version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Clear and Build the jar file for account microservice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   </a:t>
            </a:r>
            <a:r>
              <a:rPr lang="en-IN" dirty="0" err="1">
                <a:latin typeface="Consolas" panose="020B0609020204030204" pitchFamily="49" charset="0"/>
              </a:rPr>
              <a:t>mvn</a:t>
            </a:r>
            <a:r>
              <a:rPr lang="en-IN" dirty="0">
                <a:latin typeface="Consolas" panose="020B0609020204030204" pitchFamily="49" charset="0"/>
              </a:rPr>
              <a:t> clean install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Start account application using Maven command</a:t>
            </a:r>
            <a:br>
              <a:rPr lang="en-IN" dirty="0">
                <a:latin typeface="Consolas" panose="020B0609020204030204" pitchFamily="49" charset="0"/>
              </a:rPr>
            </a:br>
            <a:r>
              <a:rPr lang="en-IN" dirty="0">
                <a:latin typeface="Consolas" panose="020B0609020204030204" pitchFamily="49" charset="0"/>
              </a:rPr>
              <a:t>	</a:t>
            </a:r>
            <a:r>
              <a:rPr lang="en-IN" dirty="0" err="1">
                <a:latin typeface="Consolas" panose="020B0609020204030204" pitchFamily="49" charset="0"/>
              </a:rPr>
              <a:t>mvn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latin typeface="Consolas" panose="020B0609020204030204" pitchFamily="49" charset="0"/>
              </a:rPr>
              <a:t>spring-boot:run</a:t>
            </a:r>
            <a:endParaRPr lang="en-IN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Start account application using Java command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>
                <a:latin typeface="Consolas" panose="020B0609020204030204" pitchFamily="49" charset="0"/>
              </a:rPr>
              <a:t>java –jar target/accounts-0.0.1-SHAPSHOT.jar</a:t>
            </a:r>
          </a:p>
        </p:txBody>
      </p:sp>
    </p:spTree>
    <p:extLst>
      <p:ext uri="{BB962C8B-B14F-4D97-AF65-F5344CB8AC3E}">
        <p14:creationId xmlns:p14="http://schemas.microsoft.com/office/powerpoint/2010/main" val="207340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768C-F9DA-EC07-15A1-776736CF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generate Docker image of Account microservices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F9465-6F04-C962-6F4D-218BF1E20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90844"/>
          </a:xfrm>
        </p:spPr>
        <p:txBody>
          <a:bodyPr/>
          <a:lstStyle/>
          <a:p>
            <a:pPr marL="514350" indent="-514350">
              <a:buFont typeface="+mj-lt"/>
              <a:buAutoNum type="arabicPeriod" startAt="6"/>
            </a:pPr>
            <a:r>
              <a:rPr lang="en-US" dirty="0"/>
              <a:t>Make sure your docker service is running in local system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IN" dirty="0"/>
              <a:t>Create new file as </a:t>
            </a:r>
            <a:r>
              <a:rPr lang="en-IN" dirty="0" err="1"/>
              <a:t>dockerfile</a:t>
            </a:r>
            <a:r>
              <a:rPr lang="en-IN" dirty="0"/>
              <a:t> in accounts folder as below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E6B042-585E-3D93-BD9F-68A2D2A7079E}"/>
              </a:ext>
            </a:extLst>
          </p:cNvPr>
          <p:cNvSpPr txBox="1"/>
          <p:nvPr/>
        </p:nvSpPr>
        <p:spPr>
          <a:xfrm>
            <a:off x="838200" y="3016469"/>
            <a:ext cx="8669361" cy="31393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</a:rPr>
              <a:t>#Start with a base image containing Java runtime</a:t>
            </a:r>
          </a:p>
          <a:p>
            <a:r>
              <a:rPr lang="en-IN" dirty="0">
                <a:latin typeface="Consolas" panose="020B0609020204030204" pitchFamily="49" charset="0"/>
              </a:rPr>
              <a:t>FROM openjdk:21-jdk-slim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r>
              <a:rPr lang="en-IN" dirty="0">
                <a:latin typeface="Consolas" panose="020B0609020204030204" pitchFamily="49" charset="0"/>
              </a:rPr>
              <a:t>#Information about who maintains the image</a:t>
            </a:r>
          </a:p>
          <a:p>
            <a:r>
              <a:rPr lang="en-IN" dirty="0">
                <a:latin typeface="Consolas" panose="020B0609020204030204" pitchFamily="49" charset="0"/>
              </a:rPr>
              <a:t>LABEL "</a:t>
            </a:r>
            <a:r>
              <a:rPr lang="en-IN" dirty="0" err="1">
                <a:latin typeface="Consolas" panose="020B0609020204030204" pitchFamily="49" charset="0"/>
              </a:rPr>
              <a:t>org.opencontainers.image.authors</a:t>
            </a:r>
            <a:r>
              <a:rPr lang="en-IN" dirty="0">
                <a:latin typeface="Consolas" panose="020B0609020204030204" pitchFamily="49" charset="0"/>
              </a:rPr>
              <a:t>"="eazybytes.com"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r>
              <a:rPr lang="en-IN" dirty="0">
                <a:latin typeface="Consolas" panose="020B0609020204030204" pitchFamily="49" charset="0"/>
              </a:rPr>
              <a:t># Add the application's jar to the image</a:t>
            </a:r>
          </a:p>
          <a:p>
            <a:r>
              <a:rPr lang="en-IN" dirty="0">
                <a:latin typeface="Consolas" panose="020B0609020204030204" pitchFamily="49" charset="0"/>
              </a:rPr>
              <a:t>COPY target/accounts-0.0.1-SNAPSHOT.jar accounts-0.0.1-SNAPSHOT.jar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r>
              <a:rPr lang="en-IN" dirty="0">
                <a:latin typeface="Consolas" panose="020B0609020204030204" pitchFamily="49" charset="0"/>
              </a:rPr>
              <a:t># execute the application</a:t>
            </a:r>
          </a:p>
          <a:p>
            <a:r>
              <a:rPr lang="en-IN" dirty="0">
                <a:latin typeface="Consolas" panose="020B0609020204030204" pitchFamily="49" charset="0"/>
              </a:rPr>
              <a:t>ENTRYPOINT ["java", "-jar", "accounts-0.0.1-SNAPSHOT.jar"]</a:t>
            </a:r>
          </a:p>
        </p:txBody>
      </p:sp>
    </p:spTree>
    <p:extLst>
      <p:ext uri="{BB962C8B-B14F-4D97-AF65-F5344CB8AC3E}">
        <p14:creationId xmlns:p14="http://schemas.microsoft.com/office/powerpoint/2010/main" val="48711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CDFC2-9AA5-47EF-B7E8-131EC1F7C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generate Docker image of Account microservices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AAFC5-F6A8-9CD1-F83E-07FF79CD4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8"/>
            </a:pPr>
            <a:r>
              <a:rPr lang="en-US" dirty="0"/>
              <a:t>Verify the Docker is running on local system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</a:rPr>
              <a:t>docker version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Run Docker build command to build image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</a:rPr>
              <a:t>docker build . –t </a:t>
            </a:r>
            <a:r>
              <a:rPr lang="en-US" dirty="0" err="1">
                <a:latin typeface="Consolas" panose="020B0609020204030204" pitchFamily="49" charset="0"/>
              </a:rPr>
              <a:t>borntocode</a:t>
            </a:r>
            <a:r>
              <a:rPr lang="en-US" dirty="0">
                <a:latin typeface="Consolas" panose="020B0609020204030204" pitchFamily="49" charset="0"/>
              </a:rPr>
              <a:t>/accounts:s2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Print list of all images from Docker Desktop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IN" dirty="0">
                <a:latin typeface="Consolas" panose="020B0609020204030204" pitchFamily="49" charset="0"/>
              </a:rPr>
              <a:t>docker images</a:t>
            </a:r>
          </a:p>
        </p:txBody>
      </p:sp>
    </p:spTree>
    <p:extLst>
      <p:ext uri="{BB962C8B-B14F-4D97-AF65-F5344CB8AC3E}">
        <p14:creationId xmlns:p14="http://schemas.microsoft.com/office/powerpoint/2010/main" val="254754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DAAC-0BFC-934D-4316-4C0AD6C0D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a Docker Container from Docker Image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222B8-F560-D086-BB3C-C53B70E55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 to create docker container from docker image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	docker run -d –p 8080:8080 </a:t>
            </a:r>
            <a:r>
              <a:rPr lang="en-US" dirty="0" err="1">
                <a:latin typeface="Consolas" panose="020B0609020204030204" pitchFamily="49" charset="0"/>
              </a:rPr>
              <a:t>borntocode</a:t>
            </a:r>
            <a:r>
              <a:rPr lang="en-US" dirty="0">
                <a:latin typeface="Consolas" panose="020B0609020204030204" pitchFamily="49" charset="0"/>
              </a:rPr>
              <a:t>/accounts:s2</a:t>
            </a:r>
          </a:p>
          <a:p>
            <a:r>
              <a:rPr lang="en-IN" dirty="0"/>
              <a:t>Validate by sending request from postman</a:t>
            </a:r>
          </a:p>
          <a:p>
            <a:pPr marL="457200" lvl="1" indent="0">
              <a:buNone/>
            </a:pPr>
            <a:r>
              <a:rPr lang="en-IN" dirty="0">
                <a:latin typeface="Consolas" panose="020B0609020204030204" pitchFamily="49" charset="0"/>
              </a:rPr>
              <a:t>	</a:t>
            </a:r>
            <a:r>
              <a:rPr lang="en-IN" dirty="0">
                <a:latin typeface="Consolas" panose="020B0609020204030204" pitchFamily="49" charset="0"/>
                <a:hlinkClick r:id="rId2"/>
              </a:rPr>
              <a:t>http://localhost:8080/api/create</a:t>
            </a:r>
            <a:r>
              <a:rPr lang="en-IN" dirty="0">
                <a:latin typeface="Consolas" panose="020B0609020204030204" pitchFamily="49" charset="0"/>
              </a:rPr>
              <a:t> </a:t>
            </a:r>
          </a:p>
          <a:p>
            <a:r>
              <a:rPr lang="en-IN" dirty="0"/>
              <a:t>List of existing running containers</a:t>
            </a:r>
          </a:p>
          <a:p>
            <a:pPr marL="457200" lvl="1" indent="0">
              <a:buNone/>
            </a:pPr>
            <a:r>
              <a:rPr lang="en-IN" dirty="0">
                <a:latin typeface="Consolas" panose="020B0609020204030204" pitchFamily="49" charset="0"/>
              </a:rPr>
              <a:t> 	docker </a:t>
            </a:r>
            <a:r>
              <a:rPr lang="en-IN" dirty="0" err="1">
                <a:latin typeface="Consolas" panose="020B0609020204030204" pitchFamily="49" charset="0"/>
              </a:rPr>
              <a:t>ps</a:t>
            </a:r>
            <a:endParaRPr lang="en-IN" dirty="0">
              <a:latin typeface="Consolas" panose="020B0609020204030204" pitchFamily="49" charset="0"/>
            </a:endParaRPr>
          </a:p>
          <a:p>
            <a:r>
              <a:rPr lang="en-IN" dirty="0"/>
              <a:t>List of all stopped containers</a:t>
            </a:r>
            <a:r>
              <a:rPr lang="en-IN" dirty="0">
                <a:latin typeface="Consolas" panose="020B0609020204030204" pitchFamily="49" charset="0"/>
              </a:rPr>
              <a:t> </a:t>
            </a:r>
          </a:p>
          <a:p>
            <a:pPr marL="914400" lvl="2" indent="0">
              <a:buNone/>
            </a:pPr>
            <a:r>
              <a:rPr lang="en-IN" dirty="0">
                <a:latin typeface="Consolas" panose="020B0609020204030204" pitchFamily="49" charset="0"/>
              </a:rPr>
              <a:t>Docker </a:t>
            </a:r>
            <a:r>
              <a:rPr lang="en-IN" dirty="0" err="1">
                <a:latin typeface="Consolas" panose="020B0609020204030204" pitchFamily="49" charset="0"/>
              </a:rPr>
              <a:t>ps</a:t>
            </a:r>
            <a:r>
              <a:rPr lang="en-IN" dirty="0">
                <a:latin typeface="Consolas" panose="020B0609020204030204" pitchFamily="49" charset="0"/>
              </a:rPr>
              <a:t> –a </a:t>
            </a:r>
          </a:p>
          <a:p>
            <a:r>
              <a:rPr lang="en-IN" dirty="0"/>
              <a:t>Same can be validated from the Docker desktop</a:t>
            </a:r>
          </a:p>
        </p:txBody>
      </p:sp>
    </p:spTree>
    <p:extLst>
      <p:ext uri="{BB962C8B-B14F-4D97-AF65-F5344CB8AC3E}">
        <p14:creationId xmlns:p14="http://schemas.microsoft.com/office/powerpoint/2010/main" val="125046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F19-A018-CAA5-D2F3-AA47CBA7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start-stop containers with command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13B1C-FD3D-8C6E-CEA9-44DBDEBC1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 to start docker container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	docker start &lt;container-id&gt;</a:t>
            </a:r>
          </a:p>
          <a:p>
            <a:r>
              <a:rPr lang="en-US" dirty="0"/>
              <a:t>Command to stop docker container </a:t>
            </a:r>
          </a:p>
          <a:p>
            <a:pPr marL="457200" lvl="1" indent="0">
              <a:buNone/>
            </a:pPr>
            <a:r>
              <a:rPr lang="en-IN" dirty="0">
                <a:latin typeface="Consolas" panose="020B0609020204030204" pitchFamily="49" charset="0"/>
              </a:rPr>
              <a:t>	docker stop &lt;container-id&gt;</a:t>
            </a:r>
          </a:p>
          <a:p>
            <a:r>
              <a:rPr lang="en-IN" dirty="0"/>
              <a:t>Creating multiple containers</a:t>
            </a:r>
          </a:p>
          <a:p>
            <a:pPr marL="457200" lvl="1" indent="0">
              <a:buNone/>
            </a:pPr>
            <a:r>
              <a:rPr lang="en-IN" dirty="0">
                <a:latin typeface="Consolas" panose="020B0609020204030204" pitchFamily="49" charset="0"/>
              </a:rPr>
              <a:t>	docker run –d –p 8080:8080 </a:t>
            </a:r>
            <a:r>
              <a:rPr lang="en-IN" dirty="0" err="1">
                <a:latin typeface="Consolas" panose="020B0609020204030204" pitchFamily="49" charset="0"/>
              </a:rPr>
              <a:t>borntocode</a:t>
            </a:r>
            <a:r>
              <a:rPr lang="en-IN" dirty="0">
                <a:latin typeface="Consolas" panose="020B0609020204030204" pitchFamily="49" charset="0"/>
              </a:rPr>
              <a:t>/accounts:s2</a:t>
            </a:r>
          </a:p>
          <a:p>
            <a:pPr marL="457200" lvl="1" indent="0">
              <a:buNone/>
            </a:pPr>
            <a:r>
              <a:rPr lang="en-IN" dirty="0">
                <a:latin typeface="Consolas" panose="020B0609020204030204" pitchFamily="49" charset="0"/>
              </a:rPr>
              <a:t>	docker run –d –p 8081:8080 </a:t>
            </a:r>
            <a:r>
              <a:rPr lang="en-IN" dirty="0" err="1">
                <a:latin typeface="Consolas" panose="020B0609020204030204" pitchFamily="49" charset="0"/>
              </a:rPr>
              <a:t>borntocode</a:t>
            </a:r>
            <a:r>
              <a:rPr lang="en-IN" dirty="0">
                <a:latin typeface="Consolas" panose="020B0609020204030204" pitchFamily="49" charset="0"/>
              </a:rPr>
              <a:t>/accounts:s2</a:t>
            </a:r>
          </a:p>
          <a:p>
            <a:r>
              <a:rPr lang="en-IN" dirty="0"/>
              <a:t>Test same using postman</a:t>
            </a:r>
          </a:p>
        </p:txBody>
      </p:sp>
    </p:spTree>
    <p:extLst>
      <p:ext uri="{BB962C8B-B14F-4D97-AF65-F5344CB8AC3E}">
        <p14:creationId xmlns:p14="http://schemas.microsoft.com/office/powerpoint/2010/main" val="273256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C5EE3-BACB-04F0-3D41-EB65EEA04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using </a:t>
            </a:r>
            <a:r>
              <a:rPr lang="en-US" dirty="0" err="1"/>
              <a:t>Dockerfile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F5F0E-F70D-5826-82EB-8D17D8D8C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order to write docker file you have to be expert of Docker concept.</a:t>
            </a:r>
          </a:p>
          <a:p>
            <a:r>
              <a:rPr lang="en-US" dirty="0"/>
              <a:t>While creating Docker image – We need to make sure that Docker image should be as small as possible.</a:t>
            </a:r>
          </a:p>
          <a:p>
            <a:r>
              <a:rPr lang="en-US" dirty="0"/>
              <a:t>We need to use caching, compression while generating Docker image.</a:t>
            </a:r>
          </a:p>
          <a:p>
            <a:r>
              <a:rPr lang="en-US" dirty="0"/>
              <a:t>We should not ignore any security related concept.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5016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E20F7-CF8D-F579-95B8-13C0333DF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generate Docker image of Loans microservices – </a:t>
            </a:r>
            <a:r>
              <a:rPr lang="en-US" dirty="0" err="1"/>
              <a:t>Packito</a:t>
            </a:r>
            <a:r>
              <a:rPr lang="en-US" dirty="0"/>
              <a:t> </a:t>
            </a:r>
            <a:r>
              <a:rPr lang="en-US" dirty="0" err="1"/>
              <a:t>Buildpack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043B9-3C93-846B-AC0A-F59444BAF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276" y="2183899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Add packaging into pom.xml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Add </a:t>
            </a:r>
            <a:r>
              <a:rPr lang="en-US" sz="2400" dirty="0" err="1"/>
              <a:t>packito</a:t>
            </a:r>
            <a:r>
              <a:rPr lang="en-US" sz="2400" dirty="0"/>
              <a:t> build configuration in pom.xml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 startAt="3"/>
            </a:pPr>
            <a:r>
              <a:rPr lang="en-US" sz="2400" dirty="0"/>
              <a:t>Run command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372AB6-91A6-7006-51AA-0CCE690C8B2C}"/>
              </a:ext>
            </a:extLst>
          </p:cNvPr>
          <p:cNvSpPr txBox="1"/>
          <p:nvPr/>
        </p:nvSpPr>
        <p:spPr>
          <a:xfrm>
            <a:off x="888124" y="3429000"/>
            <a:ext cx="10415752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	&lt;plugin&gt;</a:t>
            </a:r>
          </a:p>
          <a:p>
            <a:pPr>
              <a:lnSpc>
                <a:spcPts val="1725"/>
              </a:lnSpc>
              <a:buNone/>
            </a:pP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 	&lt;</a:t>
            </a:r>
            <a:r>
              <a:rPr lang="en-IN" sz="16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6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org.springframework.boot</a:t>
            </a: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6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725"/>
              </a:lnSpc>
              <a:buNone/>
            </a:pP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        	&lt;</a:t>
            </a:r>
            <a:r>
              <a:rPr lang="en-IN" sz="16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&gt;spring-boot-maven-plugin&lt;/</a:t>
            </a:r>
            <a:r>
              <a:rPr lang="en-IN" sz="16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725"/>
              </a:lnSpc>
              <a:buNone/>
            </a:pP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        	&lt;configuration&gt;</a:t>
            </a:r>
          </a:p>
          <a:p>
            <a:pPr>
              <a:lnSpc>
                <a:spcPts val="1725"/>
              </a:lnSpc>
              <a:buNone/>
            </a:pP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         	&lt;image&gt;</a:t>
            </a:r>
          </a:p>
          <a:p>
            <a:pPr>
              <a:lnSpc>
                <a:spcPts val="1725"/>
              </a:lnSpc>
              <a:buNone/>
            </a:pP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                		&lt;name&gt;</a:t>
            </a:r>
            <a:r>
              <a:rPr lang="en-IN" sz="16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borntocode</a:t>
            </a: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/${</a:t>
            </a:r>
            <a:r>
              <a:rPr lang="en-IN" sz="16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project.artifactId</a:t>
            </a: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}:s2&lt;/name&gt;</a:t>
            </a:r>
          </a:p>
          <a:p>
            <a:pPr>
              <a:lnSpc>
                <a:spcPts val="1725"/>
              </a:lnSpc>
              <a:buNone/>
            </a:pP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            	&lt;/image&gt;</a:t>
            </a:r>
          </a:p>
          <a:p>
            <a:pPr>
              <a:lnSpc>
                <a:spcPts val="1725"/>
              </a:lnSpc>
              <a:buNone/>
            </a:pP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        &lt;/configuration&gt;</a:t>
            </a:r>
          </a:p>
          <a:p>
            <a:pPr>
              <a:lnSpc>
                <a:spcPts val="1725"/>
              </a:lnSpc>
              <a:buNone/>
            </a:pPr>
            <a:r>
              <a:rPr lang="en-IN" sz="1600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	</a:t>
            </a: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&lt;/plugin&gt;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9CEE50-6350-EE30-9132-B2FC5AF51D38}"/>
              </a:ext>
            </a:extLst>
          </p:cNvPr>
          <p:cNvSpPr txBox="1"/>
          <p:nvPr/>
        </p:nvSpPr>
        <p:spPr>
          <a:xfrm>
            <a:off x="1868627" y="2683981"/>
            <a:ext cx="3574992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&lt;packaging&gt;jar&lt;packaging&gt;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D17390-0629-35AD-9D37-6DFDECC76141}"/>
              </a:ext>
            </a:extLst>
          </p:cNvPr>
          <p:cNvSpPr txBox="1"/>
          <p:nvPr/>
        </p:nvSpPr>
        <p:spPr>
          <a:xfrm>
            <a:off x="1954185" y="5805834"/>
            <a:ext cx="3574992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en-IN" sz="1600" dirty="0" err="1">
                <a:solidFill>
                  <a:sysClr val="windowText" lastClr="000000"/>
                </a:solidFill>
                <a:latin typeface="Consolas" panose="020B0609020204030204" pitchFamily="49" charset="0"/>
              </a:rPr>
              <a:t>m</a:t>
            </a:r>
            <a:r>
              <a:rPr lang="en-IN" sz="16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vn</a:t>
            </a: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spring-boot:build-image</a:t>
            </a:r>
            <a:endParaRPr lang="en-IN" sz="1600" b="0" dirty="0">
              <a:solidFill>
                <a:sysClr val="windowText" lastClr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87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96C03-DD81-02A9-7107-7B726014F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generate Docker image of Loans microservices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4C11-2ADB-4E42-89B2-35F0D8FC0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/>
              <a:t>Create Docker container</a:t>
            </a:r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Check in Postman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E023E-36AF-4B57-B795-C85968E09B19}"/>
              </a:ext>
            </a:extLst>
          </p:cNvPr>
          <p:cNvSpPr txBox="1"/>
          <p:nvPr/>
        </p:nvSpPr>
        <p:spPr>
          <a:xfrm>
            <a:off x="1847606" y="2442243"/>
            <a:ext cx="6613222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en-IN" sz="1600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d</a:t>
            </a: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ocker run –d –p 8080:8080 </a:t>
            </a:r>
            <a:r>
              <a:rPr lang="en-IN" sz="16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borntocode</a:t>
            </a: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/accounts:s2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56C8B0-D8BC-4962-D28C-1420E8A1ACD3}"/>
              </a:ext>
            </a:extLst>
          </p:cNvPr>
          <p:cNvSpPr txBox="1"/>
          <p:nvPr/>
        </p:nvSpPr>
        <p:spPr>
          <a:xfrm>
            <a:off x="1847606" y="2846891"/>
            <a:ext cx="6613222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en-IN" sz="1600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d</a:t>
            </a: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ocker run –d –p 8090:8090 </a:t>
            </a:r>
            <a:r>
              <a:rPr lang="en-IN" sz="16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borntocode</a:t>
            </a: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/loans:s2</a:t>
            </a:r>
          </a:p>
        </p:txBody>
      </p:sp>
    </p:spTree>
    <p:extLst>
      <p:ext uri="{BB962C8B-B14F-4D97-AF65-F5344CB8AC3E}">
        <p14:creationId xmlns:p14="http://schemas.microsoft.com/office/powerpoint/2010/main" val="2621026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B19D-26C9-651C-0584-ADDF22B31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generate Docker image of Cards microservices – Google Jib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C562FD-0464-1C4A-8ACD-29710281F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276" y="2183899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Add packaging into pom.xml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Add Google jib build configuration in pom.xml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 startAt="3"/>
            </a:pPr>
            <a:endParaRPr lang="en-US" sz="2400" dirty="0"/>
          </a:p>
          <a:p>
            <a:pPr marL="514350" indent="-514350">
              <a:buFont typeface="+mj-lt"/>
              <a:buAutoNum type="arabicPeriod" startAt="3"/>
            </a:pPr>
            <a:r>
              <a:rPr lang="en-US" sz="2400" dirty="0"/>
              <a:t>Run command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374384-C6F0-9C92-D29B-F0B427D43196}"/>
              </a:ext>
            </a:extLst>
          </p:cNvPr>
          <p:cNvSpPr txBox="1"/>
          <p:nvPr/>
        </p:nvSpPr>
        <p:spPr>
          <a:xfrm>
            <a:off x="888124" y="3555124"/>
            <a:ext cx="10415752" cy="227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en-IN" sz="1400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	</a:t>
            </a:r>
            <a:r>
              <a:rPr lang="en-IN" sz="14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&lt;plugin&gt;</a:t>
            </a:r>
          </a:p>
          <a:p>
            <a:pPr>
              <a:lnSpc>
                <a:spcPts val="1725"/>
              </a:lnSpc>
              <a:buNone/>
            </a:pPr>
            <a:r>
              <a:rPr lang="en-IN" sz="14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               &lt;</a:t>
            </a:r>
            <a:r>
              <a:rPr lang="en-IN" sz="14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IN" sz="14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com.google.cloud.tools</a:t>
            </a:r>
            <a:r>
              <a:rPr lang="en-IN" sz="14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IN" sz="14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725"/>
              </a:lnSpc>
              <a:buNone/>
            </a:pPr>
            <a:r>
              <a:rPr lang="en-IN" sz="14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               &lt;</a:t>
            </a:r>
            <a:r>
              <a:rPr lang="en-IN" sz="14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IN" sz="14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&gt;jib-maven-plugin&lt;/</a:t>
            </a:r>
            <a:r>
              <a:rPr lang="en-IN" sz="14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IN" sz="14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725"/>
              </a:lnSpc>
              <a:buNone/>
            </a:pPr>
            <a:r>
              <a:rPr lang="en-IN" sz="14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               &lt;version&gt;3.4.2&lt;/version&gt;</a:t>
            </a:r>
          </a:p>
          <a:p>
            <a:pPr>
              <a:lnSpc>
                <a:spcPts val="1725"/>
              </a:lnSpc>
              <a:buNone/>
            </a:pPr>
            <a:r>
              <a:rPr lang="en-IN" sz="14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               &lt;configuration&gt;</a:t>
            </a:r>
          </a:p>
          <a:p>
            <a:pPr>
              <a:lnSpc>
                <a:spcPts val="1725"/>
              </a:lnSpc>
              <a:buNone/>
            </a:pPr>
            <a:r>
              <a:rPr lang="en-IN" sz="14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                   &lt;to&gt;</a:t>
            </a:r>
          </a:p>
          <a:p>
            <a:pPr>
              <a:lnSpc>
                <a:spcPts val="1725"/>
              </a:lnSpc>
              <a:buNone/>
            </a:pPr>
            <a:r>
              <a:rPr lang="en-IN" sz="14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                       &lt;image&gt;</a:t>
            </a:r>
            <a:r>
              <a:rPr lang="en-IN" sz="14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borntocode</a:t>
            </a:r>
            <a:r>
              <a:rPr lang="en-IN" sz="14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/${</a:t>
            </a:r>
            <a:r>
              <a:rPr lang="en-IN" sz="14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project.artifactId</a:t>
            </a:r>
            <a:r>
              <a:rPr lang="en-IN" sz="14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}:s2&lt;/image&gt;</a:t>
            </a:r>
          </a:p>
          <a:p>
            <a:pPr>
              <a:lnSpc>
                <a:spcPts val="1725"/>
              </a:lnSpc>
              <a:buNone/>
            </a:pPr>
            <a:r>
              <a:rPr lang="en-IN" sz="14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                   &lt;/to&gt;</a:t>
            </a:r>
          </a:p>
          <a:p>
            <a:pPr>
              <a:lnSpc>
                <a:spcPts val="1725"/>
              </a:lnSpc>
              <a:buNone/>
            </a:pPr>
            <a:r>
              <a:rPr lang="en-IN" sz="14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               &lt;/configuration&gt;</a:t>
            </a:r>
          </a:p>
          <a:p>
            <a:pPr>
              <a:lnSpc>
                <a:spcPts val="1725"/>
              </a:lnSpc>
              <a:buNone/>
            </a:pPr>
            <a:r>
              <a:rPr lang="en-IN" sz="14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           &lt;/plugin&gt;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276A16-AACB-235B-2704-FD4D50D70A27}"/>
              </a:ext>
            </a:extLst>
          </p:cNvPr>
          <p:cNvSpPr txBox="1"/>
          <p:nvPr/>
        </p:nvSpPr>
        <p:spPr>
          <a:xfrm>
            <a:off x="1868627" y="2683981"/>
            <a:ext cx="3574992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&lt;packaging&gt;jar&lt;packaging&gt;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8781AC-0F59-B5FF-3875-71087CB18208}"/>
              </a:ext>
            </a:extLst>
          </p:cNvPr>
          <p:cNvSpPr txBox="1"/>
          <p:nvPr/>
        </p:nvSpPr>
        <p:spPr>
          <a:xfrm>
            <a:off x="1980461" y="6194628"/>
            <a:ext cx="3574992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en-IN" sz="1600" dirty="0" err="1">
                <a:solidFill>
                  <a:sysClr val="windowText" lastClr="000000"/>
                </a:solidFill>
                <a:latin typeface="Consolas" panose="020B0609020204030204" pitchFamily="49" charset="0"/>
              </a:rPr>
              <a:t>m</a:t>
            </a:r>
            <a:r>
              <a:rPr lang="en-IN" sz="160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vn</a:t>
            </a:r>
            <a:r>
              <a:rPr lang="en-IN" sz="160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compile</a:t>
            </a:r>
            <a:r>
              <a:rPr lang="en-IN" sz="1600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ysClr val="windowText" lastClr="000000"/>
                </a:solidFill>
                <a:latin typeface="Consolas" panose="020B0609020204030204" pitchFamily="49" charset="0"/>
              </a:rPr>
              <a:t>jib:dockerBuild</a:t>
            </a:r>
            <a:endParaRPr lang="en-IN" sz="1600" b="0" dirty="0">
              <a:solidFill>
                <a:sysClr val="windowText" lastClr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768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B04BF-B5D4-5980-B4D4-260D0E8AA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generate Docker </a:t>
            </a:r>
            <a:r>
              <a:rPr lang="en-US" dirty="0" err="1"/>
              <a:t>contrainer</a:t>
            </a:r>
            <a:r>
              <a:rPr lang="en-US" dirty="0"/>
              <a:t> microservices</a:t>
            </a: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4B9A1D-F4CF-C6B3-CD06-16AA9170C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/>
              <a:t>Create Docker container</a:t>
            </a:r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Check in Postman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509A0C-148F-0805-2DDD-192D0FC92480}"/>
              </a:ext>
            </a:extLst>
          </p:cNvPr>
          <p:cNvSpPr txBox="1"/>
          <p:nvPr/>
        </p:nvSpPr>
        <p:spPr>
          <a:xfrm>
            <a:off x="1847605" y="2442243"/>
            <a:ext cx="9067387" cy="3350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1725"/>
              </a:lnSpc>
              <a:buNone/>
              <a:defRPr sz="2400">
                <a:solidFill>
                  <a:sysClr val="windowText" lastClr="000000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IN" dirty="0"/>
              <a:t>docker run –d –p 8080:8080 </a:t>
            </a:r>
            <a:r>
              <a:rPr lang="en-IN" dirty="0" err="1"/>
              <a:t>borntocode</a:t>
            </a:r>
            <a:r>
              <a:rPr lang="en-IN" dirty="0"/>
              <a:t>/accounts:s2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DAA5B7-2FD4-E4A0-BAF2-729F3F83FA3E}"/>
              </a:ext>
            </a:extLst>
          </p:cNvPr>
          <p:cNvSpPr txBox="1"/>
          <p:nvPr/>
        </p:nvSpPr>
        <p:spPr>
          <a:xfrm>
            <a:off x="1847605" y="2867206"/>
            <a:ext cx="9372187" cy="3350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1725"/>
              </a:lnSpc>
              <a:buNone/>
              <a:defRPr sz="2400">
                <a:solidFill>
                  <a:sysClr val="windowText" lastClr="000000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IN" dirty="0"/>
              <a:t>docker run –d –p 8090:8090 </a:t>
            </a:r>
            <a:r>
              <a:rPr lang="en-IN" dirty="0" err="1"/>
              <a:t>borntocode</a:t>
            </a:r>
            <a:r>
              <a:rPr lang="en-IN" dirty="0"/>
              <a:t>/loans:s2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54F61D-31E8-6B4A-FAC4-99A98FA6E9DC}"/>
              </a:ext>
            </a:extLst>
          </p:cNvPr>
          <p:cNvSpPr txBox="1"/>
          <p:nvPr/>
        </p:nvSpPr>
        <p:spPr>
          <a:xfrm>
            <a:off x="1847606" y="3292169"/>
            <a:ext cx="9067386" cy="335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en-IN" sz="2400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docker run –d –p 9000:9000 </a:t>
            </a:r>
            <a:r>
              <a:rPr lang="en-IN" sz="2400" dirty="0" err="1">
                <a:solidFill>
                  <a:sysClr val="windowText" lastClr="000000"/>
                </a:solidFill>
                <a:latin typeface="Consolas" panose="020B0609020204030204" pitchFamily="49" charset="0"/>
              </a:rPr>
              <a:t>borntocode</a:t>
            </a:r>
            <a:r>
              <a:rPr lang="en-IN" sz="2400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/cards:s2</a:t>
            </a:r>
          </a:p>
        </p:txBody>
      </p:sp>
    </p:spTree>
    <p:extLst>
      <p:ext uri="{BB962C8B-B14F-4D97-AF65-F5344CB8AC3E}">
        <p14:creationId xmlns:p14="http://schemas.microsoft.com/office/powerpoint/2010/main" val="16321256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E82C-8804-6049-CAF4-4EDA0B27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 Docker images to Docker hub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1B03B-26F2-99F5-1810-238608136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below command</a:t>
            </a:r>
          </a:p>
          <a:p>
            <a:endParaRPr lang="en-US" dirty="0"/>
          </a:p>
          <a:p>
            <a:r>
              <a:rPr lang="en-US" dirty="0"/>
              <a:t>Do the same for cards and loan microservices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5B2B56-E6B9-A220-69A1-303FCA71BDD7}"/>
              </a:ext>
            </a:extLst>
          </p:cNvPr>
          <p:cNvSpPr txBox="1"/>
          <p:nvPr/>
        </p:nvSpPr>
        <p:spPr>
          <a:xfrm>
            <a:off x="1721481" y="2430321"/>
            <a:ext cx="9345912" cy="335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en-US" sz="2400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docker image push docker.io/</a:t>
            </a:r>
            <a:r>
              <a:rPr lang="en-US" sz="2400" dirty="0" err="1">
                <a:solidFill>
                  <a:sysClr val="windowText" lastClr="000000"/>
                </a:solidFill>
                <a:latin typeface="Consolas" panose="020B0609020204030204" pitchFamily="49" charset="0"/>
              </a:rPr>
              <a:t>borntocode</a:t>
            </a:r>
            <a:r>
              <a:rPr lang="en-US" sz="2400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/accounts:s2</a:t>
            </a:r>
            <a:endParaRPr lang="en-IN" sz="2400" b="0" dirty="0">
              <a:solidFill>
                <a:sysClr val="windowText" lastClr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2332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DE513-5DC9-C20D-5663-E656ECE75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Docker images from Docker hub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A1FB2-C3D2-C36D-4BA6-3EA7D5867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below command</a:t>
            </a:r>
          </a:p>
          <a:p>
            <a:pPr marL="457200" lvl="1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303956-066F-522A-274B-2A4400DF2E45}"/>
              </a:ext>
            </a:extLst>
          </p:cNvPr>
          <p:cNvSpPr txBox="1"/>
          <p:nvPr/>
        </p:nvSpPr>
        <p:spPr>
          <a:xfrm>
            <a:off x="1721481" y="2430321"/>
            <a:ext cx="9345912" cy="335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en-US" sz="2400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docker pull </a:t>
            </a:r>
            <a:r>
              <a:rPr lang="en-US" sz="2400" dirty="0" err="1">
                <a:solidFill>
                  <a:sysClr val="windowText" lastClr="000000"/>
                </a:solidFill>
                <a:latin typeface="Consolas" panose="020B0609020204030204" pitchFamily="49" charset="0"/>
              </a:rPr>
              <a:t>borntocode</a:t>
            </a:r>
            <a:r>
              <a:rPr lang="en-US" sz="2400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/accounts:s2</a:t>
            </a:r>
            <a:endParaRPr lang="en-IN" sz="2400" b="0" dirty="0">
              <a:solidFill>
                <a:sysClr val="windowText" lastClr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2238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FFDD3-EF2D-C57E-3C5C-27D466EDA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625AE-9CA7-A458-3388-335E375A3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compose is an inbuild tool for defining and running multi-container Docker applications.</a:t>
            </a:r>
          </a:p>
          <a:p>
            <a:r>
              <a:rPr lang="en-US" dirty="0"/>
              <a:t>With Docker compose you use a </a:t>
            </a:r>
            <a:r>
              <a:rPr lang="en-US" dirty="0" err="1"/>
              <a:t>yaml</a:t>
            </a:r>
            <a:r>
              <a:rPr lang="en-US" dirty="0"/>
              <a:t> file to configure your applications services</a:t>
            </a:r>
          </a:p>
          <a:p>
            <a:r>
              <a:rPr lang="en-US" dirty="0"/>
              <a:t>With single command you can start, stop all the services of configurations.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9209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8A1A6-6406-C246-E2F1-85EE617C0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Configurations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305730-593E-6D33-2186-386EB177E3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6298324" cy="4969313"/>
          </a:xfrm>
        </p:spPr>
        <p:txBody>
          <a:bodyPr/>
          <a:lstStyle/>
          <a:p>
            <a:r>
              <a:rPr lang="en-US" dirty="0"/>
              <a:t>Create new file at project level</a:t>
            </a:r>
          </a:p>
          <a:p>
            <a:r>
              <a:rPr lang="en-US" dirty="0"/>
              <a:t>docker-</a:t>
            </a:r>
            <a:r>
              <a:rPr lang="en-US" dirty="0" err="1"/>
              <a:t>compose.yml</a:t>
            </a:r>
            <a:endParaRPr lang="en-US" dirty="0"/>
          </a:p>
          <a:p>
            <a:r>
              <a:rPr lang="en-US" dirty="0"/>
              <a:t>Use below command to start all services</a:t>
            </a:r>
          </a:p>
          <a:p>
            <a:endParaRPr lang="en-US" dirty="0"/>
          </a:p>
          <a:p>
            <a:r>
              <a:rPr lang="en-US" dirty="0"/>
              <a:t>Use below command to delete  all containers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4E172B-88D9-CA71-F5FC-CFA43158B6D9}"/>
              </a:ext>
            </a:extLst>
          </p:cNvPr>
          <p:cNvSpPr txBox="1"/>
          <p:nvPr/>
        </p:nvSpPr>
        <p:spPr>
          <a:xfrm>
            <a:off x="7039303" y="1522523"/>
            <a:ext cx="487417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services:</a:t>
            </a:r>
          </a:p>
          <a:p>
            <a:r>
              <a:rPr lang="en-US" dirty="0">
                <a:latin typeface="Consolas" panose="020B0609020204030204" pitchFamily="49" charset="0"/>
              </a:rPr>
              <a:t>  accounts:</a:t>
            </a:r>
          </a:p>
          <a:p>
            <a:r>
              <a:rPr lang="en-US" dirty="0">
                <a:latin typeface="Consolas" panose="020B0609020204030204" pitchFamily="49" charset="0"/>
              </a:rPr>
              <a:t>    image: "</a:t>
            </a:r>
            <a:r>
              <a:rPr lang="en-US" dirty="0" err="1">
                <a:latin typeface="Consolas" panose="020B0609020204030204" pitchFamily="49" charset="0"/>
              </a:rPr>
              <a:t>borntocode</a:t>
            </a:r>
            <a:r>
              <a:rPr lang="en-US" dirty="0">
                <a:latin typeface="Consolas" panose="020B0609020204030204" pitchFamily="49" charset="0"/>
              </a:rPr>
              <a:t>/accounts:s2"</a:t>
            </a:r>
          </a:p>
          <a:p>
            <a:r>
              <a:rPr lang="en-US" dirty="0">
                <a:latin typeface="Consolas" panose="020B0609020204030204" pitchFamily="49" charset="0"/>
              </a:rPr>
              <a:t>    </a:t>
            </a:r>
            <a:r>
              <a:rPr lang="en-US" dirty="0" err="1">
                <a:latin typeface="Consolas" panose="020B0609020204030204" pitchFamily="49" charset="0"/>
              </a:rPr>
              <a:t>container_name</a:t>
            </a:r>
            <a:r>
              <a:rPr lang="en-US" dirty="0">
                <a:latin typeface="Consolas" panose="020B0609020204030204" pitchFamily="49" charset="0"/>
              </a:rPr>
              <a:t>: accounts-</a:t>
            </a:r>
            <a:r>
              <a:rPr lang="en-US" dirty="0" err="1">
                <a:latin typeface="Consolas" panose="020B0609020204030204" pitchFamily="49" charset="0"/>
              </a:rPr>
              <a:t>ms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    ports:</a:t>
            </a:r>
          </a:p>
          <a:p>
            <a:r>
              <a:rPr lang="en-US" dirty="0">
                <a:latin typeface="Consolas" panose="020B0609020204030204" pitchFamily="49" charset="0"/>
              </a:rPr>
              <a:t>      -"8080:8080"</a:t>
            </a:r>
          </a:p>
          <a:p>
            <a:r>
              <a:rPr lang="en-US" dirty="0">
                <a:latin typeface="Consolas" panose="020B0609020204030204" pitchFamily="49" charset="0"/>
              </a:rPr>
              <a:t>    deploy:</a:t>
            </a:r>
          </a:p>
          <a:p>
            <a:r>
              <a:rPr lang="en-US" dirty="0">
                <a:latin typeface="Consolas" panose="020B0609020204030204" pitchFamily="49" charset="0"/>
              </a:rPr>
              <a:t>      resources:</a:t>
            </a:r>
          </a:p>
          <a:p>
            <a:r>
              <a:rPr lang="en-US" dirty="0">
                <a:latin typeface="Consolas" panose="020B0609020204030204" pitchFamily="49" charset="0"/>
              </a:rPr>
              <a:t>        limits:</a:t>
            </a:r>
          </a:p>
          <a:p>
            <a:r>
              <a:rPr lang="en-US" dirty="0">
                <a:latin typeface="Consolas" panose="020B0609020204030204" pitchFamily="49" charset="0"/>
              </a:rPr>
              <a:t>          memory: 700m</a:t>
            </a:r>
          </a:p>
          <a:p>
            <a:r>
              <a:rPr lang="en-US" dirty="0">
                <a:latin typeface="Consolas" panose="020B0609020204030204" pitchFamily="49" charset="0"/>
              </a:rPr>
              <a:t>    networks:</a:t>
            </a:r>
          </a:p>
          <a:p>
            <a:r>
              <a:rPr lang="en-US" dirty="0">
                <a:latin typeface="Consolas" panose="020B0609020204030204" pitchFamily="49" charset="0"/>
              </a:rPr>
              <a:t>      - </a:t>
            </a:r>
            <a:r>
              <a:rPr lang="en-US" dirty="0" err="1">
                <a:latin typeface="Consolas" panose="020B0609020204030204" pitchFamily="49" charset="0"/>
              </a:rPr>
              <a:t>eazybytes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#Same for cards and loans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IN" dirty="0"/>
              <a:t>networks:</a:t>
            </a:r>
          </a:p>
          <a:p>
            <a:r>
              <a:rPr lang="en-IN" dirty="0"/>
              <a:t>  </a:t>
            </a:r>
            <a:r>
              <a:rPr lang="en-IN" dirty="0" err="1"/>
              <a:t>eazybytes</a:t>
            </a:r>
            <a:r>
              <a:rPr lang="en-IN" dirty="0"/>
              <a:t>:</a:t>
            </a:r>
          </a:p>
          <a:p>
            <a:r>
              <a:rPr lang="en-IN" dirty="0"/>
              <a:t>    driver: "bridge"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477EB9-E517-1AC5-B472-967AC84A6052}"/>
              </a:ext>
            </a:extLst>
          </p:cNvPr>
          <p:cNvSpPr txBox="1"/>
          <p:nvPr/>
        </p:nvSpPr>
        <p:spPr>
          <a:xfrm>
            <a:off x="1837096" y="3369217"/>
            <a:ext cx="4258904" cy="335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en-IN" sz="2400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docker -d compose 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3E2DFE-D304-5E20-004B-018C4AF755DE}"/>
              </a:ext>
            </a:extLst>
          </p:cNvPr>
          <p:cNvSpPr txBox="1"/>
          <p:nvPr/>
        </p:nvSpPr>
        <p:spPr>
          <a:xfrm>
            <a:off x="1857910" y="4793368"/>
            <a:ext cx="4258904" cy="335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en-IN" sz="2400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docker compose down</a:t>
            </a:r>
          </a:p>
        </p:txBody>
      </p:sp>
    </p:spTree>
    <p:extLst>
      <p:ext uri="{BB962C8B-B14F-4D97-AF65-F5344CB8AC3E}">
        <p14:creationId xmlns:p14="http://schemas.microsoft.com/office/powerpoint/2010/main" val="8250005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FF07-C909-916D-4190-7580AEDE2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Commands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1518B-8814-F5C4-5467-AE91FC0BE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docker compose up</a:t>
            </a:r>
          </a:p>
          <a:p>
            <a:pPr lvl="1"/>
            <a:r>
              <a:rPr lang="en-US" dirty="0"/>
              <a:t>Will create the containers from scratch</a:t>
            </a:r>
          </a:p>
          <a:p>
            <a:r>
              <a:rPr lang="en-US" dirty="0">
                <a:latin typeface="Consolas" panose="020B0609020204030204" pitchFamily="49" charset="0"/>
              </a:rPr>
              <a:t>docker compose down </a:t>
            </a:r>
          </a:p>
          <a:p>
            <a:pPr lvl="1"/>
            <a:r>
              <a:rPr lang="en-US" dirty="0"/>
              <a:t>Will stop and delete the containers</a:t>
            </a:r>
          </a:p>
          <a:p>
            <a:r>
              <a:rPr lang="en-US" dirty="0">
                <a:latin typeface="Consolas" panose="020B0609020204030204" pitchFamily="49" charset="0"/>
              </a:rPr>
              <a:t>docker compose stop</a:t>
            </a:r>
          </a:p>
          <a:p>
            <a:pPr lvl="1"/>
            <a:r>
              <a:rPr lang="en-US" dirty="0"/>
              <a:t>Will stop the containers</a:t>
            </a:r>
          </a:p>
          <a:p>
            <a:r>
              <a:rPr lang="en-US" dirty="0">
                <a:latin typeface="Consolas" panose="020B0609020204030204" pitchFamily="49" charset="0"/>
              </a:rPr>
              <a:t>docker compose start</a:t>
            </a:r>
          </a:p>
          <a:p>
            <a:pPr lvl="1"/>
            <a:r>
              <a:rPr lang="en-US" dirty="0"/>
              <a:t>Will start the containers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1394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</TotalTime>
  <Words>1963</Words>
  <Application>Microsoft Office PowerPoint</Application>
  <PresentationFormat>Widescreen</PresentationFormat>
  <Paragraphs>291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Consolas</vt:lpstr>
      <vt:lpstr>Office Theme</vt:lpstr>
      <vt:lpstr>Spring Boot Microservices</vt:lpstr>
      <vt:lpstr>Challenges of Microservices</vt:lpstr>
      <vt:lpstr>Solution</vt:lpstr>
      <vt:lpstr>Containerization</vt:lpstr>
      <vt:lpstr>How do we containerize the Maven application?</vt:lpstr>
      <vt:lpstr>How Containers are different from Virtual Machines?</vt:lpstr>
      <vt:lpstr>Problems of Using Virtual Machine </vt:lpstr>
      <vt:lpstr>Containers</vt:lpstr>
      <vt:lpstr>Advantages of Using Containers</vt:lpstr>
      <vt:lpstr>What is Container?</vt:lpstr>
      <vt:lpstr>What is Software Containerization?</vt:lpstr>
      <vt:lpstr>How Container is different from Virtual Machine?</vt:lpstr>
      <vt:lpstr>What is Docker?</vt:lpstr>
      <vt:lpstr>What exactly happen inside containerization?</vt:lpstr>
      <vt:lpstr>What is namespace ?</vt:lpstr>
      <vt:lpstr>What is Control Group(CG)?</vt:lpstr>
      <vt:lpstr>How dose Docker works on MAC &amp; Windows?</vt:lpstr>
      <vt:lpstr>Docker Architecture?</vt:lpstr>
      <vt:lpstr>Docker Installation Steps</vt:lpstr>
      <vt:lpstr>Generate Docker Images</vt:lpstr>
      <vt:lpstr>Steps to generate Docker image of Account microservices</vt:lpstr>
      <vt:lpstr>Steps to generate Docker image of Account microservices</vt:lpstr>
      <vt:lpstr>Steps to generate Docker image of Account microservices</vt:lpstr>
      <vt:lpstr>How to create a Docker Container from Docker Image</vt:lpstr>
      <vt:lpstr>How to start-stop containers with command</vt:lpstr>
      <vt:lpstr>Challenges of using Dockerfile</vt:lpstr>
      <vt:lpstr>Steps to generate Docker image of Loans microservices – Packito Buildpack</vt:lpstr>
      <vt:lpstr>Steps to generate Docker image of Loans microservices</vt:lpstr>
      <vt:lpstr>Steps to generate Docker image of Cards microservices – Google Jib</vt:lpstr>
      <vt:lpstr>Steps to generate Docker contrainer microservices</vt:lpstr>
      <vt:lpstr>Push Docker images to Docker hub</vt:lpstr>
      <vt:lpstr>Pull Docker images from Docker hub</vt:lpstr>
      <vt:lpstr>Docker Compose</vt:lpstr>
      <vt:lpstr>Docker Compose Configurations</vt:lpstr>
      <vt:lpstr>Docker Compose Commands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Gohil</dc:creator>
  <cp:lastModifiedBy>Vivek Gohil</cp:lastModifiedBy>
  <cp:revision>3</cp:revision>
  <dcterms:created xsi:type="dcterms:W3CDTF">2025-07-10T14:30:15Z</dcterms:created>
  <dcterms:modified xsi:type="dcterms:W3CDTF">2025-08-17T10:45:25Z</dcterms:modified>
</cp:coreProperties>
</file>